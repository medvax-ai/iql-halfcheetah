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547707af054bfa" /><Relationship Type="http://schemas.openxmlformats.org/officeDocument/2006/relationships/extended-properties" Target="/docProps/app.xml" Id="Ref91229975ef447b" /><Relationship Type="http://schemas.openxmlformats.org/officeDocument/2006/relationships/officeDocument" Target="/ppt/presentation.xml" Id="R4f864292958c4ceb" /></Relationships>
</file>

<file path=ppt/presentation.xml><?xml version="1.0" encoding="utf-8"?>
<p:presentation xmlns:p="http://schemas.openxmlformats.org/presentationml/2006/main">
  <p:sldMasterIdLst>
    <p:sldMasterId xmlns:r="http://schemas.openxmlformats.org/officeDocument/2006/relationships" id="2147483648" r:id="Rda01435594704423"/>
  </p:sldMasterIdLst>
  <p:notesMasterIdLst>
    <p:notesMasterId xmlns:r="http://schemas.openxmlformats.org/officeDocument/2006/relationships" r:id="R8527ff8ddb2c4179"/>
  </p:notesMasterIdLst>
  <p:sldIdLst>
    <p:sldId xmlns:r="http://schemas.openxmlformats.org/officeDocument/2006/relationships" id="256" r:id="R75b41a3c8c1b4967"/>
    <p:sldId xmlns:r="http://schemas.openxmlformats.org/officeDocument/2006/relationships" id="257" r:id="Rcb43989ace1f40e3"/>
    <p:sldId xmlns:r="http://schemas.openxmlformats.org/officeDocument/2006/relationships" id="258" r:id="R3b3f638e6b924ee5"/>
    <p:sldId xmlns:r="http://schemas.openxmlformats.org/officeDocument/2006/relationships" id="259" r:id="R8711f9a4840148b7"/>
    <p:sldId xmlns:r="http://schemas.openxmlformats.org/officeDocument/2006/relationships" id="260" r:id="Rb32388543491498e"/>
    <p:sldId xmlns:r="http://schemas.openxmlformats.org/officeDocument/2006/relationships" id="261" r:id="R0899d2f60f274893"/>
    <p:sldId xmlns:r="http://schemas.openxmlformats.org/officeDocument/2006/relationships" id="262" r:id="R01aa012b1b324c82"/>
    <p:sldId xmlns:r="http://schemas.openxmlformats.org/officeDocument/2006/relationships" id="263" r:id="R8bd1d91ef33340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44479f88bc4ed6" /><Relationship Type="http://schemas.openxmlformats.org/officeDocument/2006/relationships/slideMaster" Target="/ppt/slideMasters/slideMaster1.xml" Id="Rda01435594704423" /><Relationship Type="http://schemas.openxmlformats.org/officeDocument/2006/relationships/notesMaster" Target="/ppt/notesMasters/notesMaster1.xml" Id="R8527ff8ddb2c4179" /><Relationship Type="http://schemas.openxmlformats.org/officeDocument/2006/relationships/presProps" Target="/ppt/presProps.xml" Id="R497ff709be0f4f8d" /><Relationship Type="http://schemas.openxmlformats.org/officeDocument/2006/relationships/tableStyles" Target="/ppt/tableStyles.xml" Id="Rbc7ec365af4f4cee" /><Relationship Type="http://schemas.openxmlformats.org/officeDocument/2006/relationships/slide" Target="/ppt/slides/slide1.xml" Id="R75b41a3c8c1b4967" /><Relationship Type="http://schemas.openxmlformats.org/officeDocument/2006/relationships/slide" Target="/ppt/slides/slide2.xml" Id="Rcb43989ace1f40e3" /><Relationship Type="http://schemas.openxmlformats.org/officeDocument/2006/relationships/slide" Target="/ppt/slides/slide3.xml" Id="R3b3f638e6b924ee5" /><Relationship Type="http://schemas.openxmlformats.org/officeDocument/2006/relationships/slide" Target="/ppt/slides/slide4.xml" Id="R8711f9a4840148b7" /><Relationship Type="http://schemas.openxmlformats.org/officeDocument/2006/relationships/slide" Target="/ppt/slides/slide5.xml" Id="Rb32388543491498e" /><Relationship Type="http://schemas.openxmlformats.org/officeDocument/2006/relationships/slide" Target="/ppt/slides/slide6.xml" Id="R0899d2f60f274893" /><Relationship Type="http://schemas.openxmlformats.org/officeDocument/2006/relationships/slide" Target="/ppt/slides/slide7.xml" Id="R01aa012b1b324c82" /><Relationship Type="http://schemas.openxmlformats.org/officeDocument/2006/relationships/slide" Target="/ppt/slides/slide8.xml" Id="R8bd1d91ef33340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c612e0ac9a43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59174cd02c4f43" /><Relationship Type="http://schemas.openxmlformats.org/officeDocument/2006/relationships/notesMaster" Target="/ppt/notesMasters/notesMaster1.xml" Id="Rbf491fe24f4344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c93211b30e47d4" /><Relationship Type="http://schemas.openxmlformats.org/officeDocument/2006/relationships/notesMaster" Target="/ppt/notesMasters/notesMaster1.xml" Id="Rf9bac857998448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9e658501de4a18" /><Relationship Type="http://schemas.openxmlformats.org/officeDocument/2006/relationships/notesMaster" Target="/ppt/notesMasters/notesMaster1.xml" Id="R4ec01a1ccf774c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d2c2443f04b66" /><Relationship Type="http://schemas.openxmlformats.org/officeDocument/2006/relationships/notesMaster" Target="/ppt/notesMasters/notesMaster1.xml" Id="Ra179bc02b86742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c82dc6beed4804" /><Relationship Type="http://schemas.openxmlformats.org/officeDocument/2006/relationships/notesMaster" Target="/ppt/notesMasters/notesMaster1.xml" Id="R88e4157608a842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b210bf172f4abe" /><Relationship Type="http://schemas.openxmlformats.org/officeDocument/2006/relationships/notesMaster" Target="/ppt/notesMasters/notesMaster1.xml" Id="Rb1c9a3393cc749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88e0e80d284d23" /><Relationship Type="http://schemas.openxmlformats.org/officeDocument/2006/relationships/notesMaster" Target="/ppt/notesMasters/notesMaster1.xml" Id="Rcba6708b7a4448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14a615293542c3" /><Relationship Type="http://schemas.openxmlformats.org/officeDocument/2006/relationships/notesMaster" Target="/ppt/notesMasters/notesMaster1.xml" Id="R6cf8c1025e1b4e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Suggested speaker: Aleksandr Medvedev.</a:t>
            </a:r>
          </a:p>
          <a:p xmlns:a="http://schemas.openxmlformats.org/drawingml/2006/main">
            <a:r>
              <a:t/>
            </a:r>
          </a:p>
          <a:p xmlns:a="http://schemas.openxmlformats.org/drawingml/2006/main">
            <a:r>
              <a:t>Our project uses Implicit Q-Learning, or IQL, to learn continuous locomotion from recorded data. We will explain how the algorithm works, what HalfCheetah requires, and why this combination is suitable. The final slide shows measured feasibility evidence from our existing project.</a:t>
            </a:r>
          </a:p>
          <a:p xmlns:a="http://schemas.openxmlformats.org/drawingml/2006/main">
            <a:r>
              <a:t/>
            </a:r>
          </a:p>
          <a:p xmlns:a="http://schemas.openxmlformats.org/drawingml/2006/main">
            <a:r>
              <a:t>Show: Introduce the title and team. Point to the actual HalfCheetah rollout image; hold briefly before advancing.</a:t>
            </a:r>
          </a:p>
          <a:p xmlns:a="http://schemas.openxmlformats.org/drawingml/2006/main">
            <a:r>
              <a:t/>
            </a:r>
          </a:p>
          <a:p xmlns:a="http://schemas.openxmlformats.org/drawingml/2006/main">
            <a:r>
              <a:t>Sources:</a:t>
            </a:r>
          </a:p>
          <a:p xmlns:a="http://schemas.openxmlformats.org/drawingml/2006/main">
            <a:r>
              <a:t>https://github.com/MedvAx-AI/iql-halfcheetah</a:t>
            </a:r>
          </a:p>
          <a:p xmlns:a="http://schemas.openxmlformats.org/drawingml/2006/main">
            <a:r>
              <a:t>Image: actual project rollout, seed 1 at 500k, evaluation seed 10000, frame at 20 seconds. https://github.com/MedvAx-AI/iql-halfcheetah/releases/tag/policy-continuation-experiment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Suggested speaker: Leo Vesin.</a:t>
            </a:r>
          </a:p>
          <a:p xmlns:a="http://schemas.openxmlformats.org/drawingml/2006/main">
            <a:r>
              <a:t/>
            </a:r>
          </a:p>
          <a:p xmlns:a="http://schemas.openxmlformats.org/drawingml/2006/main">
            <a:r>
              <a:t>IQL is offline, model-free actor-critic reinforcement learning. Training starts with a fixed dataset of observations, actions, rewards and next observations. The diagram separates learning from evaluation. IQL estimates values using recorded actions, then trains the actor to imitate stronger actions more heavily. It avoids explicitly maximizing the value backup over unseen actions. The simulator is used to evaluate the policy after training, rather than collect new training data. The policy produces six bounded torque controls at each step.</a:t>
            </a:r>
          </a:p>
          <a:p xmlns:a="http://schemas.openxmlformats.org/drawingml/2006/main">
            <a:r>
              <a:t/>
            </a:r>
          </a:p>
          <a:p xmlns:a="http://schemas.openxmlformats.org/drawingml/2006/main">
            <a:r>
              <a:t>Show: Follow the upper diagram from recorded transitions to learner to policy. Point to the separate simulator evaluation path. Pause so the audience can follow the distinction.</a:t>
            </a:r>
          </a:p>
          <a:p xmlns:a="http://schemas.openxmlformats.org/drawingml/2006/main">
            <a:r>
              <a:t/>
            </a:r>
          </a:p>
          <a:p xmlns:a="http://schemas.openxmlformats.org/drawingml/2006/main">
            <a:r>
              <a:t>Sources:</a:t>
            </a:r>
          </a:p>
          <a:p xmlns:a="http://schemas.openxmlformats.org/drawingml/2006/main">
            <a:r>
              <a:t>https://arxiv.org/abs/2110.06169</a:t>
            </a:r>
          </a:p>
          <a:p xmlns:a="http://schemas.openxmlformats.org/drawingml/2006/main">
            <a:r>
              <a:t>https://github.com/ikostrikov/implicit_q_learning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Suggested speaker: Leo Vesin.</a:t>
            </a:r>
          </a:p>
          <a:p xmlns:a="http://schemas.openxmlformats.org/drawingml/2006/main">
            <a:r>
              <a:t/>
            </a:r>
          </a:p>
          <a:p xmlns:a="http://schemas.openxmlformats.org/drawingml/2006/main">
            <a:r>
              <a:t>The learner has three updates. First, the state-value network uses an upper expectile of zero point seven, emphasizing higher-valued recorded actions. Second, the twin Q networks fit reward plus discounted next-state value, with discount zero point nine nine. Third, the actor fits recorded actions using advantage weights: the exponential of three times advantage, capped at one hundred. Advantage is the minimum target-critic estimate minus the state value. Three is inverse temperature. A tanh-squashed Gaussian keeps the actor's outputs within the action bounds. The repeated updates improve the policy without changing the fixed dataset.</a:t>
            </a:r>
          </a:p>
          <a:p xmlns:a="http://schemas.openxmlformats.org/drawingml/2006/main">
            <a:r>
              <a:t/>
            </a:r>
          </a:p>
          <a:p xmlns:a="http://schemas.openxmlformats.org/drawingml/2006/main">
            <a:r>
              <a:t>Show: Explain each update in order. Point to 0.7, 0.99 and the weight cap of 100. Read the equations in words and allow brief pauses.</a:t>
            </a:r>
          </a:p>
          <a:p xmlns:a="http://schemas.openxmlformats.org/drawingml/2006/main">
            <a:r>
              <a:t/>
            </a:r>
          </a:p>
          <a:p xmlns:a="http://schemas.openxmlformats.org/drawingml/2006/main">
            <a:r>
              <a:t>Sources:</a:t>
            </a:r>
          </a:p>
          <a:p xmlns:a="http://schemas.openxmlformats.org/drawingml/2006/main">
            <a:r>
              <a:t>https://arxiv.org/abs/2110.06169</a:t>
            </a:r>
          </a:p>
          <a:p xmlns:a="http://schemas.openxmlformats.org/drawingml/2006/main">
            <a:r>
              <a:t>https://github.com/MedvAx-AI/iql-halfcheetah/blob/c372ec0423b81839956ec00dd7338700db8d3737/src/iql_project/iql.py</a:t>
            </a:r>
          </a:p>
          <a:p xmlns:a="http://schemas.openxmlformats.org/drawingml/2006/main">
            <a:r>
              <a:t>https://github.com/MedvAx-AI/iql-halfcheetah/blob/c372ec0423b81839956ec00dd7338700db8d3737/configs/halfcheetah.toml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Suggested speaker: Nikita Shankin.</a:t>
            </a:r>
          </a:p>
          <a:p xmlns:a="http://schemas.openxmlformats.org/drawingml/2006/main">
            <a:r>
              <a:t/>
            </a:r>
          </a:p>
          <a:p xmlns:a="http://schemas.openxmlformats.org/drawingml/2006/main">
            <a:r>
              <a:t>HalfCheetah version five is a two-dimensional locomotion task in Gymnasium and MuJoCo. The robot has front and back legs. Its seventeen-value observation combines eight position or angle values with nine velocities. These describe the robot's pose and motion. Absolute horizontal position is excluded from the default observation. The action has six continuous torque components: thigh, shin and foot on each leg. Every component lies between minus one and one. The policy must use the current observation to coordinate these joints into a useful gait. The image comes from a real project rollout, while the color split shows the observation structure.</a:t>
            </a:r>
          </a:p>
          <a:p xmlns:a="http://schemas.openxmlformats.org/drawingml/2006/main">
            <a:r>
              <a:t/>
            </a:r>
          </a:p>
          <a:p xmlns:a="http://schemas.openxmlformats.org/drawingml/2006/main">
            <a:r>
              <a:t>Show: Point to the actual robot, then trace the 8 plus 9 observation split. Explain the three joints on each of two legs and the action bound. Leave time for the audience to inspect the image.</a:t>
            </a:r>
          </a:p>
          <a:p xmlns:a="http://schemas.openxmlformats.org/drawingml/2006/main">
            <a:r>
              <a:t/>
            </a:r>
          </a:p>
          <a:p xmlns:a="http://schemas.openxmlformats.org/drawingml/2006/main">
            <a:r>
              <a:t>Sources:</a:t>
            </a:r>
          </a:p>
          <a:p xmlns:a="http://schemas.openxmlformats.org/drawingml/2006/main">
            <a:r>
              <a:t>https://gymnasium.farama.org/environments/mujoco/half_cheetah/</a:t>
            </a:r>
          </a:p>
          <a:p xmlns:a="http://schemas.openxmlformats.org/drawingml/2006/main">
            <a:r>
              <a:t>Image: actual project rollout, seed 1 at 500k, evaluation seed 10000, frame at 0 seconds. https://github.com/MedvAx-AI/iql-halfcheetah/releases/tag/policy-continuation-experiment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Suggested speaker: Nikita Shankin.</a:t>
            </a:r>
          </a:p>
          <a:p xmlns:a="http://schemas.openxmlformats.org/drawingml/2006/main">
            <a:r>
              <a:t/>
            </a:r>
          </a:p>
          <a:p xmlns:a="http://schemas.openxmlformats.org/drawingml/2006/main">
            <a:r>
              <a:t>The default reward is forward velocity minus zero point one times squared control effort. The numerical example is illustrative: at five meters per second, six action components of zero point five produce a cost of zero point fifteen, so the reward is four point eight five. This encourages efficient forward motion. The agent should learn a gait that maintains speed throughout the episode. A fall does not terminate HalfCheetah. The time limit is one thousand steps, about fifty simulated seconds. A failed policy can remain on the ground until that limit. Time-limit truncation still preserves next-state value bootstrapping in our learning targets.</a:t>
            </a:r>
          </a:p>
          <a:p xmlns:a="http://schemas.openxmlformats.org/drawingml/2006/main">
            <a:r>
              <a:t/>
            </a:r>
          </a:p>
          <a:p xmlns:a="http://schemas.openxmlformats.org/drawingml/2006/main">
            <a:r>
              <a:t>Show: Follow the numerical reward example from speed through effort cost to net reward. Trace the 0-to-50-second episode line. Emphasize that a fall does not end the episode.</a:t>
            </a:r>
          </a:p>
          <a:p xmlns:a="http://schemas.openxmlformats.org/drawingml/2006/main">
            <a:r>
              <a:t/>
            </a:r>
          </a:p>
          <a:p xmlns:a="http://schemas.openxmlformats.org/drawingml/2006/main">
            <a:r>
              <a:t>Sources:</a:t>
            </a:r>
          </a:p>
          <a:p xmlns:a="http://schemas.openxmlformats.org/drawingml/2006/main">
            <a:r>
              <a:t>https://gymnasium.farama.org/environments/mujoco/half_cheetah/</a:t>
            </a:r>
          </a:p>
          <a:p xmlns:a="http://schemas.openxmlformats.org/drawingml/2006/main">
            <a:r>
              <a:t>https://github.com/MedvAx-AI/iql-halfcheetah/blob/c372ec0423b81839956ec00dd7338700db8d3737/src/iql_project/iql.py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Suggested speaker: Ruslan Nasibullin.</a:t>
            </a:r>
          </a:p>
          <a:p xmlns:a="http://schemas.openxmlformats.org/drawingml/2006/main">
            <a:r>
              <a:t/>
            </a:r>
          </a:p>
          <a:p xmlns:a="http://schemas.openxmlformats.org/drawingml/2006/main">
            <a:r>
              <a:t>We use Minari's HalfCheetah medium dataset: one million transitions from one thousand episodes. Our protocol trains three seeds for five hundred thousand offline updates each, with batches of two hundred fifty-six. We evaluate checkpoints over ten episodes, compare raw return with a random baseline, then test the selected checkpoint on separate final episode seeds. We retain full videos and separate episode variation from training-seed variation. MuJoCo three point two point three matches the recorded dataset runtime.</a:t>
            </a:r>
          </a:p>
          <a:p xmlns:a="http://schemas.openxmlformats.org/drawingml/2006/main">
            <a:r>
              <a:t/>
            </a:r>
          </a:p>
          <a:p xmlns:a="http://schemas.openxmlformats.org/drawingml/2006/main">
            <a:r>
              <a:t>Show: Point to the large dataset and budget numbers, then follow the training-to-selection-to-final-test timeline. Distinguish training seeds from evaluation episode seeds.</a:t>
            </a:r>
          </a:p>
          <a:p xmlns:a="http://schemas.openxmlformats.org/drawingml/2006/main">
            <a:r>
              <a:t/>
            </a:r>
          </a:p>
          <a:p xmlns:a="http://schemas.openxmlformats.org/drawingml/2006/main">
            <a:r>
              <a:t>Sources:</a:t>
            </a:r>
          </a:p>
          <a:p xmlns:a="http://schemas.openxmlformats.org/drawingml/2006/main">
            <a:r>
              <a:t>https://minari.farama.org/datasets/mujoco/halfcheetah/medium-v0/</a:t>
            </a:r>
          </a:p>
          <a:p xmlns:a="http://schemas.openxmlformats.org/drawingml/2006/main">
            <a:r>
              <a:t>https://github.com/MedvAx-AI/iql-halfcheetah/blob/c372ec0423b81839956ec00dd7338700db8d3737/docs/POLICY_CONTINUATION.md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Suggested speaker: Telman Nuruzov.</a:t>
            </a:r>
          </a:p>
          <a:p xmlns:a="http://schemas.openxmlformats.org/drawingml/2006/main">
            <a:r>
              <a:t/>
            </a:r>
          </a:p>
          <a:p xmlns:a="http://schemas.openxmlformats.org/drawingml/2006/main">
            <a:r>
              <a:t>The match has three practical reasons. Continuous joint torques fit a continuous actor directly. Available offline locomotion data makes training feasible without a new data-collection stage. Finally, numerical returns and visible movement make evaluation understandable. IQL's advantage weighting can favor better recorded actions, but improvement is something to test, not assume. The main challenges are limited coverage, policy variation and simulator differences. We address them with multiple training seeds, pinned dependencies and full-episode evaluation. Aleksandr owns integration, Nikita the environment and data, Leo IQL, Ruslan evaluation, and Telman the notebook and presentation. Our shared outputs are a reproducible Colab, checkpoints, plots and complete rollouts.</a:t>
            </a:r>
          </a:p>
          <a:p xmlns:a="http://schemas.openxmlformats.org/drawingml/2006/main">
            <a:r>
              <a:t/>
            </a:r>
          </a:p>
          <a:p xmlns:a="http://schemas.openxmlformats.org/drawingml/2006/main">
            <a:r>
              <a:t>Show: Follow the three algorithm-to-task matches. Explain the challenges along the bottom. Point to the team ownership line and name each personâ€™s contribution without reading all slide labels aloud.</a:t>
            </a:r>
          </a:p>
          <a:p xmlns:a="http://schemas.openxmlformats.org/drawingml/2006/main">
            <a:r>
              <a:t/>
            </a:r>
          </a:p>
          <a:p xmlns:a="http://schemas.openxmlformats.org/drawingml/2006/main">
            <a:r>
              <a:t>Sources:</a:t>
            </a:r>
          </a:p>
          <a:p xmlns:a="http://schemas.openxmlformats.org/drawingml/2006/main">
            <a:r>
              <a:t>https://arxiv.org/abs/2110.06169</a:t>
            </a:r>
          </a:p>
          <a:p xmlns:a="http://schemas.openxmlformats.org/drawingml/2006/main">
            <a:r>
              <a:t>https://minari.farama.org/datasets/mujoco/halfcheetah/medium-v0/</a:t>
            </a:r>
          </a:p>
          <a:p xmlns:a="http://schemas.openxmlformats.org/drawingml/2006/main">
            <a:r>
              <a:t>https://gymnasium.farama.org/environments/mujoco/half_cheetah/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Suggested speaker: Aleksandr Medvedev.</a:t>
            </a:r>
          </a:p>
          <a:p xmlns:a="http://schemas.openxmlformats.org/drawingml/2006/main">
            <a:r>
              <a:t/>
            </a:r>
          </a:p>
          <a:p xmlns:a="http://schemas.openxmlformats.org/drawingml/2006/main">
            <a:r>
              <a:t>This chart shows recorded Colab validation means for all three training seeds at five measured checkpoints. Each point averages ten episodes. Performance varies across seeds, and the lines do not claim values between measurements. The selected seed-one policy reached a raw return of about fifteen thousand two hundred sixty on ten separate final-test episodes, compared with about two thousand twenty-six at one hundred thousand updates. Long stationary tails decreased from ten out of ten episodes to zero out of ten. Those tails mean at least five seconds of very slow movement at the end. Other training seeds still fail, and these samples do not guarantee success everywhere. The evidence supports feasibility while preserving the limits. Thank you.</a:t>
            </a:r>
          </a:p>
          <a:p xmlns:a="http://schemas.openxmlformats.org/drawingml/2006/main">
            <a:r>
              <a:t/>
            </a:r>
          </a:p>
          <a:p xmlns:a="http://schemas.openxmlformats.org/drawingml/2006/main">
            <a:r>
              <a:t>Show: Trace all three measured curves. Point to the separate final-test return and stationary-tail counts. Say the other-seed limitation clearly, then pause on the closing slide.</a:t>
            </a:r>
          </a:p>
          <a:p xmlns:a="http://schemas.openxmlformats.org/drawingml/2006/main">
            <a:r>
              <a:t/>
            </a:r>
          </a:p>
          <a:p xmlns:a="http://schemas.openxmlformats.org/drawingml/2006/main">
            <a:r>
              <a:t>Sources:</a:t>
            </a:r>
          </a:p>
          <a:p xmlns:a="http://schemas.openxmlformats.org/drawingml/2006/main">
            <a:r>
              <a:t>https://github.com/MedvAx-AI/iql-halfcheetah</a:t>
            </a:r>
          </a:p>
          <a:p xmlns:a="http://schemas.openxmlformats.org/drawingml/2006/main">
            <a:r>
              <a:t>https://github.com/MedvAx-AI/iql-halfcheetah/blob/c372ec0423b81839956ec00dd7338700db8d3737/docs/POLICY_CONTINUATION.md</a:t>
            </a:r>
          </a:p>
          <a:p xmlns:a="http://schemas.openxmlformats.org/drawingml/2006/main">
            <a:r>
              <a:t>https://github.com/MedvAx-AI/iql-halfcheetah/blob/aa9ad5baec910730502e1f24459325b5f273b952/docs/evidence/continuation/validation/summary.json</a:t>
            </a:r>
          </a:p>
          <a:p xmlns:a="http://schemas.openxmlformats.org/drawingml/2006/main">
            <a:r>
              <a:t>https://github.com/MedvAx-AI/iql-halfcheetah/blob/aa9ad5baec910730502e1f24459325b5f273b952/docs/evidence/continuation/independent-final-test.json</a:t>
            </a:r>
          </a:p>
          <a:p xmlns:a="http://schemas.openxmlformats.org/drawingml/2006/main">
            <a:r>
              <a:t>Long stationary tail: at least 5 seconds at the end with absolute forward velocity &lt;= 0.1 m/s. Descriptive diagnostic, not a standard benchmark success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80e0a18a3d4e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d73684f28a4b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1b6e0c77ae4e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22915362f74c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c3aaee51954a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02e38dead843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61F7D7-A11C-47E7-81CD-C5299C1968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1F4228-FE8E-40A9-8174-D570C3CEE1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3D6F6F-54FB-4A69-ADF1-D9E1DFD6BA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881542-D777-48C3-BC6C-4CC0C7D3B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24F64E-1420-4A03-AF54-61163353C5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808622-FCDA-4A98-80D1-7822343FCC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0153EA-E4E8-4B6F-BA4D-0E4CECC096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F1E681-5763-4B01-A0E6-02BDFB9AF5A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32BC16-05FB-4B44-BD2E-8304EE3738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A327A6-A65A-4B96-8681-477142BC83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51982228c04dd9" /><Relationship Type="http://schemas.openxmlformats.org/officeDocument/2006/relationships/slideLayout" Target="/ppt/slideLayouts/slideLayout1.xml" Id="R697ce5d6b2f64ccf" /><Relationship Type="http://schemas.openxmlformats.org/officeDocument/2006/relationships/slideLayout" Target="/ppt/slideLayouts/slideLayout2.xml" Id="Rcd6171aac5604088" /><Relationship Type="http://schemas.openxmlformats.org/officeDocument/2006/relationships/slideLayout" Target="/ppt/slideLayouts/slideLayout3.xml" Id="R0cb37f6dd6154e5e" /><Relationship Type="http://schemas.openxmlformats.org/officeDocument/2006/relationships/slideLayout" Target="/ppt/slideLayouts/slideLayout4.xml" Id="R772d03b2574f4f54" /><Relationship Type="http://schemas.openxmlformats.org/officeDocument/2006/relationships/slideLayout" Target="/ppt/slideLayouts/slideLayout5.xml" Id="Ref9532bb40af4323" /><Relationship Type="http://schemas.openxmlformats.org/officeDocument/2006/relationships/slideLayout" Target="/ppt/slideLayouts/slideLayout6.xml" Id="Rc19597d993c442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7ce5d6b2f64ccf"/>
    <p:sldLayoutId xmlns:r="http://schemas.openxmlformats.org/officeDocument/2006/relationships" id="2147483650" r:id="Rcd6171aac5604088"/>
    <p:sldLayoutId xmlns:r="http://schemas.openxmlformats.org/officeDocument/2006/relationships" id="2147483651" r:id="R0cb37f6dd6154e5e"/>
    <p:sldLayoutId xmlns:r="http://schemas.openxmlformats.org/officeDocument/2006/relationships" id="2147483652" r:id="R772d03b2574f4f54"/>
    <p:sldLayoutId xmlns:r="http://schemas.openxmlformats.org/officeDocument/2006/relationships" id="2147483653" r:id="Ref9532bb40af4323"/>
    <p:sldLayoutId xmlns:r="http://schemas.openxmlformats.org/officeDocument/2006/relationships" id="2147483654" r:id="Rc19597d993c442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d310aff24e4c04" /><Relationship Type="http://schemas.openxmlformats.org/officeDocument/2006/relationships/image" Target="/ppt/media/image.png" Id="Rb01540bf285a4bca" /><Relationship Type="http://schemas.openxmlformats.org/officeDocument/2006/relationships/notesSlide" Target="/ppt/notesSlides/notesSlide1.xml" Id="Re69502b706124a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136ede9fa5461a" /><Relationship Type="http://schemas.openxmlformats.org/officeDocument/2006/relationships/notesSlide" Target="/ppt/notesSlides/notesSlide2.xml" Id="R1c39e34c49724d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a3b447a9cb4fe7" /><Relationship Type="http://schemas.openxmlformats.org/officeDocument/2006/relationships/notesSlide" Target="/ppt/notesSlides/notesSlide3.xml" Id="R6eb2938b943149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b06b76d2664bc8" /><Relationship Type="http://schemas.openxmlformats.org/officeDocument/2006/relationships/chart" Target="/ppt/slides/charts/chart1.xml" Id="R187c6285c9594a31" /><Relationship Type="http://schemas.openxmlformats.org/officeDocument/2006/relationships/image" Target="/ppt/media/image2.png" Id="R2b1eb65dfef74473" /><Relationship Type="http://schemas.openxmlformats.org/officeDocument/2006/relationships/notesSlide" Target="/ppt/notesSlides/notesSlide4.xml" Id="Rf0b5886847cd48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4ac9f578254fdc" /><Relationship Type="http://schemas.openxmlformats.org/officeDocument/2006/relationships/notesSlide" Target="/ppt/notesSlides/notesSlide5.xml" Id="R7e4dd61c4c4640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f4819e6b8641cc" /><Relationship Type="http://schemas.openxmlformats.org/officeDocument/2006/relationships/notesSlide" Target="/ppt/notesSlides/notesSlide6.xml" Id="R7865b2ee015c42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a2a52f05fa4f11" /><Relationship Type="http://schemas.openxmlformats.org/officeDocument/2006/relationships/notesSlide" Target="/ppt/notesSlides/notesSlide7.xml" Id="Rcde5046f992643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a780ea0b9c54425" /><Relationship Type="http://schemas.openxmlformats.org/officeDocument/2006/relationships/chart" Target="/ppt/slides/charts/chart2.xml" Id="R305b737795b846ec" /><Relationship Type="http://schemas.openxmlformats.org/officeDocument/2006/relationships/notesSlide" Target="/ppt/notesSlides/notesSlide8.xml" Id="R14545f8ef36d40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latin typeface="Arial"/>
                <a:ea typeface="Arial"/>
                <a:cs typeface="Arial"/>
              </a:rPr>
              <a:t>Observation components</a:t>
            </a:r>
          </a:p>
        </c:rich>
      </c:tx>
      <c:overlay val="0"/>
      <c:txPr>
        <a:bodyPr xmlns:a="http://schemas.openxmlformats.org/drawingml/2006/main" anchorCtr="1"/>
        <a:lstStyle xmlns:a="http://schemas.openxmlformats.org/drawingml/2006/main"/>
        <a:p xmlns:a="http://schemas.openxmlformats.org/drawingml/2006/main">
          <a:pPr>
            <a:defRPr sz="1875" b="1">
              <a:latin typeface="Arial"/>
              <a:ea typeface="Arial"/>
              <a:cs typeface="Arial"/>
            </a:defRPr>
          </a:pPr>
        </a:p>
      </c:txPr>
    </c:title>
    <c:plotArea>
      <c:doughnutChart>
        <c:ser>
          <c:idx val="0"/>
          <c:order val="0"/>
          <c:tx>
            <c:v>Observed dimensions</c:v>
          </c:tx>
          <c:dPt>
            <c:idx val="0"/>
            <c:spPr>
              <a:solidFill xmlns:a="http://schemas.openxmlformats.org/drawingml/2006/main">
                <a:srgbClr val="007F80"/>
              </a:solidFill>
            </c:spPr>
          </c:dPt>
          <c:dPt>
            <c:idx val="1"/>
            <c:spPr>
              <a:solidFill xmlns:a="http://schemas.openxmlformats.org/drawingml/2006/main">
                <a:srgbClr val="E47F29"/>
              </a:solidFill>
            </c:spPr>
          </c:dPt>
          <c:cat>
            <c:strRef>
              <c:f>'Chart Data'!$A$2:$A$3</c:f>
              <c:strCache>
                <c:ptCount val="2"/>
                <c:pt idx="0">
                  <c:v>Pose: 8</c:v>
                </c:pt>
                <c:pt idx="1">
                  <c:v>Velocity: 9</c:v>
                </c:pt>
              </c:strCache>
            </c:strRef>
          </c:cat>
          <c:val>
            <c:numRef>
              <c:f>'Chart Data'!$B$2:$B$3</c:f>
              <c:numCache>
                <c:formatCode>General</c:formatCode>
                <c:ptCount val="2"/>
                <c:pt idx="0">
                  <c:v>8</c:v>
                </c:pt>
                <c:pt idx="1">
                  <c:v>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holeSize val="76"/>
      </c:doughnutChart>
      <c:spPr>
        <a:solidFill xmlns:a="http://schemas.openxmlformats.org/drawingml/2006/main">
          <a:srgbClr val="FBFCFD"/>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BFCFD"/>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latin typeface="Arial"/>
                <a:ea typeface="Arial"/>
                <a:cs typeface="Arial"/>
              </a:rPr>
              <a:t>Validation raw episodic return</a:t>
            </a:r>
          </a:p>
        </c:rich>
      </c:tx>
      <c:overlay val="0"/>
      <c:txPr>
        <a:bodyPr xmlns:a="http://schemas.openxmlformats.org/drawingml/2006/main" anchorCtr="1"/>
        <a:lstStyle xmlns:a="http://schemas.openxmlformats.org/drawingml/2006/main"/>
        <a:p xmlns:a="http://schemas.openxmlformats.org/drawingml/2006/main">
          <a:pPr>
            <a:defRPr sz="1950" b="1">
              <a:latin typeface="Arial"/>
              <a:ea typeface="Arial"/>
              <a:cs typeface="Arial"/>
            </a:defRPr>
          </a:pPr>
        </a:p>
      </c:txPr>
    </c:title>
    <c:plotArea>
      <c:scatterChart>
        <c:scatterStyle val="lineMarker"/>
        <c:varyColors val="0"/>
        <c:ser>
          <c:idx val="0"/>
          <c:order val="0"/>
          <c:tx>
            <c:v>Seed 0</c:v>
          </c:tx>
          <c:spPr>
            <a:ln xmlns:a="http://schemas.openxmlformats.org/drawingml/2006/main" w="28575">
              <a:solidFill>
                <a:srgbClr val="6D8190"/>
              </a:solidFill>
            </a:ln>
          </c:spPr>
          <c:marker>
            <c:symbol val="circle"/>
            <c:size val="7"/>
            <c:spPr>
              <a:solidFill xmlns:a="http://schemas.openxmlformats.org/drawingml/2006/main">
                <a:srgbClr val="6D8190"/>
              </a:solidFill>
            </c:spPr>
          </c:marker>
          <c:xVal>
            <c:numRef>
              <c:f>'Chart Data'!$A$2:$A$6</c:f>
              <c:numCache>
                <c:formatCode>General</c:formatCode>
                <c:ptCount val="5"/>
                <c:pt idx="0">
                  <c:v>100</c:v>
                </c:pt>
                <c:pt idx="1">
                  <c:v>150</c:v>
                </c:pt>
                <c:pt idx="2">
                  <c:v>200</c:v>
                </c:pt>
                <c:pt idx="3">
                  <c:v>300</c:v>
                </c:pt>
                <c:pt idx="4">
                  <c:v>500</c:v>
                </c:pt>
              </c:numCache>
            </c:numRef>
          </c:xVal>
          <c:yVal>
            <c:numRef>
              <c:f>'Chart Data'!$B$2:$B$6</c:f>
              <c:numCache>
                <c:formatCode>#,##0</c:formatCode>
                <c:ptCount val="5"/>
                <c:pt idx="0">
                  <c:v>1613.03</c:v>
                </c:pt>
                <c:pt idx="1">
                  <c:v>4049.37</c:v>
                </c:pt>
                <c:pt idx="2">
                  <c:v>5403.12</c:v>
                </c:pt>
                <c:pt idx="3">
                  <c:v>6629.58</c:v>
                </c:pt>
                <c:pt idx="4">
                  <c:v>6864.09</c:v>
                </c:pt>
              </c:numCache>
            </c:numRef>
          </c:yVal>
        </c:ser>
        <c:ser>
          <c:idx val="1"/>
          <c:order val="1"/>
          <c:tx>
            <c:v>Seed 1</c:v>
          </c:tx>
          <c:spPr>
            <a:ln xmlns:a="http://schemas.openxmlformats.org/drawingml/2006/main" w="28575">
              <a:solidFill>
                <a:srgbClr val="007F80"/>
              </a:solidFill>
            </a:ln>
          </c:spPr>
          <c:marker>
            <c:symbol val="circle"/>
            <c:size val="7"/>
            <c:spPr>
              <a:solidFill xmlns:a="http://schemas.openxmlformats.org/drawingml/2006/main">
                <a:srgbClr val="007F80"/>
              </a:solidFill>
            </c:spPr>
          </c:marker>
          <c:xVal>
            <c:numRef>
              <c:f>'Chart Data'!$C$2:$C$6</c:f>
              <c:numCache>
                <c:formatCode>General</c:formatCode>
                <c:ptCount val="5"/>
                <c:pt idx="0">
                  <c:v>100</c:v>
                </c:pt>
                <c:pt idx="1">
                  <c:v>150</c:v>
                </c:pt>
                <c:pt idx="2">
                  <c:v>200</c:v>
                </c:pt>
                <c:pt idx="3">
                  <c:v>300</c:v>
                </c:pt>
                <c:pt idx="4">
                  <c:v>500</c:v>
                </c:pt>
              </c:numCache>
            </c:numRef>
          </c:xVal>
          <c:yVal>
            <c:numRef>
              <c:f>'Chart Data'!$D$2:$D$6</c:f>
              <c:numCache>
                <c:formatCode>#,##0</c:formatCode>
                <c:ptCount val="5"/>
                <c:pt idx="0">
                  <c:v>1504.65</c:v>
                </c:pt>
                <c:pt idx="1">
                  <c:v>5661.84</c:v>
                </c:pt>
                <c:pt idx="2">
                  <c:v>2852.51</c:v>
                </c:pt>
                <c:pt idx="3">
                  <c:v>8762.76</c:v>
                </c:pt>
                <c:pt idx="4">
                  <c:v>15232.53</c:v>
                </c:pt>
              </c:numCache>
            </c:numRef>
          </c:yVal>
        </c:ser>
        <c:ser>
          <c:idx val="2"/>
          <c:order val="2"/>
          <c:tx>
            <c:v>Seed 2</c:v>
          </c:tx>
          <c:spPr>
            <a:ln xmlns:a="http://schemas.openxmlformats.org/drawingml/2006/main" w="28575">
              <a:solidFill>
                <a:srgbClr val="E47F29"/>
              </a:solidFill>
            </a:ln>
          </c:spPr>
          <c:marker>
            <c:symbol val="circle"/>
            <c:size val="7"/>
            <c:spPr>
              <a:solidFill xmlns:a="http://schemas.openxmlformats.org/drawingml/2006/main">
                <a:srgbClr val="E47F29"/>
              </a:solidFill>
            </c:spPr>
          </c:marker>
          <c:xVal>
            <c:numRef>
              <c:f>'Chart Data'!$E$2:$E$6</c:f>
              <c:numCache>
                <c:formatCode>General</c:formatCode>
                <c:ptCount val="5"/>
                <c:pt idx="0">
                  <c:v>100</c:v>
                </c:pt>
                <c:pt idx="1">
                  <c:v>150</c:v>
                </c:pt>
                <c:pt idx="2">
                  <c:v>200</c:v>
                </c:pt>
                <c:pt idx="3">
                  <c:v>300</c:v>
                </c:pt>
                <c:pt idx="4">
                  <c:v>500</c:v>
                </c:pt>
              </c:numCache>
            </c:numRef>
          </c:xVal>
          <c:yVal>
            <c:numRef>
              <c:f>'Chart Data'!$F$2:$F$6</c:f>
              <c:numCache>
                <c:formatCode>#,##0</c:formatCode>
                <c:ptCount val="5"/>
                <c:pt idx="0">
                  <c:v>2667.16</c:v>
                </c:pt>
                <c:pt idx="1">
                  <c:v>6968.4</c:v>
                </c:pt>
                <c:pt idx="2">
                  <c:v>12024.62</c:v>
                </c:pt>
                <c:pt idx="3">
                  <c:v>6957.27</c:v>
                </c:pt>
                <c:pt idx="4">
                  <c:v>12732.22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000"/>
          <c:min val="0"/>
        </c:scaling>
        <c:delete val="0"/>
        <c:axPos val="l"/>
        <c:majorGridlines>
          <c:spPr>
            <a:ln xmlns:a="http://schemas.openxmlformats.org/drawingml/2006/main" w="9525">
              <a:solidFill>
                <a:srgbClr val="DB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majorUnit val="4000"/>
      </c:valAx>
      <c:valAx>
        <c:axId val="48650112"/>
        <c:scaling>
          <c:orientation val="minMax"/>
          <c:max val="500"/>
          <c:min val="100"/>
        </c:scaling>
        <c:delete val="0"/>
        <c:axPos val="b"/>
        <c:title>
          <c:tx>
            <c:rich>
              <a:bodyPr xmlns:a="http://schemas.openxmlformats.org/drawingml/2006/main"/>
              <a:lstStyle xmlns:a="http://schemas.openxmlformats.org/drawingml/2006/main"/>
              <a:p xmlns:a="http://schemas.openxmlformats.org/drawingml/2006/main">
                <a:r>
                  <a:rPr sz="1725">
                    <a:latin typeface="Arial"/>
                    <a:ea typeface="Arial"/>
                    <a:cs typeface="Arial"/>
                  </a:rPr>
                  <a:t>Offline updates (thousands)</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
        <c:majorTickMark val="none"/>
        <c:minorTickMark val="none"/>
        <c:spPr>
          <a:ln xmlns:a="http://schemas.openxmlformats.org/drawingml/2006/main" w="9525">
            <a:solidFill>
              <a:srgbClr val="DBE4E9"/>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100"/>
      </c:valAx>
      <c:spPr>
        <a:solidFill xmlns:a="http://schemas.openxmlformats.org/drawingml/2006/main">
          <a:srgbClr val="FBFCFD"/>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BFCFD"/>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F75A27-6017-42D0-956B-1578C42AA6D6}"/>
              </a:ext>
            </a:extLst>
          </p:cNvPr>
          <p:cNvSpPr>
            <a:spLocks xmlns:a="http://schemas.openxmlformats.org/drawingml/2006/main" noGrp="1"/>
          </p:cNvSpPr>
          <p:nvPr/>
        </p:nvSpPr>
        <p:spPr>
          <a:xfrm xmlns:a="http://schemas.openxmlformats.org/drawingml/2006/main">
            <a:off x="609600" y="1066800"/>
            <a:ext cx="5905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Implicit</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Q-Learning</a:t>
            </a:r>
          </a:p>
        </p:txBody>
      </p:sp>
      <p:sp>
        <p:nvSpPr>
          <p:cNvPr id="2" name="">
            <a:extLst xmlns:a="http://schemas.openxmlformats.org/drawingml/2006/main">
              <a:ext uri="{FF2B5EF4-FFF2-40B4-BE49-F238E27FC236}">
                <a16:creationId xmlns:a16="http://schemas.microsoft.com/office/drawing/2014/main" id="{22507F52-B895-46DA-91A5-C75443BDDB1A}"/>
              </a:ext>
            </a:extLst>
          </p:cNvPr>
          <p:cNvSpPr>
            <a:spLocks xmlns:a="http://schemas.openxmlformats.org/drawingml/2006/main" noGrp="1"/>
          </p:cNvSpPr>
          <p:nvPr/>
        </p:nvSpPr>
        <p:spPr>
          <a:xfrm xmlns:a="http://schemas.openxmlformats.org/drawingml/2006/main">
            <a:off x="609600" y="3209925"/>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60D3C0"/>
                </a:solidFill>
                <a:latin typeface="Arial"/>
                <a:ea typeface="Arial"/>
                <a:cs typeface="Arial"/>
              </a:defRPr>
            </a:defPPr>
          </a:lstStyle>
          <a:p xmlns:a="http://schemas.openxmlformats.org/drawingml/2006/main">
            <a:pPr algn="l">
              <a:defRPr sz="3450" b="1">
                <a:solidFill>
                  <a:srgbClr val="60D3C0"/>
                </a:solidFill>
                <a:latin typeface="Arial"/>
                <a:ea typeface="Arial"/>
                <a:cs typeface="Arial"/>
              </a:defRPr>
            </a:pPr>
            <a:r>
              <a:rPr sz="3450" b="1">
                <a:solidFill>
                  <a:srgbClr val="60D3C0"/>
                </a:solidFill>
                <a:latin typeface="Arial"/>
                <a:ea typeface="Arial"/>
                <a:cs typeface="Arial"/>
              </a:rPr>
              <a:t>HalfCheetah-v5</a:t>
            </a:r>
          </a:p>
        </p:txBody>
      </p:sp>
      <p:sp>
        <p:nvSpPr>
          <p:cNvPr id="3" name="">
            <a:extLst xmlns:a="http://schemas.openxmlformats.org/drawingml/2006/main">
              <a:ext uri="{FF2B5EF4-FFF2-40B4-BE49-F238E27FC236}">
                <a16:creationId xmlns:a16="http://schemas.microsoft.com/office/drawing/2014/main" id="{787A6054-1BDD-4F9C-9E74-EB642930C9E9}"/>
              </a:ext>
            </a:extLst>
          </p:cNvPr>
          <p:cNvSpPr>
            <a:spLocks xmlns:a="http://schemas.openxmlformats.org/drawingml/2006/main" noGrp="1"/>
          </p:cNvSpPr>
          <p:nvPr/>
        </p:nvSpPr>
        <p:spPr>
          <a:xfrm xmlns:a="http://schemas.openxmlformats.org/drawingml/2006/main">
            <a:off x="609600" y="408622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Offline reinforcement learning proposal</a:t>
            </a:r>
          </a:p>
        </p:txBody>
      </p:sp>
      <p:pic>
        <p:nvPicPr>
          <p:cNvPr id="4" name="">
            <a:extLst xmlns:a="http://schemas.openxmlformats.org/drawingml/2006/main">
              <a:ext uri="{FF2B5EF4-FFF2-40B4-BE49-F238E27FC236}">
                <a16:creationId xmlns:a16="http://schemas.microsoft.com/office/drawing/2014/main" id="{DE0D56D1-31DB-4160-AF25-863AC8CF64F3}"/>
              </a:ext>
            </a:extLst>
          </p:cNvPr>
          <p:cNvPicPr>
            <a:picLocks xmlns:a="http://schemas.openxmlformats.org/drawingml/2006/main" noChangeAspect="1"/>
          </p:cNvPicPr>
          <p:nvPr/>
        </p:nvPicPr>
        <p:blipFill>
          <a:blip xmlns:r="http://schemas.openxmlformats.org/officeDocument/2006/relationships" xmlns:a="http://schemas.openxmlformats.org/drawingml/2006/main" r:embed="Rb01540bf285a4bca"/>
          <a:stretch xmlns:a="http://schemas.openxmlformats.org/drawingml/2006/main"/>
        </p:blipFill>
        <p:spPr>
          <a:xfrm xmlns:a="http://schemas.openxmlformats.org/drawingml/2006/main">
            <a:off x="7191375" y="952500"/>
            <a:ext cx="4191000"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4DC60F-7BE0-4A4E-AF19-98E9957238A3}"/>
              </a:ext>
            </a:extLst>
          </p:cNvPr>
          <p:cNvSpPr>
            <a:spLocks xmlns:a="http://schemas.openxmlformats.org/drawingml/2006/main" noGrp="1"/>
          </p:cNvSpPr>
          <p:nvPr/>
        </p:nvSpPr>
        <p:spPr>
          <a:xfrm xmlns:a="http://schemas.openxmlformats.org/drawingml/2006/main">
            <a:off x="609600"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Aleksandr Medvedev   Nikita Shankin   Leo Vesin</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Ruslan Nasibullin   Telman Nuruzov</a:t>
            </a:r>
          </a:p>
        </p:txBody>
      </p:sp>
      <p:sp>
        <p:nvSpPr>
          <p:cNvPr id="6" name="">
            <a:extLst xmlns:a="http://schemas.openxmlformats.org/drawingml/2006/main">
              <a:ext uri="{FF2B5EF4-FFF2-40B4-BE49-F238E27FC236}">
                <a16:creationId xmlns:a16="http://schemas.microsoft.com/office/drawing/2014/main" id="{5C89E22C-0AD4-4CAD-891F-DDCA7F220D18}"/>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1 / 8</a:t>
            </a:r>
          </a:p>
        </p:txBody>
      </p:sp>
    </p:spTree>
    <p:extLst>
      <p:ext uri="{BB962C8B-B14F-4D97-AF65-F5344CB8AC3E}">
        <p14:creationId xmlns:p14="http://schemas.microsoft.com/office/powerpoint/2010/main" val="454889662"/>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3F73F7-6EE8-439B-BD7E-2DBAC2F53547}"/>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Offline data, learned values, continuous control</a:t>
            </a:r>
          </a:p>
        </p:txBody>
      </p:sp>
      <p:sp>
        <p:nvSpPr>
          <p:cNvPr id="2" name="">
            <a:extLst xmlns:a="http://schemas.openxmlformats.org/drawingml/2006/main">
              <a:ext uri="{FF2B5EF4-FFF2-40B4-BE49-F238E27FC236}">
                <a16:creationId xmlns:a16="http://schemas.microsoft.com/office/drawing/2014/main" id="{BCA156BC-1B46-4F25-8A5B-BD65835A9448}"/>
              </a:ext>
            </a:extLst>
          </p:cNvPr>
          <p:cNvSpPr>
            <a:spLocks xmlns:a="http://schemas.openxmlformats.org/drawingml/2006/main" noGrp="1"/>
          </p:cNvSpPr>
          <p:nvPr/>
        </p:nvSpPr>
        <p:spPr>
          <a:xfrm xmlns:a="http://schemas.openxmlformats.org/drawingml/2006/main">
            <a:off x="609600" y="16192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007F80"/>
                </a:solidFill>
                <a:latin typeface="Arial"/>
                <a:ea typeface="Arial"/>
                <a:cs typeface="Arial"/>
              </a:defRPr>
            </a:defPPr>
          </a:lstStyle>
          <a:p xmlns:a="http://schemas.openxmlformats.org/drawingml/2006/main">
            <a:pPr algn="l">
              <a:defRPr sz="2550" b="1">
                <a:solidFill>
                  <a:srgbClr val="007F80"/>
                </a:solidFill>
                <a:latin typeface="Arial"/>
                <a:ea typeface="Arial"/>
                <a:cs typeface="Arial"/>
              </a:defRPr>
            </a:pPr>
            <a:r>
              <a:rPr sz="2550" b="1">
                <a:solidFill>
                  <a:srgbClr val="007F80"/>
                </a:solidFill>
                <a:latin typeface="Arial"/>
                <a:ea typeface="Arial"/>
                <a:cs typeface="Arial"/>
              </a:rPr>
              <a:t>OFFLINE</a:t>
            </a:r>
          </a:p>
        </p:txBody>
      </p:sp>
      <p:sp>
        <p:nvSpPr>
          <p:cNvPr id="3" name="">
            <a:extLst xmlns:a="http://schemas.openxmlformats.org/drawingml/2006/main">
              <a:ext uri="{FF2B5EF4-FFF2-40B4-BE49-F238E27FC236}">
                <a16:creationId xmlns:a16="http://schemas.microsoft.com/office/drawing/2014/main" id="{B4623081-B288-4BD1-8804-28F730C1B6AF}"/>
              </a:ext>
            </a:extLst>
          </p:cNvPr>
          <p:cNvSpPr>
            <a:spLocks xmlns:a="http://schemas.openxmlformats.org/drawingml/2006/main" noGrp="1"/>
          </p:cNvSpPr>
          <p:nvPr/>
        </p:nvSpPr>
        <p:spPr>
          <a:xfrm xmlns:a="http://schemas.openxmlformats.org/drawingml/2006/main">
            <a:off x="3524250" y="1666875"/>
            <a:ext cx="704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32E40"/>
                </a:solidFill>
                <a:latin typeface="Arial"/>
                <a:ea typeface="Arial"/>
                <a:cs typeface="Arial"/>
              </a:defRPr>
            </a:defPPr>
          </a:lstStyle>
          <a:p xmlns:a="http://schemas.openxmlformats.org/drawingml/2006/main">
            <a:pPr algn="l">
              <a:defRPr sz="2250" b="0">
                <a:solidFill>
                  <a:srgbClr val="132E40"/>
                </a:solidFill>
                <a:latin typeface="Arial"/>
                <a:ea typeface="Arial"/>
                <a:cs typeface="Arial"/>
              </a:defRPr>
            </a:pPr>
            <a:r>
              <a:rPr sz="2250" b="0">
                <a:solidFill>
                  <a:srgbClr val="132E40"/>
                </a:solidFill>
                <a:latin typeface="Arial"/>
                <a:ea typeface="Arial"/>
                <a:cs typeface="Arial"/>
              </a:rPr>
              <a:t>Model-free actor-critic</a:t>
            </a:r>
          </a:p>
        </p:txBody>
      </p:sp>
      <p:sp>
        <p:nvSpPr>
          <p:cNvPr id="4" name="">
            <a:extLst xmlns:a="http://schemas.openxmlformats.org/drawingml/2006/main">
              <a:ext uri="{FF2B5EF4-FFF2-40B4-BE49-F238E27FC236}">
                <a16:creationId xmlns:a16="http://schemas.microsoft.com/office/drawing/2014/main" id="{BFF358C5-0265-463C-85DD-61199B34F398}"/>
              </a:ext>
            </a:extLst>
          </p:cNvPr>
          <p:cNvSpPr>
            <a:spLocks xmlns:a="http://schemas.openxmlformats.org/drawingml/2006/main" noGrp="1"/>
          </p:cNvSpPr>
          <p:nvPr/>
        </p:nvSpPr>
        <p:spPr>
          <a:xfrm xmlns:a="http://schemas.openxmlformats.org/drawingml/2006/main">
            <a:off x="609600" y="2638425"/>
            <a:ext cx="2857500" cy="1333500"/>
          </a:xfrm>
          <a:prstGeom xmlns:a="http://schemas.openxmlformats.org/drawingml/2006/main" prst="rect">
            <a:avLst/>
          </a:prstGeom>
          <a:solidFill xmlns:a="http://schemas.openxmlformats.org/drawingml/2006/main">
            <a:srgbClr val="E7F4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F3D23C-FB99-436D-8BF0-9FF351FD29AB}"/>
              </a:ext>
            </a:extLst>
          </p:cNvPr>
          <p:cNvSpPr>
            <a:spLocks xmlns:a="http://schemas.openxmlformats.org/drawingml/2006/main" noGrp="1"/>
          </p:cNvSpPr>
          <p:nvPr/>
        </p:nvSpPr>
        <p:spPr>
          <a:xfrm xmlns:a="http://schemas.openxmlformats.org/drawingml/2006/main">
            <a:off x="800100" y="28289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Recorded data</a:t>
            </a:r>
          </a:p>
        </p:txBody>
      </p:sp>
      <p:sp>
        <p:nvSpPr>
          <p:cNvPr id="6" name="">
            <a:extLst xmlns:a="http://schemas.openxmlformats.org/drawingml/2006/main">
              <a:ext uri="{FF2B5EF4-FFF2-40B4-BE49-F238E27FC236}">
                <a16:creationId xmlns:a16="http://schemas.microsoft.com/office/drawing/2014/main" id="{B0D6AEDC-4A8A-4F48-8070-3670AB9C1436}"/>
              </a:ext>
            </a:extLst>
          </p:cNvPr>
          <p:cNvSpPr>
            <a:spLocks xmlns:a="http://schemas.openxmlformats.org/drawingml/2006/main" noGrp="1"/>
          </p:cNvSpPr>
          <p:nvPr/>
        </p:nvSpPr>
        <p:spPr>
          <a:xfrm xmlns:a="http://schemas.openxmlformats.org/drawingml/2006/main">
            <a:off x="800100" y="3381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(s, a, r, next s)</a:t>
            </a:r>
          </a:p>
        </p:txBody>
      </p:sp>
      <p:sp>
        <p:nvSpPr>
          <p:cNvPr id="7" name="">
            <a:extLst xmlns:a="http://schemas.openxmlformats.org/drawingml/2006/main">
              <a:ext uri="{FF2B5EF4-FFF2-40B4-BE49-F238E27FC236}">
                <a16:creationId xmlns:a16="http://schemas.microsoft.com/office/drawing/2014/main" id="{8EBF11B5-C255-4A7E-924D-FBA05A930750}"/>
              </a:ext>
            </a:extLst>
          </p:cNvPr>
          <p:cNvSpPr>
            <a:spLocks xmlns:a="http://schemas.openxmlformats.org/drawingml/2006/main" noGrp="1"/>
          </p:cNvSpPr>
          <p:nvPr/>
        </p:nvSpPr>
        <p:spPr>
          <a:xfrm xmlns:a="http://schemas.openxmlformats.org/drawingml/2006/main">
            <a:off x="3667125" y="3190875"/>
            <a:ext cx="4572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5EA6D2-7914-427D-8070-862FD1EDE45E}"/>
              </a:ext>
            </a:extLst>
          </p:cNvPr>
          <p:cNvSpPr>
            <a:spLocks xmlns:a="http://schemas.openxmlformats.org/drawingml/2006/main" noGrp="1"/>
          </p:cNvSpPr>
          <p:nvPr/>
        </p:nvSpPr>
        <p:spPr>
          <a:xfrm xmlns:a="http://schemas.openxmlformats.org/drawingml/2006/main">
            <a:off x="4333875" y="2638425"/>
            <a:ext cx="2857500" cy="1333500"/>
          </a:xfrm>
          <a:prstGeom xmlns:a="http://schemas.openxmlformats.org/drawingml/2006/main" prst="rect">
            <a:avLst/>
          </a:prstGeom>
          <a:solidFill xmlns:a="http://schemas.openxmlformats.org/drawingml/2006/main">
            <a:srgbClr val="E7F4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637521-642B-4CF8-9DAA-2C7A544611D6}"/>
              </a:ext>
            </a:extLst>
          </p:cNvPr>
          <p:cNvSpPr>
            <a:spLocks xmlns:a="http://schemas.openxmlformats.org/drawingml/2006/main" noGrp="1"/>
          </p:cNvSpPr>
          <p:nvPr/>
        </p:nvSpPr>
        <p:spPr>
          <a:xfrm xmlns:a="http://schemas.openxmlformats.org/drawingml/2006/main">
            <a:off x="4524375" y="28289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IQL learner</a:t>
            </a:r>
          </a:p>
        </p:txBody>
      </p:sp>
      <p:sp>
        <p:nvSpPr>
          <p:cNvPr id="10" name="">
            <a:extLst xmlns:a="http://schemas.openxmlformats.org/drawingml/2006/main">
              <a:ext uri="{FF2B5EF4-FFF2-40B4-BE49-F238E27FC236}">
                <a16:creationId xmlns:a16="http://schemas.microsoft.com/office/drawing/2014/main" id="{9098B749-3EB6-4AF3-87FE-510DDAAA702C}"/>
              </a:ext>
            </a:extLst>
          </p:cNvPr>
          <p:cNvSpPr>
            <a:spLocks xmlns:a="http://schemas.openxmlformats.org/drawingml/2006/main" noGrp="1"/>
          </p:cNvSpPr>
          <p:nvPr/>
        </p:nvSpPr>
        <p:spPr>
          <a:xfrm xmlns:a="http://schemas.openxmlformats.org/drawingml/2006/main">
            <a:off x="4524375" y="3381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Values + actor</a:t>
            </a:r>
          </a:p>
        </p:txBody>
      </p:sp>
      <p:sp>
        <p:nvSpPr>
          <p:cNvPr id="11" name="">
            <a:extLst xmlns:a="http://schemas.openxmlformats.org/drawingml/2006/main">
              <a:ext uri="{FF2B5EF4-FFF2-40B4-BE49-F238E27FC236}">
                <a16:creationId xmlns:a16="http://schemas.microsoft.com/office/drawing/2014/main" id="{E0863EDB-EF07-4FC8-9AF5-D9F810482A4B}"/>
              </a:ext>
            </a:extLst>
          </p:cNvPr>
          <p:cNvSpPr>
            <a:spLocks xmlns:a="http://schemas.openxmlformats.org/drawingml/2006/main" noGrp="1"/>
          </p:cNvSpPr>
          <p:nvPr/>
        </p:nvSpPr>
        <p:spPr>
          <a:xfrm xmlns:a="http://schemas.openxmlformats.org/drawingml/2006/main">
            <a:off x="7400925" y="3190875"/>
            <a:ext cx="4572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ADE651-C5E6-402D-B6FC-9095D913297F}"/>
              </a:ext>
            </a:extLst>
          </p:cNvPr>
          <p:cNvSpPr>
            <a:spLocks xmlns:a="http://schemas.openxmlformats.org/drawingml/2006/main" noGrp="1"/>
          </p:cNvSpPr>
          <p:nvPr/>
        </p:nvSpPr>
        <p:spPr>
          <a:xfrm xmlns:a="http://schemas.openxmlformats.org/drawingml/2006/main">
            <a:off x="8067675" y="2638425"/>
            <a:ext cx="3429000" cy="1333500"/>
          </a:xfrm>
          <a:prstGeom xmlns:a="http://schemas.openxmlformats.org/drawingml/2006/main" prst="rect">
            <a:avLst/>
          </a:prstGeom>
          <a:solidFill xmlns:a="http://schemas.openxmlformats.org/drawingml/2006/main">
            <a:srgbClr val="E7F4F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42FF6C-DFE6-4368-9C5A-DBC1EB3033D7}"/>
              </a:ext>
            </a:extLst>
          </p:cNvPr>
          <p:cNvSpPr>
            <a:spLocks xmlns:a="http://schemas.openxmlformats.org/drawingml/2006/main" noGrp="1"/>
          </p:cNvSpPr>
          <p:nvPr/>
        </p:nvSpPr>
        <p:spPr>
          <a:xfrm xmlns:a="http://schemas.openxmlformats.org/drawingml/2006/main">
            <a:off x="8258175" y="28289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Control policy</a:t>
            </a:r>
          </a:p>
        </p:txBody>
      </p:sp>
      <p:sp>
        <p:nvSpPr>
          <p:cNvPr id="14" name="">
            <a:extLst xmlns:a="http://schemas.openxmlformats.org/drawingml/2006/main">
              <a:ext uri="{FF2B5EF4-FFF2-40B4-BE49-F238E27FC236}">
                <a16:creationId xmlns:a16="http://schemas.microsoft.com/office/drawing/2014/main" id="{8E04DBE7-BC95-45FE-9483-760F87BC6531}"/>
              </a:ext>
            </a:extLst>
          </p:cNvPr>
          <p:cNvSpPr>
            <a:spLocks xmlns:a="http://schemas.openxmlformats.org/drawingml/2006/main" noGrp="1"/>
          </p:cNvSpPr>
          <p:nvPr/>
        </p:nvSpPr>
        <p:spPr>
          <a:xfrm xmlns:a="http://schemas.openxmlformats.org/drawingml/2006/main">
            <a:off x="8258175" y="33813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6 continuous torques</a:t>
            </a:r>
          </a:p>
        </p:txBody>
      </p:sp>
      <p:sp>
        <p:nvSpPr>
          <p:cNvPr id="15" name="">
            <a:extLst xmlns:a="http://schemas.openxmlformats.org/drawingml/2006/main">
              <a:ext uri="{FF2B5EF4-FFF2-40B4-BE49-F238E27FC236}">
                <a16:creationId xmlns:a16="http://schemas.microsoft.com/office/drawing/2014/main" id="{396F43E7-7A19-43AF-9540-481FA360A645}"/>
              </a:ext>
            </a:extLst>
          </p:cNvPr>
          <p:cNvSpPr>
            <a:spLocks xmlns:a="http://schemas.openxmlformats.org/drawingml/2006/main" noGrp="1"/>
          </p:cNvSpPr>
          <p:nvPr/>
        </p:nvSpPr>
        <p:spPr>
          <a:xfrm xmlns:a="http://schemas.openxmlformats.org/drawingml/2006/main">
            <a:off x="609600" y="421957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32E40"/>
                </a:solidFill>
                <a:latin typeface="Arial"/>
                <a:ea typeface="Arial"/>
                <a:cs typeface="Arial"/>
              </a:defRPr>
            </a:defPPr>
          </a:lstStyle>
          <a:p xmlns:a="http://schemas.openxmlformats.org/drawingml/2006/main">
            <a:pPr algn="l">
              <a:defRPr sz="2025" b="1">
                <a:solidFill>
                  <a:srgbClr val="132E40"/>
                </a:solidFill>
                <a:latin typeface="Arial"/>
                <a:ea typeface="Arial"/>
                <a:cs typeface="Arial"/>
              </a:defRPr>
            </a:pPr>
            <a:r>
              <a:rPr sz="2025" b="1">
                <a:solidFill>
                  <a:srgbClr val="132E40"/>
                </a:solidFill>
                <a:latin typeface="Arial"/>
                <a:ea typeface="Arial"/>
                <a:cs typeface="Arial"/>
              </a:rPr>
              <a:t>Training: fixed transitions only</a:t>
            </a:r>
          </a:p>
        </p:txBody>
      </p:sp>
      <p:sp>
        <p:nvSpPr>
          <p:cNvPr id="16" name="">
            <a:extLst xmlns:a="http://schemas.openxmlformats.org/drawingml/2006/main">
              <a:ext uri="{FF2B5EF4-FFF2-40B4-BE49-F238E27FC236}">
                <a16:creationId xmlns:a16="http://schemas.microsoft.com/office/drawing/2014/main" id="{6C3D2F84-7549-43D3-93EB-8C35ADC573B8}"/>
              </a:ext>
            </a:extLst>
          </p:cNvPr>
          <p:cNvSpPr>
            <a:spLocks xmlns:a="http://schemas.openxmlformats.org/drawingml/2006/main" noGrp="1"/>
          </p:cNvSpPr>
          <p:nvPr/>
        </p:nvSpPr>
        <p:spPr>
          <a:xfrm xmlns:a="http://schemas.openxmlformats.org/drawingml/2006/main">
            <a:off x="8067675" y="4705350"/>
            <a:ext cx="3429000" cy="1095375"/>
          </a:xfrm>
          <a:prstGeom xmlns:a="http://schemas.openxmlformats.org/drawingml/2006/main" prst="rect">
            <a:avLst/>
          </a:prstGeom>
          <a:solidFill xmlns:a="http://schemas.openxmlformats.org/drawingml/2006/main">
            <a:srgbClr val="FFF0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5358BF2-8033-408A-8B57-E2957AEC1FB7}"/>
              </a:ext>
            </a:extLst>
          </p:cNvPr>
          <p:cNvSpPr>
            <a:spLocks xmlns:a="http://schemas.openxmlformats.org/drawingml/2006/main" noGrp="1"/>
          </p:cNvSpPr>
          <p:nvPr/>
        </p:nvSpPr>
        <p:spPr>
          <a:xfrm xmlns:a="http://schemas.openxmlformats.org/drawingml/2006/main">
            <a:off x="8277225" y="48672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E47F29"/>
                </a:solidFill>
                <a:latin typeface="Arial"/>
                <a:ea typeface="Arial"/>
                <a:cs typeface="Arial"/>
              </a:defRPr>
            </a:defPPr>
          </a:lstStyle>
          <a:p xmlns:a="http://schemas.openxmlformats.org/drawingml/2006/main">
            <a:pPr algn="l">
              <a:defRPr sz="2100" b="1">
                <a:solidFill>
                  <a:srgbClr val="E47F29"/>
                </a:solidFill>
                <a:latin typeface="Arial"/>
                <a:ea typeface="Arial"/>
                <a:cs typeface="Arial"/>
              </a:defRPr>
            </a:pPr>
            <a:r>
              <a:rPr sz="2100" b="1">
                <a:solidFill>
                  <a:srgbClr val="E47F29"/>
                </a:solidFill>
                <a:latin typeface="Arial"/>
                <a:ea typeface="Arial"/>
                <a:cs typeface="Arial"/>
              </a:rPr>
              <a:t>Simulator evaluation</a:t>
            </a:r>
          </a:p>
        </p:txBody>
      </p:sp>
      <p:sp>
        <p:nvSpPr>
          <p:cNvPr id="18" name="">
            <a:extLst xmlns:a="http://schemas.openxmlformats.org/drawingml/2006/main">
              <a:ext uri="{FF2B5EF4-FFF2-40B4-BE49-F238E27FC236}">
                <a16:creationId xmlns:a16="http://schemas.microsoft.com/office/drawing/2014/main" id="{A8EE2999-ABE6-4540-85E1-E7123F8B7733}"/>
              </a:ext>
            </a:extLst>
          </p:cNvPr>
          <p:cNvSpPr>
            <a:spLocks xmlns:a="http://schemas.openxmlformats.org/drawingml/2006/main" noGrp="1"/>
          </p:cNvSpPr>
          <p:nvPr/>
        </p:nvSpPr>
        <p:spPr>
          <a:xfrm xmlns:a="http://schemas.openxmlformats.org/drawingml/2006/main">
            <a:off x="8277225" y="5295900"/>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Full policy rollouts</a:t>
            </a:r>
          </a:p>
        </p:txBody>
      </p:sp>
      <p:sp>
        <p:nvSpPr>
          <p:cNvPr id="19" name="">
            <a:extLst xmlns:a="http://schemas.openxmlformats.org/drawingml/2006/main">
              <a:ext uri="{FF2B5EF4-FFF2-40B4-BE49-F238E27FC236}">
                <a16:creationId xmlns:a16="http://schemas.microsoft.com/office/drawing/2014/main" id="{66B895EE-56C1-4ACB-966C-D0D10ADF52EA}"/>
              </a:ext>
            </a:extLst>
          </p:cNvPr>
          <p:cNvSpPr>
            <a:spLocks xmlns:a="http://schemas.openxmlformats.org/drawingml/2006/main" noGrp="1"/>
          </p:cNvSpPr>
          <p:nvPr/>
        </p:nvSpPr>
        <p:spPr>
          <a:xfrm xmlns:a="http://schemas.openxmlformats.org/drawingml/2006/main">
            <a:off x="9505950" y="4124325"/>
            <a:ext cx="285750" cy="419100"/>
          </a:xfrm>
          <a:prstGeom xmlns:a="http://schemas.openxmlformats.org/drawingml/2006/main" prst="downArrow">
            <a:avLst/>
          </a:prstGeom>
          <a:solidFill xmlns:a="http://schemas.openxmlformats.org/drawingml/2006/main">
            <a:srgbClr val="E47F2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A83C64D-243B-4DAE-8016-2E35DED88EEF}"/>
              </a:ext>
            </a:extLst>
          </p:cNvPr>
          <p:cNvSpPr>
            <a:spLocks xmlns:a="http://schemas.openxmlformats.org/drawingml/2006/main" noGrp="1"/>
          </p:cNvSpPr>
          <p:nvPr/>
        </p:nvSpPr>
        <p:spPr>
          <a:xfrm xmlns:a="http://schemas.openxmlformats.org/drawingml/2006/main">
            <a:off x="609600" y="5105400"/>
            <a:ext cx="6619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Better recorded actions receive more weight</a:t>
            </a:r>
          </a:p>
        </p:txBody>
      </p:sp>
      <p:sp>
        <p:nvSpPr>
          <p:cNvPr id="21" name="">
            <a:extLst xmlns:a="http://schemas.openxmlformats.org/drawingml/2006/main">
              <a:ext uri="{FF2B5EF4-FFF2-40B4-BE49-F238E27FC236}">
                <a16:creationId xmlns:a16="http://schemas.microsoft.com/office/drawing/2014/main" id="{E58B8FDE-4CCE-4178-9BF5-9FD303BE4F01}"/>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2 / 8</a:t>
            </a:r>
          </a:p>
        </p:txBody>
      </p:sp>
    </p:spTree>
    <p:extLst>
      <p:ext uri="{BB962C8B-B14F-4D97-AF65-F5344CB8AC3E}">
        <p14:creationId xmlns:p14="http://schemas.microsoft.com/office/powerpoint/2010/main" val="1434975183"/>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3F3F93-62E2-483A-9DBF-39F98D061A47}"/>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Three updates inside IQL</a:t>
            </a:r>
          </a:p>
        </p:txBody>
      </p:sp>
      <p:sp>
        <p:nvSpPr>
          <p:cNvPr id="2" name="">
            <a:extLst xmlns:a="http://schemas.openxmlformats.org/drawingml/2006/main">
              <a:ext uri="{FF2B5EF4-FFF2-40B4-BE49-F238E27FC236}">
                <a16:creationId xmlns:a16="http://schemas.microsoft.com/office/drawing/2014/main" id="{33EDCE12-8D4A-469E-ABB8-8A64519D7DE1}"/>
              </a:ext>
            </a:extLst>
          </p:cNvPr>
          <p:cNvSpPr>
            <a:spLocks xmlns:a="http://schemas.openxmlformats.org/drawingml/2006/main" noGrp="1"/>
          </p:cNvSpPr>
          <p:nvPr/>
        </p:nvSpPr>
        <p:spPr>
          <a:xfrm xmlns:a="http://schemas.openxmlformats.org/drawingml/2006/main">
            <a:off x="609600" y="165735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007F80"/>
                </a:solidFill>
                <a:latin typeface="Arial"/>
                <a:ea typeface="Arial"/>
                <a:cs typeface="Arial"/>
              </a:defRPr>
            </a:defPPr>
          </a:lstStyle>
          <a:p xmlns:a="http://schemas.openxmlformats.org/drawingml/2006/main">
            <a:pPr algn="l">
              <a:defRPr sz="4650" b="1">
                <a:solidFill>
                  <a:srgbClr val="007F80"/>
                </a:solidFill>
                <a:latin typeface="Arial"/>
                <a:ea typeface="Arial"/>
                <a:cs typeface="Arial"/>
              </a:defRPr>
            </a:pPr>
            <a:r>
              <a:rPr sz="4650" b="1">
                <a:solidFill>
                  <a:srgbClr val="007F8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5D09370-7B26-48DE-885F-6294DBC78F65}"/>
              </a:ext>
            </a:extLst>
          </p:cNvPr>
          <p:cNvSpPr>
            <a:spLocks xmlns:a="http://schemas.openxmlformats.org/drawingml/2006/main" noGrp="1"/>
          </p:cNvSpPr>
          <p:nvPr/>
        </p:nvSpPr>
        <p:spPr>
          <a:xfrm xmlns:a="http://schemas.openxmlformats.org/drawingml/2006/main">
            <a:off x="609600" y="3152775"/>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007F80"/>
                </a:solidFill>
                <a:latin typeface="Arial"/>
                <a:ea typeface="Arial"/>
                <a:cs typeface="Arial"/>
              </a:defRPr>
            </a:defPPr>
          </a:lstStyle>
          <a:p xmlns:a="http://schemas.openxmlformats.org/drawingml/2006/main">
            <a:pPr algn="l">
              <a:defRPr sz="4650" b="1">
                <a:solidFill>
                  <a:srgbClr val="007F80"/>
                </a:solidFill>
                <a:latin typeface="Arial"/>
                <a:ea typeface="Arial"/>
                <a:cs typeface="Arial"/>
              </a:defRPr>
            </a:pPr>
            <a:r>
              <a:rPr sz="4650" b="1">
                <a:solidFill>
                  <a:srgbClr val="007F8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5440872-846A-4E69-A08F-81F8F9697821}"/>
              </a:ext>
            </a:extLst>
          </p:cNvPr>
          <p:cNvSpPr>
            <a:spLocks xmlns:a="http://schemas.openxmlformats.org/drawingml/2006/main" noGrp="1"/>
          </p:cNvSpPr>
          <p:nvPr/>
        </p:nvSpPr>
        <p:spPr>
          <a:xfrm xmlns:a="http://schemas.openxmlformats.org/drawingml/2006/main">
            <a:off x="609600" y="46482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E47F29"/>
                </a:solidFill>
                <a:latin typeface="Arial"/>
                <a:ea typeface="Arial"/>
                <a:cs typeface="Arial"/>
              </a:defRPr>
            </a:defPPr>
          </a:lstStyle>
          <a:p xmlns:a="http://schemas.openxmlformats.org/drawingml/2006/main">
            <a:pPr algn="l">
              <a:defRPr sz="4650" b="1">
                <a:solidFill>
                  <a:srgbClr val="E47F29"/>
                </a:solidFill>
                <a:latin typeface="Arial"/>
                <a:ea typeface="Arial"/>
                <a:cs typeface="Arial"/>
              </a:defRPr>
            </a:pPr>
            <a:r>
              <a:rPr sz="4650" b="1">
                <a:solidFill>
                  <a:srgbClr val="E47F2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DAD10A6-12D7-4414-A206-EF77DA8A6DEE}"/>
              </a:ext>
            </a:extLst>
          </p:cNvPr>
          <p:cNvSpPr>
            <a:spLocks xmlns:a="http://schemas.openxmlformats.org/drawingml/2006/main" noGrp="1"/>
          </p:cNvSpPr>
          <p:nvPr/>
        </p:nvSpPr>
        <p:spPr>
          <a:xfrm xmlns:a="http://schemas.openxmlformats.org/drawingml/2006/main">
            <a:off x="1885950" y="165735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Value V</a:t>
            </a:r>
          </a:p>
        </p:txBody>
      </p:sp>
      <p:sp>
        <p:nvSpPr>
          <p:cNvPr id="6" name="">
            <a:extLst xmlns:a="http://schemas.openxmlformats.org/drawingml/2006/main">
              <a:ext uri="{FF2B5EF4-FFF2-40B4-BE49-F238E27FC236}">
                <a16:creationId xmlns:a16="http://schemas.microsoft.com/office/drawing/2014/main" id="{D8C87138-FA97-4E80-B8A3-564FBFC82927}"/>
              </a:ext>
            </a:extLst>
          </p:cNvPr>
          <p:cNvSpPr>
            <a:spLocks xmlns:a="http://schemas.openxmlformats.org/drawingml/2006/main" noGrp="1"/>
          </p:cNvSpPr>
          <p:nvPr/>
        </p:nvSpPr>
        <p:spPr>
          <a:xfrm xmlns:a="http://schemas.openxmlformats.org/drawingml/2006/main">
            <a:off x="1885950" y="21145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E40"/>
                </a:solidFill>
                <a:latin typeface="Arial"/>
                <a:ea typeface="Arial"/>
                <a:cs typeface="Arial"/>
              </a:defRPr>
            </a:defPPr>
          </a:lstStyle>
          <a:p xmlns:a="http://schemas.openxmlformats.org/drawingml/2006/main">
            <a:pPr algn="l">
              <a:defRPr sz="2025" b="0">
                <a:solidFill>
                  <a:srgbClr val="132E40"/>
                </a:solidFill>
                <a:latin typeface="Arial"/>
                <a:ea typeface="Arial"/>
                <a:cs typeface="Arial"/>
              </a:defRPr>
            </a:pPr>
            <a:r>
              <a:rPr sz="2025" b="0">
                <a:solidFill>
                  <a:srgbClr val="132E40"/>
                </a:solidFill>
                <a:latin typeface="Arial"/>
                <a:ea typeface="Arial"/>
                <a:cs typeface="Arial"/>
              </a:rPr>
              <a:t>Upper expectile</a:t>
            </a:r>
          </a:p>
        </p:txBody>
      </p:sp>
      <p:sp>
        <p:nvSpPr>
          <p:cNvPr id="7" name="">
            <a:extLst xmlns:a="http://schemas.openxmlformats.org/drawingml/2006/main">
              <a:ext uri="{FF2B5EF4-FFF2-40B4-BE49-F238E27FC236}">
                <a16:creationId xmlns:a16="http://schemas.microsoft.com/office/drawing/2014/main" id="{20F62373-82D2-4A87-AE1A-1D6887E97C15}"/>
              </a:ext>
            </a:extLst>
          </p:cNvPr>
          <p:cNvSpPr>
            <a:spLocks xmlns:a="http://schemas.openxmlformats.org/drawingml/2006/main" noGrp="1"/>
          </p:cNvSpPr>
          <p:nvPr/>
        </p:nvSpPr>
        <p:spPr>
          <a:xfrm xmlns:a="http://schemas.openxmlformats.org/drawingml/2006/main">
            <a:off x="8715375" y="1590675"/>
            <a:ext cx="219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875" b="1">
                <a:solidFill>
                  <a:srgbClr val="007F80"/>
                </a:solidFill>
                <a:latin typeface="Arial"/>
                <a:ea typeface="Arial"/>
                <a:cs typeface="Arial"/>
              </a:defRPr>
            </a:defPPr>
          </a:lstStyle>
          <a:p xmlns:a="http://schemas.openxmlformats.org/drawingml/2006/main">
            <a:pPr algn="l">
              <a:defRPr sz="4875" b="1">
                <a:solidFill>
                  <a:srgbClr val="007F80"/>
                </a:solidFill>
                <a:latin typeface="Arial"/>
                <a:ea typeface="Arial"/>
                <a:cs typeface="Arial"/>
              </a:defRPr>
            </a:pPr>
            <a:r>
              <a:rPr sz="4875" b="1">
                <a:solidFill>
                  <a:srgbClr val="007F80"/>
                </a:solidFill>
                <a:latin typeface="Arial"/>
                <a:ea typeface="Arial"/>
                <a:cs typeface="Arial"/>
              </a:rPr>
              <a:t>0.7</a:t>
            </a:r>
          </a:p>
        </p:txBody>
      </p:sp>
      <p:sp>
        <p:nvSpPr>
          <p:cNvPr id="8" name="">
            <a:extLst xmlns:a="http://schemas.openxmlformats.org/drawingml/2006/main">
              <a:ext uri="{FF2B5EF4-FFF2-40B4-BE49-F238E27FC236}">
                <a16:creationId xmlns:a16="http://schemas.microsoft.com/office/drawing/2014/main" id="{E126C22C-4477-455A-9172-50A63E0C0C2C}"/>
              </a:ext>
            </a:extLst>
          </p:cNvPr>
          <p:cNvSpPr>
            <a:spLocks xmlns:a="http://schemas.openxmlformats.org/drawingml/2006/main" noGrp="1"/>
          </p:cNvSpPr>
          <p:nvPr/>
        </p:nvSpPr>
        <p:spPr>
          <a:xfrm xmlns:a="http://schemas.openxmlformats.org/drawingml/2006/main">
            <a:off x="5524500" y="192405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32E40"/>
                </a:solidFill>
                <a:latin typeface="Arial"/>
                <a:ea typeface="Arial"/>
                <a:cs typeface="Arial"/>
              </a:defRPr>
            </a:defPPr>
          </a:lstStyle>
          <a:p xmlns:a="http://schemas.openxmlformats.org/drawingml/2006/main">
            <a:pPr algn="l">
              <a:defRPr sz="2100" b="0">
                <a:solidFill>
                  <a:srgbClr val="132E40"/>
                </a:solidFill>
                <a:latin typeface="Arial"/>
                <a:ea typeface="Arial"/>
                <a:cs typeface="Arial"/>
              </a:defRPr>
            </a:pPr>
            <a:r>
              <a:rPr sz="2100" b="0">
                <a:solidFill>
                  <a:srgbClr val="132E40"/>
                </a:solidFill>
                <a:latin typeface="Arial"/>
                <a:ea typeface="Arial"/>
                <a:cs typeface="Arial"/>
              </a:rPr>
              <a:t>Favors stronger actions</a:t>
            </a:r>
          </a:p>
        </p:txBody>
      </p:sp>
      <p:sp>
        <p:nvSpPr>
          <p:cNvPr id="9" name="">
            <a:extLst xmlns:a="http://schemas.openxmlformats.org/drawingml/2006/main">
              <a:ext uri="{FF2B5EF4-FFF2-40B4-BE49-F238E27FC236}">
                <a16:creationId xmlns:a16="http://schemas.microsoft.com/office/drawing/2014/main" id="{216C37C2-E315-4AB7-A1C5-8C0B99C81438}"/>
              </a:ext>
            </a:extLst>
          </p:cNvPr>
          <p:cNvSpPr>
            <a:spLocks xmlns:a="http://schemas.openxmlformats.org/drawingml/2006/main" noGrp="1"/>
          </p:cNvSpPr>
          <p:nvPr/>
        </p:nvSpPr>
        <p:spPr>
          <a:xfrm xmlns:a="http://schemas.openxmlformats.org/drawingml/2006/main">
            <a:off x="1885950" y="31527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Twin critics</a:t>
            </a:r>
          </a:p>
        </p:txBody>
      </p:sp>
      <p:sp>
        <p:nvSpPr>
          <p:cNvPr id="10" name="">
            <a:extLst xmlns:a="http://schemas.openxmlformats.org/drawingml/2006/main">
              <a:ext uri="{FF2B5EF4-FFF2-40B4-BE49-F238E27FC236}">
                <a16:creationId xmlns:a16="http://schemas.microsoft.com/office/drawing/2014/main" id="{CF091498-EBCC-4755-981F-A5034FBBBAC3}"/>
              </a:ext>
            </a:extLst>
          </p:cNvPr>
          <p:cNvSpPr>
            <a:spLocks xmlns:a="http://schemas.openxmlformats.org/drawingml/2006/main" noGrp="1"/>
          </p:cNvSpPr>
          <p:nvPr/>
        </p:nvSpPr>
        <p:spPr>
          <a:xfrm xmlns:a="http://schemas.openxmlformats.org/drawingml/2006/main">
            <a:off x="1885950" y="36290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E40"/>
                </a:solidFill>
                <a:latin typeface="Arial"/>
                <a:ea typeface="Arial"/>
                <a:cs typeface="Arial"/>
              </a:defRPr>
            </a:defPPr>
          </a:lstStyle>
          <a:p xmlns:a="http://schemas.openxmlformats.org/drawingml/2006/main">
            <a:pPr algn="l">
              <a:defRPr sz="2025" b="0">
                <a:solidFill>
                  <a:srgbClr val="132E40"/>
                </a:solidFill>
                <a:latin typeface="Arial"/>
                <a:ea typeface="Arial"/>
                <a:cs typeface="Arial"/>
              </a:defRPr>
            </a:pPr>
            <a:r>
              <a:rPr sz="2025" b="0">
                <a:solidFill>
                  <a:srgbClr val="132E40"/>
                </a:solidFill>
                <a:latin typeface="Arial"/>
                <a:ea typeface="Arial"/>
                <a:cs typeface="Arial"/>
              </a:rPr>
              <a:t>Q1 and Q2</a:t>
            </a:r>
          </a:p>
        </p:txBody>
      </p:sp>
      <p:sp>
        <p:nvSpPr>
          <p:cNvPr id="11" name="">
            <a:extLst xmlns:a="http://schemas.openxmlformats.org/drawingml/2006/main">
              <a:ext uri="{FF2B5EF4-FFF2-40B4-BE49-F238E27FC236}">
                <a16:creationId xmlns:a16="http://schemas.microsoft.com/office/drawing/2014/main" id="{A0170538-2A68-40D3-AD3E-339406B22240}"/>
              </a:ext>
            </a:extLst>
          </p:cNvPr>
          <p:cNvSpPr>
            <a:spLocks xmlns:a="http://schemas.openxmlformats.org/drawingml/2006/main" noGrp="1"/>
          </p:cNvSpPr>
          <p:nvPr/>
        </p:nvSpPr>
        <p:spPr>
          <a:xfrm xmlns:a="http://schemas.openxmlformats.org/drawingml/2006/main">
            <a:off x="5524500" y="3209925"/>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75" b="1">
                <a:solidFill>
                  <a:srgbClr val="132E40"/>
                </a:solidFill>
                <a:latin typeface="Arial"/>
                <a:ea typeface="Arial"/>
                <a:cs typeface="Arial"/>
              </a:defRPr>
            </a:defPPr>
          </a:lstStyle>
          <a:p xmlns:a="http://schemas.openxmlformats.org/drawingml/2006/main">
            <a:pPr algn="l">
              <a:defRPr sz="2475" b="1">
                <a:solidFill>
                  <a:srgbClr val="132E40"/>
                </a:solidFill>
                <a:latin typeface="Arial"/>
                <a:ea typeface="Arial"/>
                <a:cs typeface="Arial"/>
              </a:defRPr>
            </a:pPr>
            <a:r>
              <a:rPr sz="2475" b="1">
                <a:solidFill>
                  <a:srgbClr val="132E40"/>
                </a:solidFill>
                <a:latin typeface="Arial"/>
                <a:ea typeface="Arial"/>
                <a:cs typeface="Arial"/>
              </a:rPr>
              <a:t>reward + 0.99 × V(next state)</a:t>
            </a:r>
          </a:p>
        </p:txBody>
      </p:sp>
      <p:sp>
        <p:nvSpPr>
          <p:cNvPr id="12" name="">
            <a:extLst xmlns:a="http://schemas.openxmlformats.org/drawingml/2006/main">
              <a:ext uri="{FF2B5EF4-FFF2-40B4-BE49-F238E27FC236}">
                <a16:creationId xmlns:a16="http://schemas.microsoft.com/office/drawing/2014/main" id="{C79413F8-34DA-4B75-B587-99DD6C08D3CE}"/>
              </a:ext>
            </a:extLst>
          </p:cNvPr>
          <p:cNvSpPr>
            <a:spLocks xmlns:a="http://schemas.openxmlformats.org/drawingml/2006/main" noGrp="1"/>
          </p:cNvSpPr>
          <p:nvPr/>
        </p:nvSpPr>
        <p:spPr>
          <a:xfrm xmlns:a="http://schemas.openxmlformats.org/drawingml/2006/main">
            <a:off x="5524500" y="3771900"/>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Bootstrap unless truly terminated</a:t>
            </a:r>
          </a:p>
        </p:txBody>
      </p:sp>
      <p:sp>
        <p:nvSpPr>
          <p:cNvPr id="13" name="">
            <a:extLst xmlns:a="http://schemas.openxmlformats.org/drawingml/2006/main">
              <a:ext uri="{FF2B5EF4-FFF2-40B4-BE49-F238E27FC236}">
                <a16:creationId xmlns:a16="http://schemas.microsoft.com/office/drawing/2014/main" id="{DC5945CE-3662-4548-8341-0C4A065E8567}"/>
              </a:ext>
            </a:extLst>
          </p:cNvPr>
          <p:cNvSpPr>
            <a:spLocks xmlns:a="http://schemas.openxmlformats.org/drawingml/2006/main" noGrp="1"/>
          </p:cNvSpPr>
          <p:nvPr/>
        </p:nvSpPr>
        <p:spPr>
          <a:xfrm xmlns:a="http://schemas.openxmlformats.org/drawingml/2006/main">
            <a:off x="1885950" y="46482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Actor</a:t>
            </a:r>
          </a:p>
        </p:txBody>
      </p:sp>
      <p:sp>
        <p:nvSpPr>
          <p:cNvPr id="14" name="">
            <a:extLst xmlns:a="http://schemas.openxmlformats.org/drawingml/2006/main">
              <a:ext uri="{FF2B5EF4-FFF2-40B4-BE49-F238E27FC236}">
                <a16:creationId xmlns:a16="http://schemas.microsoft.com/office/drawing/2014/main" id="{22FBEF7E-0D62-4DB1-B47B-A4B3E62432D6}"/>
              </a:ext>
            </a:extLst>
          </p:cNvPr>
          <p:cNvSpPr>
            <a:spLocks xmlns:a="http://schemas.openxmlformats.org/drawingml/2006/main" noGrp="1"/>
          </p:cNvSpPr>
          <p:nvPr/>
        </p:nvSpPr>
        <p:spPr>
          <a:xfrm xmlns:a="http://schemas.openxmlformats.org/drawingml/2006/main">
            <a:off x="1885950" y="51149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E40"/>
                </a:solidFill>
                <a:latin typeface="Arial"/>
                <a:ea typeface="Arial"/>
                <a:cs typeface="Arial"/>
              </a:defRPr>
            </a:defPPr>
          </a:lstStyle>
          <a:p xmlns:a="http://schemas.openxmlformats.org/drawingml/2006/main">
            <a:pPr algn="l">
              <a:defRPr sz="2025" b="0">
                <a:solidFill>
                  <a:srgbClr val="132E40"/>
                </a:solidFill>
                <a:latin typeface="Arial"/>
                <a:ea typeface="Arial"/>
                <a:cs typeface="Arial"/>
              </a:defRPr>
            </a:pPr>
            <a:r>
              <a:rPr sz="2025" b="0">
                <a:solidFill>
                  <a:srgbClr val="132E40"/>
                </a:solidFill>
                <a:latin typeface="Arial"/>
                <a:ea typeface="Arial"/>
                <a:cs typeface="Arial"/>
              </a:rPr>
              <a:t>Weighted imitation</a:t>
            </a:r>
          </a:p>
        </p:txBody>
      </p:sp>
      <p:sp>
        <p:nvSpPr>
          <p:cNvPr id="15" name="">
            <a:extLst xmlns:a="http://schemas.openxmlformats.org/drawingml/2006/main">
              <a:ext uri="{FF2B5EF4-FFF2-40B4-BE49-F238E27FC236}">
                <a16:creationId xmlns:a16="http://schemas.microsoft.com/office/drawing/2014/main" id="{994B9806-0C8A-463A-99FE-6EA547E388E2}"/>
              </a:ext>
            </a:extLst>
          </p:cNvPr>
          <p:cNvSpPr>
            <a:spLocks xmlns:a="http://schemas.openxmlformats.org/drawingml/2006/main" noGrp="1"/>
          </p:cNvSpPr>
          <p:nvPr/>
        </p:nvSpPr>
        <p:spPr>
          <a:xfrm xmlns:a="http://schemas.openxmlformats.org/drawingml/2006/main">
            <a:off x="5524500" y="4705350"/>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75" b="1">
                <a:solidFill>
                  <a:srgbClr val="E47F29"/>
                </a:solidFill>
                <a:latin typeface="Arial"/>
                <a:ea typeface="Arial"/>
                <a:cs typeface="Arial"/>
              </a:defRPr>
            </a:defPPr>
          </a:lstStyle>
          <a:p xmlns:a="http://schemas.openxmlformats.org/drawingml/2006/main">
            <a:pPr algn="l">
              <a:defRPr sz="2475" b="1">
                <a:solidFill>
                  <a:srgbClr val="E47F29"/>
                </a:solidFill>
                <a:latin typeface="Arial"/>
                <a:ea typeface="Arial"/>
                <a:cs typeface="Arial"/>
              </a:defRPr>
            </a:pPr>
            <a:r>
              <a:rPr sz="2475" b="1">
                <a:solidFill>
                  <a:srgbClr val="E47F29"/>
                </a:solidFill>
                <a:latin typeface="Arial"/>
                <a:ea typeface="Arial"/>
                <a:cs typeface="Arial"/>
              </a:rPr>
              <a:t>min(exp(3 × advantage), 100)</a:t>
            </a:r>
          </a:p>
        </p:txBody>
      </p:sp>
      <p:sp>
        <p:nvSpPr>
          <p:cNvPr id="16" name="">
            <a:extLst xmlns:a="http://schemas.openxmlformats.org/drawingml/2006/main">
              <a:ext uri="{FF2B5EF4-FFF2-40B4-BE49-F238E27FC236}">
                <a16:creationId xmlns:a16="http://schemas.microsoft.com/office/drawing/2014/main" id="{A608E52E-60E5-443F-827D-2E570042DD52}"/>
              </a:ext>
            </a:extLst>
          </p:cNvPr>
          <p:cNvSpPr>
            <a:spLocks xmlns:a="http://schemas.openxmlformats.org/drawingml/2006/main" noGrp="1"/>
          </p:cNvSpPr>
          <p:nvPr/>
        </p:nvSpPr>
        <p:spPr>
          <a:xfrm xmlns:a="http://schemas.openxmlformats.org/drawingml/2006/main">
            <a:off x="5524500" y="5276850"/>
            <a:ext cx="6048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Advantage = min(target Q1, Q2) - V</a:t>
            </a:r>
          </a:p>
        </p:txBody>
      </p:sp>
      <p:sp>
        <p:nvSpPr>
          <p:cNvPr id="17" name="">
            <a:extLst xmlns:a="http://schemas.openxmlformats.org/drawingml/2006/main">
              <a:ext uri="{FF2B5EF4-FFF2-40B4-BE49-F238E27FC236}">
                <a16:creationId xmlns:a16="http://schemas.microsoft.com/office/drawing/2014/main" id="{54D98D43-B6BA-4432-9821-5ED79EE3363D}"/>
              </a:ext>
            </a:extLst>
          </p:cNvPr>
          <p:cNvSpPr>
            <a:spLocks xmlns:a="http://schemas.openxmlformats.org/drawingml/2006/main" noGrp="1"/>
          </p:cNvSpPr>
          <p:nvPr/>
        </p:nvSpPr>
        <p:spPr>
          <a:xfrm xmlns:a="http://schemas.openxmlformats.org/drawingml/2006/main">
            <a:off x="1885950" y="5953125"/>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132E40"/>
                </a:solidFill>
                <a:latin typeface="Arial"/>
                <a:ea typeface="Arial"/>
                <a:cs typeface="Arial"/>
              </a:defRPr>
            </a:defPPr>
          </a:lstStyle>
          <a:p xmlns:a="http://schemas.openxmlformats.org/drawingml/2006/main">
            <a:pPr algn="l">
              <a:defRPr sz="1800" b="0">
                <a:solidFill>
                  <a:srgbClr val="132E40"/>
                </a:solidFill>
                <a:latin typeface="Arial"/>
                <a:ea typeface="Arial"/>
                <a:cs typeface="Arial"/>
              </a:defRPr>
            </a:pPr>
            <a:r>
              <a:rPr sz="1800" b="0">
                <a:solidFill>
                  <a:srgbClr val="132E40"/>
                </a:solidFill>
                <a:latin typeface="Arial"/>
                <a:ea typeface="Arial"/>
                <a:cs typeface="Arial"/>
              </a:rPr>
              <a:t>Policy output: tanh-squashed Gaussian</a:t>
            </a:r>
          </a:p>
        </p:txBody>
      </p:sp>
      <p:sp>
        <p:nvSpPr>
          <p:cNvPr id="18" name="">
            <a:extLst xmlns:a="http://schemas.openxmlformats.org/drawingml/2006/main">
              <a:ext uri="{FF2B5EF4-FFF2-40B4-BE49-F238E27FC236}">
                <a16:creationId xmlns:a16="http://schemas.microsoft.com/office/drawing/2014/main" id="{F8D2EC09-F873-47AD-B387-2CFF7148C957}"/>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3 / 8</a:t>
            </a:r>
          </a:p>
        </p:txBody>
      </p:sp>
    </p:spTree>
    <p:extLst>
      <p:ext uri="{BB962C8B-B14F-4D97-AF65-F5344CB8AC3E}">
        <p14:creationId xmlns:p14="http://schemas.microsoft.com/office/powerpoint/2010/main" val="69362325"/>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6562C8-0274-440D-96F8-47FAA1C96E23}"/>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17 observations, 6 joint controls</a:t>
            </a:r>
          </a:p>
        </p:txBody>
      </p:sp>
      <p:graphicFrame>
        <p:nvGraphicFramePr>
          <p:cNvPr id="2" name="Chart">
            <a:extLst xmlns:a="http://schemas.openxmlformats.org/drawingml/2006/main">
              <a:ext uri="{FF2B5EF4-FFF2-40B4-BE49-F238E27FC236}">
                <a16:creationId xmlns:a16="http://schemas.microsoft.com/office/drawing/2014/main" id="{77BB56B9-EC75-4D60-85ED-CB560BD30422}"/>
              </a:ext>
            </a:extLst>
          </p:cNvPr>
          <p:cNvGraphicFramePr/>
          <p:nvPr/>
        </p:nvGraphicFramePr>
        <p:xfrm>
          <a:off xmlns:a="http://schemas.openxmlformats.org/drawingml/2006/main" x="400050" y="1590675"/>
          <a:ext xmlns:a="http://schemas.openxmlformats.org/drawingml/2006/main" cx="4457700" cy="3714750"/>
        </p:xfrm>
        <a:graphic xmlns:a="http://schemas.openxmlformats.org/drawingml/2006/main">
          <a:graphicData uri="http://schemas.openxmlformats.org/drawingml/2006/chart">
            <c:chart xmlns:r="http://schemas.openxmlformats.org/officeDocument/2006/relationships" xmlns:c="http://schemas.openxmlformats.org/drawingml/2006/chart" r:id="R187c6285c9594a31"/>
          </a:graphicData>
        </a:graphic>
      </p:graphicFrame>
      <p:sp>
        <p:nvSpPr>
          <p:cNvPr id="3" name="">
            <a:extLst xmlns:a="http://schemas.openxmlformats.org/drawingml/2006/main">
              <a:ext uri="{FF2B5EF4-FFF2-40B4-BE49-F238E27FC236}">
                <a16:creationId xmlns:a16="http://schemas.microsoft.com/office/drawing/2014/main" id="{5D177010-97A7-42A2-A63C-3724EF455522}"/>
              </a:ext>
            </a:extLst>
          </p:cNvPr>
          <p:cNvSpPr>
            <a:spLocks xmlns:a="http://schemas.openxmlformats.org/drawingml/2006/main" noGrp="1"/>
          </p:cNvSpPr>
          <p:nvPr/>
        </p:nvSpPr>
        <p:spPr>
          <a:xfrm xmlns:a="http://schemas.openxmlformats.org/drawingml/2006/main">
            <a:off x="1924050" y="2876550"/>
            <a:ext cx="152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5250" b="1">
                <a:solidFill>
                  <a:srgbClr val="132E40"/>
                </a:solidFill>
                <a:latin typeface="Arial"/>
                <a:ea typeface="Arial"/>
                <a:cs typeface="Arial"/>
              </a:defRPr>
            </a:defPPr>
          </a:lstStyle>
          <a:p xmlns:a="http://schemas.openxmlformats.org/drawingml/2006/main">
            <a:pPr algn="ctr">
              <a:defRPr sz="5250" b="1">
                <a:solidFill>
                  <a:srgbClr val="132E40"/>
                </a:solidFill>
                <a:latin typeface="Arial"/>
                <a:ea typeface="Arial"/>
                <a:cs typeface="Arial"/>
              </a:defRPr>
            </a:pPr>
            <a:r>
              <a:rPr sz="5250" b="1">
                <a:solidFill>
                  <a:srgbClr val="132E40"/>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6F1C7597-533D-4059-A66F-9DAC117C8B59}"/>
              </a:ext>
            </a:extLst>
          </p:cNvPr>
          <p:cNvSpPr>
            <a:spLocks xmlns:a="http://schemas.openxmlformats.org/drawingml/2006/main" noGrp="1"/>
          </p:cNvSpPr>
          <p:nvPr/>
        </p:nvSpPr>
        <p:spPr>
          <a:xfrm xmlns:a="http://schemas.openxmlformats.org/drawingml/2006/main">
            <a:off x="876300" y="5400675"/>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E40"/>
                </a:solidFill>
                <a:latin typeface="Arial"/>
                <a:ea typeface="Arial"/>
                <a:cs typeface="Arial"/>
              </a:defRPr>
            </a:defPPr>
          </a:lstStyle>
          <a:p xmlns:a="http://schemas.openxmlformats.org/drawingml/2006/main">
            <a:pPr algn="l">
              <a:defRPr sz="2025" b="0">
                <a:solidFill>
                  <a:srgbClr val="132E40"/>
                </a:solidFill>
                <a:latin typeface="Arial"/>
                <a:ea typeface="Arial"/>
                <a:cs typeface="Arial"/>
              </a:defRPr>
            </a:pPr>
            <a:r>
              <a:rPr sz="2025" b="0">
                <a:solidFill>
                  <a:srgbClr val="132E40"/>
                </a:solidFill>
                <a:latin typeface="Arial"/>
                <a:ea typeface="Arial"/>
                <a:cs typeface="Arial"/>
              </a:rPr>
              <a:t>Absolute x excluded</a:t>
            </a:r>
          </a:p>
        </p:txBody>
      </p:sp>
      <p:pic>
        <p:nvPicPr>
          <p:cNvPr id="5" name="">
            <a:extLst xmlns:a="http://schemas.openxmlformats.org/drawingml/2006/main">
              <a:ext uri="{FF2B5EF4-FFF2-40B4-BE49-F238E27FC236}">
                <a16:creationId xmlns:a16="http://schemas.microsoft.com/office/drawing/2014/main" id="{EB135245-06E1-4A6E-BD84-E46332B624CA}"/>
              </a:ext>
            </a:extLst>
          </p:cNvPr>
          <p:cNvPicPr>
            <a:picLocks xmlns:a="http://schemas.openxmlformats.org/drawingml/2006/main" noChangeAspect="1"/>
          </p:cNvPicPr>
          <p:nvPr/>
        </p:nvPicPr>
        <p:blipFill>
          <a:blip xmlns:r="http://schemas.openxmlformats.org/officeDocument/2006/relationships" xmlns:a="http://schemas.openxmlformats.org/drawingml/2006/main" r:embed="R2b1eb65dfef74473"/>
          <a:stretch xmlns:a="http://schemas.openxmlformats.org/drawingml/2006/main"/>
        </p:blipFill>
        <p:spPr>
          <a:xfrm xmlns:a="http://schemas.openxmlformats.org/drawingml/2006/main">
            <a:off x="5362575" y="1619250"/>
            <a:ext cx="4114800" cy="4114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49F617-21FD-4E7F-889E-3B93F30284D1}"/>
              </a:ext>
            </a:extLst>
          </p:cNvPr>
          <p:cNvSpPr>
            <a:spLocks xmlns:a="http://schemas.openxmlformats.org/drawingml/2006/main" noGrp="1"/>
          </p:cNvSpPr>
          <p:nvPr/>
        </p:nvSpPr>
        <p:spPr>
          <a:xfrm xmlns:a="http://schemas.openxmlformats.org/drawingml/2006/main">
            <a:off x="9782175" y="1981200"/>
            <a:ext cx="1809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439BDAB9-3BDE-45D8-85A0-D018AE3893FD}"/>
              </a:ext>
            </a:extLst>
          </p:cNvPr>
          <p:cNvSpPr>
            <a:spLocks xmlns:a="http://schemas.openxmlformats.org/drawingml/2006/main" noGrp="1"/>
          </p:cNvSpPr>
          <p:nvPr/>
        </p:nvSpPr>
        <p:spPr>
          <a:xfrm xmlns:a="http://schemas.openxmlformats.org/drawingml/2006/main">
            <a:off x="9782175" y="28384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joint torques</a:t>
            </a:r>
          </a:p>
        </p:txBody>
      </p:sp>
      <p:sp>
        <p:nvSpPr>
          <p:cNvPr id="8" name="">
            <a:extLst xmlns:a="http://schemas.openxmlformats.org/drawingml/2006/main">
              <a:ext uri="{FF2B5EF4-FFF2-40B4-BE49-F238E27FC236}">
                <a16:creationId xmlns:a16="http://schemas.microsoft.com/office/drawing/2014/main" id="{E419BBFE-D68A-4997-8174-0D7A5A32A3C8}"/>
              </a:ext>
            </a:extLst>
          </p:cNvPr>
          <p:cNvSpPr>
            <a:spLocks xmlns:a="http://schemas.openxmlformats.org/drawingml/2006/main" noGrp="1"/>
          </p:cNvSpPr>
          <p:nvPr/>
        </p:nvSpPr>
        <p:spPr>
          <a:xfrm xmlns:a="http://schemas.openxmlformats.org/drawingml/2006/main">
            <a:off x="9782175" y="3876675"/>
            <a:ext cx="185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E47F29"/>
                </a:solidFill>
                <a:latin typeface="Arial"/>
                <a:ea typeface="Arial"/>
                <a:cs typeface="Arial"/>
              </a:defRPr>
            </a:defPPr>
          </a:lstStyle>
          <a:p xmlns:a="http://schemas.openxmlformats.org/drawingml/2006/main">
            <a:pPr algn="l">
              <a:defRPr sz="3300" b="1">
                <a:solidFill>
                  <a:srgbClr val="E47F29"/>
                </a:solidFill>
                <a:latin typeface="Arial"/>
                <a:ea typeface="Arial"/>
                <a:cs typeface="Arial"/>
              </a:defRPr>
            </a:pPr>
            <a:r>
              <a:rPr sz="3300" b="1">
                <a:solidFill>
                  <a:srgbClr val="E47F29"/>
                </a:solidFill>
                <a:latin typeface="Arial"/>
                <a:ea typeface="Arial"/>
                <a:cs typeface="Arial"/>
              </a:rPr>
              <a:t>[-1, 1]</a:t>
            </a:r>
          </a:p>
        </p:txBody>
      </p:sp>
      <p:sp>
        <p:nvSpPr>
          <p:cNvPr id="9" name="">
            <a:extLst xmlns:a="http://schemas.openxmlformats.org/drawingml/2006/main">
              <a:ext uri="{FF2B5EF4-FFF2-40B4-BE49-F238E27FC236}">
                <a16:creationId xmlns:a16="http://schemas.microsoft.com/office/drawing/2014/main" id="{34E304A1-CD20-4900-95A3-77CFBCB00B83}"/>
              </a:ext>
            </a:extLst>
          </p:cNvPr>
          <p:cNvSpPr>
            <a:spLocks xmlns:a="http://schemas.openxmlformats.org/drawingml/2006/main" noGrp="1"/>
          </p:cNvSpPr>
          <p:nvPr/>
        </p:nvSpPr>
        <p:spPr>
          <a:xfrm xmlns:a="http://schemas.openxmlformats.org/drawingml/2006/main">
            <a:off x="9782175" y="4524375"/>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per joint</a:t>
            </a:r>
          </a:p>
        </p:txBody>
      </p:sp>
      <p:sp>
        <p:nvSpPr>
          <p:cNvPr id="10" name="">
            <a:extLst xmlns:a="http://schemas.openxmlformats.org/drawingml/2006/main">
              <a:ext uri="{FF2B5EF4-FFF2-40B4-BE49-F238E27FC236}">
                <a16:creationId xmlns:a16="http://schemas.microsoft.com/office/drawing/2014/main" id="{4F7EC2DF-4D6C-40F6-AC7D-6EBB67375068}"/>
              </a:ext>
            </a:extLst>
          </p:cNvPr>
          <p:cNvSpPr>
            <a:spLocks xmlns:a="http://schemas.openxmlformats.org/drawingml/2006/main" noGrp="1"/>
          </p:cNvSpPr>
          <p:nvPr/>
        </p:nvSpPr>
        <p:spPr>
          <a:xfrm xmlns:a="http://schemas.openxmlformats.org/drawingml/2006/main">
            <a:off x="5457825" y="5886450"/>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32E40"/>
                </a:solidFill>
                <a:latin typeface="Arial"/>
                <a:ea typeface="Arial"/>
                <a:cs typeface="Arial"/>
              </a:defRPr>
            </a:defPPr>
          </a:lstStyle>
          <a:p xmlns:a="http://schemas.openxmlformats.org/drawingml/2006/main">
            <a:pPr algn="l">
              <a:defRPr sz="2025" b="1">
                <a:solidFill>
                  <a:srgbClr val="132E40"/>
                </a:solidFill>
                <a:latin typeface="Arial"/>
                <a:ea typeface="Arial"/>
                <a:cs typeface="Arial"/>
              </a:defRPr>
            </a:pPr>
            <a:r>
              <a:rPr sz="2025" b="1">
                <a:solidFill>
                  <a:srgbClr val="132E40"/>
                </a:solidFill>
                <a:latin typeface="Arial"/>
                <a:ea typeface="Arial"/>
                <a:cs typeface="Arial"/>
              </a:rPr>
              <a:t>2 legs × (thigh + shin + foot)</a:t>
            </a:r>
          </a:p>
        </p:txBody>
      </p:sp>
      <p:sp>
        <p:nvSpPr>
          <p:cNvPr id="11" name="">
            <a:extLst xmlns:a="http://schemas.openxmlformats.org/drawingml/2006/main">
              <a:ext uri="{FF2B5EF4-FFF2-40B4-BE49-F238E27FC236}">
                <a16:creationId xmlns:a16="http://schemas.microsoft.com/office/drawing/2014/main" id="{B2379A2D-8EE1-443D-85C1-E1B554C36197}"/>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4 / 8</a:t>
            </a:r>
          </a:p>
        </p:txBody>
      </p:sp>
    </p:spTree>
    <p:extLst>
      <p:ext uri="{BB962C8B-B14F-4D97-AF65-F5344CB8AC3E}">
        <p14:creationId xmlns:p14="http://schemas.microsoft.com/office/powerpoint/2010/main" val="1432835080"/>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C38D0BC-B7E4-4AF2-B6A7-003AAF13AD20}"/>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Forward motion earns reward</a:t>
            </a:r>
          </a:p>
        </p:txBody>
      </p:sp>
      <p:sp>
        <p:nvSpPr>
          <p:cNvPr id="2" name="">
            <a:extLst xmlns:a="http://schemas.openxmlformats.org/drawingml/2006/main">
              <a:ext uri="{FF2B5EF4-FFF2-40B4-BE49-F238E27FC236}">
                <a16:creationId xmlns:a16="http://schemas.microsoft.com/office/drawing/2014/main" id="{093908B7-1F54-439F-BBB3-4DADDA4C6CE4}"/>
              </a:ext>
            </a:extLst>
          </p:cNvPr>
          <p:cNvSpPr>
            <a:spLocks xmlns:a="http://schemas.openxmlformats.org/drawingml/2006/main" noGrp="1"/>
          </p:cNvSpPr>
          <p:nvPr/>
        </p:nvSpPr>
        <p:spPr>
          <a:xfrm xmlns:a="http://schemas.openxmlformats.org/drawingml/2006/main">
            <a:off x="609600" y="15525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Reward = forward velocity - 0.1 × sum(action²)</a:t>
            </a:r>
          </a:p>
        </p:txBody>
      </p:sp>
      <p:sp>
        <p:nvSpPr>
          <p:cNvPr id="3" name="">
            <a:extLst xmlns:a="http://schemas.openxmlformats.org/drawingml/2006/main">
              <a:ext uri="{FF2B5EF4-FFF2-40B4-BE49-F238E27FC236}">
                <a16:creationId xmlns:a16="http://schemas.microsoft.com/office/drawing/2014/main" id="{0F47998B-7152-4812-9678-74413F0F28BA}"/>
              </a:ext>
            </a:extLst>
          </p:cNvPr>
          <p:cNvSpPr>
            <a:spLocks xmlns:a="http://schemas.openxmlformats.org/drawingml/2006/main" noGrp="1"/>
          </p:cNvSpPr>
          <p:nvPr/>
        </p:nvSpPr>
        <p:spPr>
          <a:xfrm xmlns:a="http://schemas.openxmlformats.org/drawingml/2006/main">
            <a:off x="609600" y="22764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6D8190"/>
                </a:solidFill>
                <a:latin typeface="Arial"/>
                <a:ea typeface="Arial"/>
                <a:cs typeface="Arial"/>
              </a:defRPr>
            </a:defPPr>
          </a:lstStyle>
          <a:p xmlns:a="http://schemas.openxmlformats.org/drawingml/2006/main">
            <a:pPr algn="l">
              <a:defRPr sz="1950" b="0">
                <a:solidFill>
                  <a:srgbClr val="6D8190"/>
                </a:solidFill>
                <a:latin typeface="Arial"/>
                <a:ea typeface="Arial"/>
                <a:cs typeface="Arial"/>
              </a:defRPr>
            </a:pPr>
            <a:r>
              <a:rPr sz="1950" b="0">
                <a:solidFill>
                  <a:srgbClr val="6D8190"/>
                </a:solidFill>
                <a:latin typeface="Arial"/>
                <a:ea typeface="Arial"/>
                <a:cs typeface="Arial"/>
              </a:rPr>
              <a:t>Illustrative step: six action components = 0.5</a:t>
            </a:r>
          </a:p>
        </p:txBody>
      </p:sp>
      <p:sp>
        <p:nvSpPr>
          <p:cNvPr id="4" name="">
            <a:extLst xmlns:a="http://schemas.openxmlformats.org/drawingml/2006/main">
              <a:ext uri="{FF2B5EF4-FFF2-40B4-BE49-F238E27FC236}">
                <a16:creationId xmlns:a16="http://schemas.microsoft.com/office/drawing/2014/main" id="{5197F274-70E7-4805-A589-7D32444A545E}"/>
              </a:ext>
            </a:extLst>
          </p:cNvPr>
          <p:cNvSpPr>
            <a:spLocks xmlns:a="http://schemas.openxmlformats.org/drawingml/2006/main" noGrp="1"/>
          </p:cNvSpPr>
          <p:nvPr/>
        </p:nvSpPr>
        <p:spPr>
          <a:xfrm xmlns:a="http://schemas.openxmlformats.org/drawingml/2006/main">
            <a:off x="609600" y="2847975"/>
            <a:ext cx="2428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5.00</a:t>
            </a:r>
          </a:p>
        </p:txBody>
      </p:sp>
      <p:sp>
        <p:nvSpPr>
          <p:cNvPr id="5" name="">
            <a:extLst xmlns:a="http://schemas.openxmlformats.org/drawingml/2006/main">
              <a:ext uri="{FF2B5EF4-FFF2-40B4-BE49-F238E27FC236}">
                <a16:creationId xmlns:a16="http://schemas.microsoft.com/office/drawing/2014/main" id="{B8253668-258E-4C0D-A0E2-C763C4CAF554}"/>
              </a:ext>
            </a:extLst>
          </p:cNvPr>
          <p:cNvSpPr>
            <a:spLocks xmlns:a="http://schemas.openxmlformats.org/drawingml/2006/main" noGrp="1"/>
          </p:cNvSpPr>
          <p:nvPr/>
        </p:nvSpPr>
        <p:spPr>
          <a:xfrm xmlns:a="http://schemas.openxmlformats.org/drawingml/2006/main">
            <a:off x="609600" y="3705225"/>
            <a:ext cx="242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forward velocity</a:t>
            </a:r>
          </a:p>
        </p:txBody>
      </p:sp>
      <p:sp>
        <p:nvSpPr>
          <p:cNvPr id="6" name="">
            <a:extLst xmlns:a="http://schemas.openxmlformats.org/drawingml/2006/main">
              <a:ext uri="{FF2B5EF4-FFF2-40B4-BE49-F238E27FC236}">
                <a16:creationId xmlns:a16="http://schemas.microsoft.com/office/drawing/2014/main" id="{2161EE94-4133-4CF8-AAF3-1D33C5AAAF5D}"/>
              </a:ext>
            </a:extLst>
          </p:cNvPr>
          <p:cNvSpPr>
            <a:spLocks xmlns:a="http://schemas.openxmlformats.org/drawingml/2006/main" noGrp="1"/>
          </p:cNvSpPr>
          <p:nvPr/>
        </p:nvSpPr>
        <p:spPr>
          <a:xfrm xmlns:a="http://schemas.openxmlformats.org/drawingml/2006/main">
            <a:off x="3209925" y="30575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975" b="1">
                <a:solidFill>
                  <a:srgbClr val="E47F29"/>
                </a:solidFill>
                <a:latin typeface="Arial"/>
                <a:ea typeface="Arial"/>
                <a:cs typeface="Arial"/>
              </a:defRPr>
            </a:defPPr>
          </a:lstStyle>
          <a:p xmlns:a="http://schemas.openxmlformats.org/drawingml/2006/main">
            <a:pPr algn="l">
              <a:defRPr sz="3975" b="1">
                <a:solidFill>
                  <a:srgbClr val="E47F29"/>
                </a:solidFill>
                <a:latin typeface="Arial"/>
                <a:ea typeface="Arial"/>
                <a:cs typeface="Arial"/>
              </a:defRPr>
            </a:pPr>
            <a:r>
              <a:rPr sz="3975" b="1">
                <a:solidFill>
                  <a:srgbClr val="E47F29"/>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56BB3728-51FF-47C7-912B-454CB3D2A1A0}"/>
              </a:ext>
            </a:extLst>
          </p:cNvPr>
          <p:cNvSpPr>
            <a:spLocks xmlns:a="http://schemas.openxmlformats.org/drawingml/2006/main" noGrp="1"/>
          </p:cNvSpPr>
          <p:nvPr/>
        </p:nvSpPr>
        <p:spPr>
          <a:xfrm xmlns:a="http://schemas.openxmlformats.org/drawingml/2006/main">
            <a:off x="4238625" y="2847975"/>
            <a:ext cx="2428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E47F29"/>
                </a:solidFill>
                <a:latin typeface="Arial"/>
                <a:ea typeface="Arial"/>
                <a:cs typeface="Arial"/>
              </a:defRPr>
            </a:defPPr>
          </a:lstStyle>
          <a:p xmlns:a="http://schemas.openxmlformats.org/drawingml/2006/main">
            <a:pPr algn="l">
              <a:defRPr sz="5250" b="1">
                <a:solidFill>
                  <a:srgbClr val="E47F29"/>
                </a:solidFill>
                <a:latin typeface="Arial"/>
                <a:ea typeface="Arial"/>
                <a:cs typeface="Arial"/>
              </a:defRPr>
            </a:pPr>
            <a:r>
              <a:rPr sz="5250" b="1">
                <a:solidFill>
                  <a:srgbClr val="E47F29"/>
                </a:solidFill>
                <a:latin typeface="Arial"/>
                <a:ea typeface="Arial"/>
                <a:cs typeface="Arial"/>
              </a:rPr>
              <a:t>0.15</a:t>
            </a:r>
          </a:p>
        </p:txBody>
      </p:sp>
      <p:sp>
        <p:nvSpPr>
          <p:cNvPr id="8" name="">
            <a:extLst xmlns:a="http://schemas.openxmlformats.org/drawingml/2006/main">
              <a:ext uri="{FF2B5EF4-FFF2-40B4-BE49-F238E27FC236}">
                <a16:creationId xmlns:a16="http://schemas.microsoft.com/office/drawing/2014/main" id="{054A0394-E3BE-4467-BA3C-1CBB81830791}"/>
              </a:ext>
            </a:extLst>
          </p:cNvPr>
          <p:cNvSpPr>
            <a:spLocks xmlns:a="http://schemas.openxmlformats.org/drawingml/2006/main" noGrp="1"/>
          </p:cNvSpPr>
          <p:nvPr/>
        </p:nvSpPr>
        <p:spPr>
          <a:xfrm xmlns:a="http://schemas.openxmlformats.org/drawingml/2006/main">
            <a:off x="4238625" y="3705225"/>
            <a:ext cx="242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control cost</a:t>
            </a:r>
          </a:p>
        </p:txBody>
      </p:sp>
      <p:sp>
        <p:nvSpPr>
          <p:cNvPr id="9" name="">
            <a:extLst xmlns:a="http://schemas.openxmlformats.org/drawingml/2006/main">
              <a:ext uri="{FF2B5EF4-FFF2-40B4-BE49-F238E27FC236}">
                <a16:creationId xmlns:a16="http://schemas.microsoft.com/office/drawing/2014/main" id="{F55E4D14-8F04-4DFC-9DA7-7AC2E7F9DA81}"/>
              </a:ext>
            </a:extLst>
          </p:cNvPr>
          <p:cNvSpPr>
            <a:spLocks xmlns:a="http://schemas.openxmlformats.org/drawingml/2006/main" noGrp="1"/>
          </p:cNvSpPr>
          <p:nvPr/>
        </p:nvSpPr>
        <p:spPr>
          <a:xfrm xmlns:a="http://schemas.openxmlformats.org/drawingml/2006/main">
            <a:off x="6953250" y="30575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975" b="1">
                <a:solidFill>
                  <a:srgbClr val="6D8190"/>
                </a:solidFill>
                <a:latin typeface="Arial"/>
                <a:ea typeface="Arial"/>
                <a:cs typeface="Arial"/>
              </a:defRPr>
            </a:defPPr>
          </a:lstStyle>
          <a:p xmlns:a="http://schemas.openxmlformats.org/drawingml/2006/main">
            <a:pPr algn="l">
              <a:defRPr sz="3975" b="1">
                <a:solidFill>
                  <a:srgbClr val="6D8190"/>
                </a:solidFill>
                <a:latin typeface="Arial"/>
                <a:ea typeface="Arial"/>
                <a:cs typeface="Arial"/>
              </a:defRPr>
            </a:pPr>
            <a:r>
              <a:rPr sz="3975" b="1">
                <a:solidFill>
                  <a:srgbClr val="6D8190"/>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7ACE7C5A-3E95-43C5-9604-0748B359E06F}"/>
              </a:ext>
            </a:extLst>
          </p:cNvPr>
          <p:cNvSpPr>
            <a:spLocks xmlns:a="http://schemas.openxmlformats.org/drawingml/2006/main" noGrp="1"/>
          </p:cNvSpPr>
          <p:nvPr/>
        </p:nvSpPr>
        <p:spPr>
          <a:xfrm xmlns:a="http://schemas.openxmlformats.org/drawingml/2006/main">
            <a:off x="8448675" y="2847975"/>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4.85</a:t>
            </a:r>
          </a:p>
        </p:txBody>
      </p:sp>
      <p:sp>
        <p:nvSpPr>
          <p:cNvPr id="11" name="">
            <a:extLst xmlns:a="http://schemas.openxmlformats.org/drawingml/2006/main">
              <a:ext uri="{FF2B5EF4-FFF2-40B4-BE49-F238E27FC236}">
                <a16:creationId xmlns:a16="http://schemas.microsoft.com/office/drawing/2014/main" id="{B6F2660F-A25D-41C3-AA92-6A58158D991C}"/>
              </a:ext>
            </a:extLst>
          </p:cNvPr>
          <p:cNvSpPr>
            <a:spLocks xmlns:a="http://schemas.openxmlformats.org/drawingml/2006/main" noGrp="1"/>
          </p:cNvSpPr>
          <p:nvPr/>
        </p:nvSpPr>
        <p:spPr>
          <a:xfrm xmlns:a="http://schemas.openxmlformats.org/drawingml/2006/main">
            <a:off x="8448675" y="3705225"/>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net reward</a:t>
            </a:r>
          </a:p>
        </p:txBody>
      </p:sp>
      <p:sp>
        <p:nvSpPr>
          <p:cNvPr id="12" name="">
            <a:extLst xmlns:a="http://schemas.openxmlformats.org/drawingml/2006/main">
              <a:ext uri="{FF2B5EF4-FFF2-40B4-BE49-F238E27FC236}">
                <a16:creationId xmlns:a16="http://schemas.microsoft.com/office/drawing/2014/main" id="{00D52C51-C175-43CB-8047-489D8A73697E}"/>
              </a:ext>
            </a:extLst>
          </p:cNvPr>
          <p:cNvSpPr>
            <a:spLocks xmlns:a="http://schemas.openxmlformats.org/drawingml/2006/main" noGrp="1"/>
          </p:cNvSpPr>
          <p:nvPr/>
        </p:nvSpPr>
        <p:spPr>
          <a:xfrm xmlns:a="http://schemas.openxmlformats.org/drawingml/2006/main">
            <a:off x="609600" y="46291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32E40"/>
                </a:solidFill>
                <a:latin typeface="Arial"/>
                <a:ea typeface="Arial"/>
                <a:cs typeface="Arial"/>
              </a:defRPr>
            </a:defPPr>
          </a:lstStyle>
          <a:p xmlns:a="http://schemas.openxmlformats.org/drawingml/2006/main">
            <a:pPr algn="l">
              <a:defRPr sz="2250" b="1">
                <a:solidFill>
                  <a:srgbClr val="132E40"/>
                </a:solidFill>
                <a:latin typeface="Arial"/>
                <a:ea typeface="Arial"/>
                <a:cs typeface="Arial"/>
              </a:defRPr>
            </a:pPr>
            <a:r>
              <a:rPr sz="2250" b="1">
                <a:solidFill>
                  <a:srgbClr val="132E40"/>
                </a:solidFill>
                <a:latin typeface="Arial"/>
                <a:ea typeface="Arial"/>
                <a:cs typeface="Arial"/>
              </a:rPr>
              <a:t>Goal: sustained, efficient forward motion</a:t>
            </a:r>
          </a:p>
        </p:txBody>
      </p:sp>
      <p:sp>
        <p:nvSpPr>
          <p:cNvPr id="13" name="">
            <a:extLst xmlns:a="http://schemas.openxmlformats.org/drawingml/2006/main">
              <a:ext uri="{FF2B5EF4-FFF2-40B4-BE49-F238E27FC236}">
                <a16:creationId xmlns:a16="http://schemas.microsoft.com/office/drawing/2014/main" id="{6ABAF0B7-CDE1-4F98-8AD0-4B51611C00AC}"/>
              </a:ext>
            </a:extLst>
          </p:cNvPr>
          <p:cNvSpPr>
            <a:spLocks xmlns:a="http://schemas.openxmlformats.org/drawingml/2006/main" noGrp="1"/>
          </p:cNvSpPr>
          <p:nvPr/>
        </p:nvSpPr>
        <p:spPr>
          <a:xfrm xmlns:a="http://schemas.openxmlformats.org/drawingml/2006/main">
            <a:off x="609600" y="5391150"/>
            <a:ext cx="10820400" cy="57150"/>
          </a:xfrm>
          <a:prstGeom xmlns:a="http://schemas.openxmlformats.org/drawingml/2006/main" prst="rect">
            <a:avLst/>
          </a:prstGeom>
          <a:solidFill xmlns:a="http://schemas.openxmlformats.org/drawingml/2006/main">
            <a:srgbClr val="DBE4E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D6088DC-6CC7-4853-BA74-3CC3A963316B}"/>
              </a:ext>
            </a:extLst>
          </p:cNvPr>
          <p:cNvSpPr>
            <a:spLocks xmlns:a="http://schemas.openxmlformats.org/drawingml/2006/main" noGrp="1"/>
          </p:cNvSpPr>
          <p:nvPr/>
        </p:nvSpPr>
        <p:spPr>
          <a:xfrm xmlns:a="http://schemas.openxmlformats.org/drawingml/2006/main">
            <a:off x="609600" y="5524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0</a:t>
            </a:r>
          </a:p>
        </p:txBody>
      </p:sp>
      <p:sp>
        <p:nvSpPr>
          <p:cNvPr id="15" name="">
            <a:extLst xmlns:a="http://schemas.openxmlformats.org/drawingml/2006/main">
              <a:ext uri="{FF2B5EF4-FFF2-40B4-BE49-F238E27FC236}">
                <a16:creationId xmlns:a16="http://schemas.microsoft.com/office/drawing/2014/main" id="{85610725-985E-49EC-9056-93792C02A334}"/>
              </a:ext>
            </a:extLst>
          </p:cNvPr>
          <p:cNvSpPr>
            <a:spLocks xmlns:a="http://schemas.openxmlformats.org/drawingml/2006/main" noGrp="1"/>
          </p:cNvSpPr>
          <p:nvPr/>
        </p:nvSpPr>
        <p:spPr>
          <a:xfrm xmlns:a="http://schemas.openxmlformats.org/drawingml/2006/main">
            <a:off x="6191250" y="55245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2175" b="1">
                <a:solidFill>
                  <a:srgbClr val="007F80"/>
                </a:solidFill>
                <a:latin typeface="Arial"/>
                <a:ea typeface="Arial"/>
                <a:cs typeface="Arial"/>
              </a:defRPr>
            </a:defPPr>
          </a:lstStyle>
          <a:p xmlns:a="http://schemas.openxmlformats.org/drawingml/2006/main">
            <a:pPr algn="r">
              <a:defRPr sz="2175" b="1">
                <a:solidFill>
                  <a:srgbClr val="007F80"/>
                </a:solidFill>
                <a:latin typeface="Arial"/>
                <a:ea typeface="Arial"/>
                <a:cs typeface="Arial"/>
              </a:defRPr>
            </a:pPr>
            <a:r>
              <a:rPr sz="2175" b="1">
                <a:solidFill>
                  <a:srgbClr val="007F80"/>
                </a:solidFill>
                <a:latin typeface="Arial"/>
                <a:ea typeface="Arial"/>
                <a:cs typeface="Arial"/>
              </a:rPr>
              <a:t>1,000 steps ≈ 50 seconds</a:t>
            </a:r>
          </a:p>
        </p:txBody>
      </p:sp>
      <p:sp>
        <p:nvSpPr>
          <p:cNvPr id="16" name="">
            <a:extLst xmlns:a="http://schemas.openxmlformats.org/drawingml/2006/main">
              <a:ext uri="{FF2B5EF4-FFF2-40B4-BE49-F238E27FC236}">
                <a16:creationId xmlns:a16="http://schemas.microsoft.com/office/drawing/2014/main" id="{558FECA9-89AA-4567-80EA-D71064172972}"/>
              </a:ext>
            </a:extLst>
          </p:cNvPr>
          <p:cNvSpPr>
            <a:spLocks xmlns:a="http://schemas.openxmlformats.org/drawingml/2006/main" noGrp="1"/>
          </p:cNvSpPr>
          <p:nvPr/>
        </p:nvSpPr>
        <p:spPr>
          <a:xfrm xmlns:a="http://schemas.openxmlformats.org/drawingml/2006/main">
            <a:off x="609600" y="59436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E47F29"/>
                </a:solidFill>
                <a:latin typeface="Arial"/>
                <a:ea typeface="Arial"/>
                <a:cs typeface="Arial"/>
              </a:defRPr>
            </a:defPPr>
          </a:lstStyle>
          <a:p xmlns:a="http://schemas.openxmlformats.org/drawingml/2006/main">
            <a:pPr algn="l">
              <a:defRPr sz="2025" b="1">
                <a:solidFill>
                  <a:srgbClr val="E47F29"/>
                </a:solidFill>
                <a:latin typeface="Arial"/>
                <a:ea typeface="Arial"/>
                <a:cs typeface="Arial"/>
              </a:defRPr>
            </a:pPr>
            <a:r>
              <a:rPr sz="2025" b="1">
                <a:solidFill>
                  <a:srgbClr val="E47F29"/>
                </a:solidFill>
                <a:latin typeface="Arial"/>
                <a:ea typeface="Arial"/>
                <a:cs typeface="Arial"/>
              </a:rPr>
              <a:t>A fall does not end the episode</a:t>
            </a:r>
          </a:p>
        </p:txBody>
      </p:sp>
      <p:sp>
        <p:nvSpPr>
          <p:cNvPr id="17" name="">
            <a:extLst xmlns:a="http://schemas.openxmlformats.org/drawingml/2006/main">
              <a:ext uri="{FF2B5EF4-FFF2-40B4-BE49-F238E27FC236}">
                <a16:creationId xmlns:a16="http://schemas.microsoft.com/office/drawing/2014/main" id="{E67E4B20-6285-4E01-8291-2220116C6063}"/>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5 / 8</a:t>
            </a:r>
          </a:p>
        </p:txBody>
      </p:sp>
    </p:spTree>
    <p:extLst>
      <p:ext uri="{BB962C8B-B14F-4D97-AF65-F5344CB8AC3E}">
        <p14:creationId xmlns:p14="http://schemas.microsoft.com/office/powerpoint/2010/main" val="2124756318"/>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92721FC-9880-4221-91D1-29DEEB2773D0}"/>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A reproducible training and evaluation plan</a:t>
            </a:r>
          </a:p>
        </p:txBody>
      </p:sp>
      <p:sp>
        <p:nvSpPr>
          <p:cNvPr id="2" name="">
            <a:extLst xmlns:a="http://schemas.openxmlformats.org/drawingml/2006/main">
              <a:ext uri="{FF2B5EF4-FFF2-40B4-BE49-F238E27FC236}">
                <a16:creationId xmlns:a16="http://schemas.microsoft.com/office/drawing/2014/main" id="{F3EABAFE-6BBB-46AB-AD83-FA8AD958E45C}"/>
              </a:ext>
            </a:extLst>
          </p:cNvPr>
          <p:cNvSpPr>
            <a:spLocks xmlns:a="http://schemas.openxmlformats.org/drawingml/2006/main" noGrp="1"/>
          </p:cNvSpPr>
          <p:nvPr/>
        </p:nvSpPr>
        <p:spPr>
          <a:xfrm xmlns:a="http://schemas.openxmlformats.org/drawingml/2006/main">
            <a:off x="609600" y="1695450"/>
            <a:ext cx="2714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1M</a:t>
            </a:r>
          </a:p>
        </p:txBody>
      </p:sp>
      <p:sp>
        <p:nvSpPr>
          <p:cNvPr id="3" name="">
            <a:extLst xmlns:a="http://schemas.openxmlformats.org/drawingml/2006/main">
              <a:ext uri="{FF2B5EF4-FFF2-40B4-BE49-F238E27FC236}">
                <a16:creationId xmlns:a16="http://schemas.microsoft.com/office/drawing/2014/main" id="{C0161872-0B76-4641-81C8-53FE51F2A811}"/>
              </a:ext>
            </a:extLst>
          </p:cNvPr>
          <p:cNvSpPr>
            <a:spLocks xmlns:a="http://schemas.openxmlformats.org/drawingml/2006/main" noGrp="1"/>
          </p:cNvSpPr>
          <p:nvPr/>
        </p:nvSpPr>
        <p:spPr>
          <a:xfrm xmlns:a="http://schemas.openxmlformats.org/drawingml/2006/main">
            <a:off x="609600" y="25527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transitions</a:t>
            </a:r>
          </a:p>
        </p:txBody>
      </p:sp>
      <p:sp>
        <p:nvSpPr>
          <p:cNvPr id="4" name="">
            <a:extLst xmlns:a="http://schemas.openxmlformats.org/drawingml/2006/main">
              <a:ext uri="{FF2B5EF4-FFF2-40B4-BE49-F238E27FC236}">
                <a16:creationId xmlns:a16="http://schemas.microsoft.com/office/drawing/2014/main" id="{09510D7E-1179-4BC9-9D26-BEB60A8D517F}"/>
              </a:ext>
            </a:extLst>
          </p:cNvPr>
          <p:cNvSpPr>
            <a:spLocks xmlns:a="http://schemas.openxmlformats.org/drawingml/2006/main" noGrp="1"/>
          </p:cNvSpPr>
          <p:nvPr/>
        </p:nvSpPr>
        <p:spPr>
          <a:xfrm xmlns:a="http://schemas.openxmlformats.org/drawingml/2006/main">
            <a:off x="4143375" y="169545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046906E1-CB9A-47BA-8620-8004C14CD75B}"/>
              </a:ext>
            </a:extLst>
          </p:cNvPr>
          <p:cNvSpPr>
            <a:spLocks xmlns:a="http://schemas.openxmlformats.org/drawingml/2006/main" noGrp="1"/>
          </p:cNvSpPr>
          <p:nvPr/>
        </p:nvSpPr>
        <p:spPr>
          <a:xfrm xmlns:a="http://schemas.openxmlformats.org/drawingml/2006/main">
            <a:off x="4143375" y="25527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training seeds</a:t>
            </a:r>
          </a:p>
        </p:txBody>
      </p:sp>
      <p:sp>
        <p:nvSpPr>
          <p:cNvPr id="6" name="">
            <a:extLst xmlns:a="http://schemas.openxmlformats.org/drawingml/2006/main">
              <a:ext uri="{FF2B5EF4-FFF2-40B4-BE49-F238E27FC236}">
                <a16:creationId xmlns:a16="http://schemas.microsoft.com/office/drawing/2014/main" id="{54B3E6A9-8C94-4733-8AB1-251E23FB402D}"/>
              </a:ext>
            </a:extLst>
          </p:cNvPr>
          <p:cNvSpPr>
            <a:spLocks xmlns:a="http://schemas.openxmlformats.org/drawingml/2006/main" noGrp="1"/>
          </p:cNvSpPr>
          <p:nvPr/>
        </p:nvSpPr>
        <p:spPr>
          <a:xfrm xmlns:a="http://schemas.openxmlformats.org/drawingml/2006/main">
            <a:off x="7848600" y="1695450"/>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500k</a:t>
            </a:r>
          </a:p>
        </p:txBody>
      </p:sp>
      <p:sp>
        <p:nvSpPr>
          <p:cNvPr id="7" name="">
            <a:extLst xmlns:a="http://schemas.openxmlformats.org/drawingml/2006/main">
              <a:ext uri="{FF2B5EF4-FFF2-40B4-BE49-F238E27FC236}">
                <a16:creationId xmlns:a16="http://schemas.microsoft.com/office/drawing/2014/main" id="{691098DD-2541-46E5-8939-7E94EA7667DE}"/>
              </a:ext>
            </a:extLst>
          </p:cNvPr>
          <p:cNvSpPr>
            <a:spLocks xmlns:a="http://schemas.openxmlformats.org/drawingml/2006/main" noGrp="1"/>
          </p:cNvSpPr>
          <p:nvPr/>
        </p:nvSpPr>
        <p:spPr>
          <a:xfrm xmlns:a="http://schemas.openxmlformats.org/drawingml/2006/main">
            <a:off x="7848600" y="255270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updates per seed</a:t>
            </a:r>
          </a:p>
        </p:txBody>
      </p:sp>
      <p:sp>
        <p:nvSpPr>
          <p:cNvPr id="8" name="">
            <a:extLst xmlns:a="http://schemas.openxmlformats.org/drawingml/2006/main">
              <a:ext uri="{FF2B5EF4-FFF2-40B4-BE49-F238E27FC236}">
                <a16:creationId xmlns:a16="http://schemas.microsoft.com/office/drawing/2014/main" id="{F721FAB7-D66F-48DC-B4C5-A637D7663AB0}"/>
              </a:ext>
            </a:extLst>
          </p:cNvPr>
          <p:cNvSpPr>
            <a:spLocks xmlns:a="http://schemas.openxmlformats.org/drawingml/2006/main" noGrp="1"/>
          </p:cNvSpPr>
          <p:nvPr/>
        </p:nvSpPr>
        <p:spPr>
          <a:xfrm xmlns:a="http://schemas.openxmlformats.org/drawingml/2006/main">
            <a:off x="609600" y="3438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E40"/>
                </a:solidFill>
                <a:latin typeface="Arial"/>
                <a:ea typeface="Arial"/>
                <a:cs typeface="Arial"/>
              </a:defRPr>
            </a:defPPr>
          </a:lstStyle>
          <a:p xmlns:a="http://schemas.openxmlformats.org/drawingml/2006/main">
            <a:pPr algn="l">
              <a:defRPr sz="2025" b="0">
                <a:solidFill>
                  <a:srgbClr val="132E40"/>
                </a:solidFill>
                <a:latin typeface="Arial"/>
                <a:ea typeface="Arial"/>
                <a:cs typeface="Arial"/>
              </a:defRPr>
            </a:pPr>
            <a:r>
              <a:rPr sz="2025" b="0">
                <a:solidFill>
                  <a:srgbClr val="132E40"/>
                </a:solidFill>
                <a:latin typeface="Arial"/>
                <a:ea typeface="Arial"/>
                <a:cs typeface="Arial"/>
              </a:rPr>
              <a:t>Minari medium dataset: 1,000 episodes. Batch size: 256.</a:t>
            </a:r>
          </a:p>
        </p:txBody>
      </p:sp>
      <p:sp>
        <p:nvSpPr>
          <p:cNvPr id="9" name="">
            <a:extLst xmlns:a="http://schemas.openxmlformats.org/drawingml/2006/main">
              <a:ext uri="{FF2B5EF4-FFF2-40B4-BE49-F238E27FC236}">
                <a16:creationId xmlns:a16="http://schemas.microsoft.com/office/drawing/2014/main" id="{4BCEEAD1-E429-4D39-9E39-CA6348DCAC09}"/>
              </a:ext>
            </a:extLst>
          </p:cNvPr>
          <p:cNvSpPr>
            <a:spLocks xmlns:a="http://schemas.openxmlformats.org/drawingml/2006/main" noGrp="1"/>
          </p:cNvSpPr>
          <p:nvPr/>
        </p:nvSpPr>
        <p:spPr>
          <a:xfrm xmlns:a="http://schemas.openxmlformats.org/drawingml/2006/main">
            <a:off x="609600" y="4200525"/>
            <a:ext cx="2857500" cy="1333500"/>
          </a:xfrm>
          <a:prstGeom xmlns:a="http://schemas.openxmlformats.org/drawingml/2006/main" prst="rect">
            <a:avLst/>
          </a:prstGeom>
          <a:solidFill xmlns:a="http://schemas.openxmlformats.org/drawingml/2006/main">
            <a:srgbClr val="E7F4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410857F-8DF0-4ED0-9F35-919B8D1AE4B6}"/>
              </a:ext>
            </a:extLst>
          </p:cNvPr>
          <p:cNvSpPr>
            <a:spLocks xmlns:a="http://schemas.openxmlformats.org/drawingml/2006/main" noGrp="1"/>
          </p:cNvSpPr>
          <p:nvPr/>
        </p:nvSpPr>
        <p:spPr>
          <a:xfrm xmlns:a="http://schemas.openxmlformats.org/drawingml/2006/main">
            <a:off x="800100" y="43910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Train</a:t>
            </a:r>
          </a:p>
        </p:txBody>
      </p:sp>
      <p:sp>
        <p:nvSpPr>
          <p:cNvPr id="11" name="">
            <a:extLst xmlns:a="http://schemas.openxmlformats.org/drawingml/2006/main">
              <a:ext uri="{FF2B5EF4-FFF2-40B4-BE49-F238E27FC236}">
                <a16:creationId xmlns:a16="http://schemas.microsoft.com/office/drawing/2014/main" id="{711E7375-E33C-45C2-AD52-797C71A5F984}"/>
              </a:ext>
            </a:extLst>
          </p:cNvPr>
          <p:cNvSpPr>
            <a:spLocks xmlns:a="http://schemas.openxmlformats.org/drawingml/2006/main" noGrp="1"/>
          </p:cNvSpPr>
          <p:nvPr/>
        </p:nvSpPr>
        <p:spPr>
          <a:xfrm xmlns:a="http://schemas.openxmlformats.org/drawingml/2006/main">
            <a:off x="800100" y="49434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Seeds 0, 1, 2</a:t>
            </a:r>
          </a:p>
        </p:txBody>
      </p:sp>
      <p:sp>
        <p:nvSpPr>
          <p:cNvPr id="12" name="">
            <a:extLst xmlns:a="http://schemas.openxmlformats.org/drawingml/2006/main">
              <a:ext uri="{FF2B5EF4-FFF2-40B4-BE49-F238E27FC236}">
                <a16:creationId xmlns:a16="http://schemas.microsoft.com/office/drawing/2014/main" id="{490534B6-4064-4C81-81E1-3073408D4FD2}"/>
              </a:ext>
            </a:extLst>
          </p:cNvPr>
          <p:cNvSpPr>
            <a:spLocks xmlns:a="http://schemas.openxmlformats.org/drawingml/2006/main" noGrp="1"/>
          </p:cNvSpPr>
          <p:nvPr/>
        </p:nvSpPr>
        <p:spPr>
          <a:xfrm xmlns:a="http://schemas.openxmlformats.org/drawingml/2006/main">
            <a:off x="3667125" y="4752975"/>
            <a:ext cx="4572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F22B49C-E371-4C20-A599-2915F662807B}"/>
              </a:ext>
            </a:extLst>
          </p:cNvPr>
          <p:cNvSpPr>
            <a:spLocks xmlns:a="http://schemas.openxmlformats.org/drawingml/2006/main" noGrp="1"/>
          </p:cNvSpPr>
          <p:nvPr/>
        </p:nvSpPr>
        <p:spPr>
          <a:xfrm xmlns:a="http://schemas.openxmlformats.org/drawingml/2006/main">
            <a:off x="4333875" y="4200525"/>
            <a:ext cx="3143250" cy="1333500"/>
          </a:xfrm>
          <a:prstGeom xmlns:a="http://schemas.openxmlformats.org/drawingml/2006/main" prst="rect">
            <a:avLst/>
          </a:prstGeom>
          <a:solidFill xmlns:a="http://schemas.openxmlformats.org/drawingml/2006/main">
            <a:srgbClr val="E7F4F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8E0FE14-1B79-4E21-82C1-3E8575105492}"/>
              </a:ext>
            </a:extLst>
          </p:cNvPr>
          <p:cNvSpPr>
            <a:spLocks xmlns:a="http://schemas.openxmlformats.org/drawingml/2006/main" noGrp="1"/>
          </p:cNvSpPr>
          <p:nvPr/>
        </p:nvSpPr>
        <p:spPr>
          <a:xfrm xmlns:a="http://schemas.openxmlformats.org/drawingml/2006/main">
            <a:off x="4524375" y="43910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Select</a:t>
            </a:r>
          </a:p>
        </p:txBody>
      </p:sp>
      <p:sp>
        <p:nvSpPr>
          <p:cNvPr id="15" name="">
            <a:extLst xmlns:a="http://schemas.openxmlformats.org/drawingml/2006/main">
              <a:ext uri="{FF2B5EF4-FFF2-40B4-BE49-F238E27FC236}">
                <a16:creationId xmlns:a16="http://schemas.microsoft.com/office/drawing/2014/main" id="{40072261-DF87-47CB-A18A-6B021D120260}"/>
              </a:ext>
            </a:extLst>
          </p:cNvPr>
          <p:cNvSpPr>
            <a:spLocks xmlns:a="http://schemas.openxmlformats.org/drawingml/2006/main" noGrp="1"/>
          </p:cNvSpPr>
          <p:nvPr/>
        </p:nvSpPr>
        <p:spPr>
          <a:xfrm xmlns:a="http://schemas.openxmlformats.org/drawingml/2006/main">
            <a:off x="4524375" y="49434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10 episodes / checkpoint</a:t>
            </a:r>
          </a:p>
        </p:txBody>
      </p:sp>
      <p:sp>
        <p:nvSpPr>
          <p:cNvPr id="16" name="">
            <a:extLst xmlns:a="http://schemas.openxmlformats.org/drawingml/2006/main">
              <a:ext uri="{FF2B5EF4-FFF2-40B4-BE49-F238E27FC236}">
                <a16:creationId xmlns:a16="http://schemas.microsoft.com/office/drawing/2014/main" id="{8C448845-3CD5-41AF-9001-7DF46CB74AC3}"/>
              </a:ext>
            </a:extLst>
          </p:cNvPr>
          <p:cNvSpPr>
            <a:spLocks xmlns:a="http://schemas.openxmlformats.org/drawingml/2006/main" noGrp="1"/>
          </p:cNvSpPr>
          <p:nvPr/>
        </p:nvSpPr>
        <p:spPr>
          <a:xfrm xmlns:a="http://schemas.openxmlformats.org/drawingml/2006/main">
            <a:off x="7677150" y="4752975"/>
            <a:ext cx="4572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3F4B734-67FC-41F2-94DE-9D66398EC7D8}"/>
              </a:ext>
            </a:extLst>
          </p:cNvPr>
          <p:cNvSpPr>
            <a:spLocks xmlns:a="http://schemas.openxmlformats.org/drawingml/2006/main" noGrp="1"/>
          </p:cNvSpPr>
          <p:nvPr/>
        </p:nvSpPr>
        <p:spPr>
          <a:xfrm xmlns:a="http://schemas.openxmlformats.org/drawingml/2006/main">
            <a:off x="8343900" y="4200525"/>
            <a:ext cx="3152775" cy="1333500"/>
          </a:xfrm>
          <a:prstGeom xmlns:a="http://schemas.openxmlformats.org/drawingml/2006/main" prst="rect">
            <a:avLst/>
          </a:prstGeom>
          <a:solidFill xmlns:a="http://schemas.openxmlformats.org/drawingml/2006/main">
            <a:srgbClr val="E7F4F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3B1C74-77AA-4E85-A556-E0E3CF793BE1}"/>
              </a:ext>
            </a:extLst>
          </p:cNvPr>
          <p:cNvSpPr>
            <a:spLocks xmlns:a="http://schemas.openxmlformats.org/drawingml/2006/main" noGrp="1"/>
          </p:cNvSpPr>
          <p:nvPr/>
        </p:nvSpPr>
        <p:spPr>
          <a:xfrm xmlns:a="http://schemas.openxmlformats.org/drawingml/2006/main">
            <a:off x="8534400" y="4391025"/>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0"/>
                </a:solidFill>
                <a:latin typeface="Arial"/>
                <a:ea typeface="Arial"/>
                <a:cs typeface="Arial"/>
              </a:defRPr>
            </a:defPPr>
          </a:lstStyle>
          <a:p xmlns:a="http://schemas.openxmlformats.org/drawingml/2006/main">
            <a:pPr algn="l">
              <a:defRPr sz="2400" b="1">
                <a:solidFill>
                  <a:srgbClr val="007F80"/>
                </a:solidFill>
                <a:latin typeface="Arial"/>
                <a:ea typeface="Arial"/>
                <a:cs typeface="Arial"/>
              </a:defRPr>
            </a:pPr>
            <a:r>
              <a:rPr sz="2400" b="1">
                <a:solidFill>
                  <a:srgbClr val="007F80"/>
                </a:solidFill>
                <a:latin typeface="Arial"/>
                <a:ea typeface="Arial"/>
                <a:cs typeface="Arial"/>
              </a:rPr>
              <a:t>Final test</a:t>
            </a:r>
          </a:p>
        </p:txBody>
      </p:sp>
      <p:sp>
        <p:nvSpPr>
          <p:cNvPr id="19" name="">
            <a:extLst xmlns:a="http://schemas.openxmlformats.org/drawingml/2006/main">
              <a:ext uri="{FF2B5EF4-FFF2-40B4-BE49-F238E27FC236}">
                <a16:creationId xmlns:a16="http://schemas.microsoft.com/office/drawing/2014/main" id="{6FE7B635-369D-48F5-B000-56615D160E34}"/>
              </a:ext>
            </a:extLst>
          </p:cNvPr>
          <p:cNvSpPr>
            <a:spLocks xmlns:a="http://schemas.openxmlformats.org/drawingml/2006/main" noGrp="1"/>
          </p:cNvSpPr>
          <p:nvPr/>
        </p:nvSpPr>
        <p:spPr>
          <a:xfrm xmlns:a="http://schemas.openxmlformats.org/drawingml/2006/main">
            <a:off x="8534400" y="4943475"/>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E40"/>
                </a:solidFill>
                <a:latin typeface="Arial"/>
                <a:ea typeface="Arial"/>
                <a:cs typeface="Arial"/>
              </a:defRPr>
            </a:defPPr>
          </a:lstStyle>
          <a:p xmlns:a="http://schemas.openxmlformats.org/drawingml/2006/main">
            <a:pPr algn="l">
              <a:defRPr sz="1875" b="0">
                <a:solidFill>
                  <a:srgbClr val="132E40"/>
                </a:solidFill>
                <a:latin typeface="Arial"/>
                <a:ea typeface="Arial"/>
                <a:cs typeface="Arial"/>
              </a:defRPr>
            </a:pPr>
            <a:r>
              <a:rPr sz="1875" b="0">
                <a:solidFill>
                  <a:srgbClr val="132E40"/>
                </a:solidFill>
                <a:latin typeface="Arial"/>
                <a:ea typeface="Arial"/>
                <a:cs typeface="Arial"/>
              </a:rPr>
              <a:t>Separate episode seeds</a:t>
            </a:r>
          </a:p>
        </p:txBody>
      </p:sp>
      <p:sp>
        <p:nvSpPr>
          <p:cNvPr id="20" name="">
            <a:extLst xmlns:a="http://schemas.openxmlformats.org/drawingml/2006/main">
              <a:ext uri="{FF2B5EF4-FFF2-40B4-BE49-F238E27FC236}">
                <a16:creationId xmlns:a16="http://schemas.microsoft.com/office/drawing/2014/main" id="{E0A60A0F-968A-4020-9966-9D33B1B2E2F8}"/>
              </a:ext>
            </a:extLst>
          </p:cNvPr>
          <p:cNvSpPr>
            <a:spLocks xmlns:a="http://schemas.openxmlformats.org/drawingml/2006/main" noGrp="1"/>
          </p:cNvSpPr>
          <p:nvPr/>
        </p:nvSpPr>
        <p:spPr>
          <a:xfrm xmlns:a="http://schemas.openxmlformats.org/drawingml/2006/main">
            <a:off x="609600" y="58197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32E40"/>
                </a:solidFill>
                <a:latin typeface="Arial"/>
                <a:ea typeface="Arial"/>
                <a:cs typeface="Arial"/>
              </a:defRPr>
            </a:defPPr>
          </a:lstStyle>
          <a:p xmlns:a="http://schemas.openxmlformats.org/drawingml/2006/main">
            <a:pPr algn="l">
              <a:defRPr sz="2100" b="1">
                <a:solidFill>
                  <a:srgbClr val="132E40"/>
                </a:solidFill>
                <a:latin typeface="Arial"/>
                <a:ea typeface="Arial"/>
                <a:cs typeface="Arial"/>
              </a:defRPr>
            </a:pPr>
            <a:r>
              <a:rPr sz="2100" b="1">
                <a:solidFill>
                  <a:srgbClr val="132E40"/>
                </a:solidFill>
                <a:latin typeface="Arial"/>
                <a:ea typeface="Arial"/>
                <a:cs typeface="Arial"/>
              </a:rPr>
              <a:t>Raw return + random baseline + full videos</a:t>
            </a:r>
          </a:p>
        </p:txBody>
      </p:sp>
      <p:sp>
        <p:nvSpPr>
          <p:cNvPr id="21" name="">
            <a:extLst xmlns:a="http://schemas.openxmlformats.org/drawingml/2006/main">
              <a:ext uri="{FF2B5EF4-FFF2-40B4-BE49-F238E27FC236}">
                <a16:creationId xmlns:a16="http://schemas.microsoft.com/office/drawing/2014/main" id="{924FD03F-6DE3-4548-8848-4B4A705BED97}"/>
              </a:ext>
            </a:extLst>
          </p:cNvPr>
          <p:cNvSpPr>
            <a:spLocks xmlns:a="http://schemas.openxmlformats.org/drawingml/2006/main" noGrp="1"/>
          </p:cNvSpPr>
          <p:nvPr/>
        </p:nvSpPr>
        <p:spPr>
          <a:xfrm xmlns:a="http://schemas.openxmlformats.org/drawingml/2006/main">
            <a:off x="609600" y="6238875"/>
            <a:ext cx="1009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6D8190"/>
                </a:solidFill>
                <a:latin typeface="Arial"/>
                <a:ea typeface="Arial"/>
                <a:cs typeface="Arial"/>
              </a:defRPr>
            </a:defPPr>
          </a:lstStyle>
          <a:p xmlns:a="http://schemas.openxmlformats.org/drawingml/2006/main">
            <a:pPr algn="l">
              <a:defRPr sz="1725" b="0">
                <a:solidFill>
                  <a:srgbClr val="6D8190"/>
                </a:solidFill>
                <a:latin typeface="Arial"/>
                <a:ea typeface="Arial"/>
                <a:cs typeface="Arial"/>
              </a:defRPr>
            </a:pPr>
            <a:r>
              <a:rPr sz="1725" b="0">
                <a:solidFill>
                  <a:srgbClr val="6D8190"/>
                </a:solidFill>
                <a:latin typeface="Arial"/>
                <a:ea typeface="Arial"/>
                <a:cs typeface="Arial"/>
              </a:rPr>
              <a:t>Dataset-matched simulator: MuJoCo 3.2.3</a:t>
            </a:r>
          </a:p>
        </p:txBody>
      </p:sp>
      <p:sp>
        <p:nvSpPr>
          <p:cNvPr id="22" name="">
            <a:extLst xmlns:a="http://schemas.openxmlformats.org/drawingml/2006/main">
              <a:ext uri="{FF2B5EF4-FFF2-40B4-BE49-F238E27FC236}">
                <a16:creationId xmlns:a16="http://schemas.microsoft.com/office/drawing/2014/main" id="{DC42AA95-F550-4C96-8B0D-10E4FFEDC03F}"/>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6 / 8</a:t>
            </a:r>
          </a:p>
        </p:txBody>
      </p:sp>
    </p:spTree>
    <p:extLst>
      <p:ext uri="{BB962C8B-B14F-4D97-AF65-F5344CB8AC3E}">
        <p14:creationId xmlns:p14="http://schemas.microsoft.com/office/powerpoint/2010/main" val="1162204892"/>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F3E441-C42D-496C-BE8C-8285C2F57CBB}"/>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Why this algorithm fits this task</a:t>
            </a:r>
          </a:p>
        </p:txBody>
      </p:sp>
      <p:sp>
        <p:nvSpPr>
          <p:cNvPr id="2" name="">
            <a:extLst xmlns:a="http://schemas.openxmlformats.org/drawingml/2006/main">
              <a:ext uri="{FF2B5EF4-FFF2-40B4-BE49-F238E27FC236}">
                <a16:creationId xmlns:a16="http://schemas.microsoft.com/office/drawing/2014/main" id="{F017FBDC-86A1-4046-802C-3E5638777503}"/>
              </a:ext>
            </a:extLst>
          </p:cNvPr>
          <p:cNvSpPr>
            <a:spLocks xmlns:a="http://schemas.openxmlformats.org/drawingml/2006/main" noGrp="1"/>
          </p:cNvSpPr>
          <p:nvPr/>
        </p:nvSpPr>
        <p:spPr>
          <a:xfrm xmlns:a="http://schemas.openxmlformats.org/drawingml/2006/main">
            <a:off x="609600" y="16859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Continuous torques</a:t>
            </a:r>
          </a:p>
        </p:txBody>
      </p:sp>
      <p:sp>
        <p:nvSpPr>
          <p:cNvPr id="3" name="">
            <a:extLst xmlns:a="http://schemas.openxmlformats.org/drawingml/2006/main">
              <a:ext uri="{FF2B5EF4-FFF2-40B4-BE49-F238E27FC236}">
                <a16:creationId xmlns:a16="http://schemas.microsoft.com/office/drawing/2014/main" id="{4E9625A3-1D80-4C83-B446-1027EE7CAE23}"/>
              </a:ext>
            </a:extLst>
          </p:cNvPr>
          <p:cNvSpPr>
            <a:spLocks xmlns:a="http://schemas.openxmlformats.org/drawingml/2006/main" noGrp="1"/>
          </p:cNvSpPr>
          <p:nvPr/>
        </p:nvSpPr>
        <p:spPr>
          <a:xfrm xmlns:a="http://schemas.openxmlformats.org/drawingml/2006/main">
            <a:off x="5610225" y="1781175"/>
            <a:ext cx="6858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A79B2E-D025-4270-BE66-27D5E074DDBE}"/>
              </a:ext>
            </a:extLst>
          </p:cNvPr>
          <p:cNvSpPr>
            <a:spLocks xmlns:a="http://schemas.openxmlformats.org/drawingml/2006/main" noGrp="1"/>
          </p:cNvSpPr>
          <p:nvPr/>
        </p:nvSpPr>
        <p:spPr>
          <a:xfrm xmlns:a="http://schemas.openxmlformats.org/drawingml/2006/main">
            <a:off x="6762750" y="16859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007F80"/>
                </a:solidFill>
                <a:latin typeface="Arial"/>
                <a:ea typeface="Arial"/>
                <a:cs typeface="Arial"/>
              </a:defRPr>
            </a:defPPr>
          </a:lstStyle>
          <a:p xmlns:a="http://schemas.openxmlformats.org/drawingml/2006/main">
            <a:pPr algn="l">
              <a:defRPr sz="2550" b="1">
                <a:solidFill>
                  <a:srgbClr val="007F80"/>
                </a:solidFill>
                <a:latin typeface="Arial"/>
                <a:ea typeface="Arial"/>
                <a:cs typeface="Arial"/>
              </a:defRPr>
            </a:pPr>
            <a:r>
              <a:rPr sz="2550" b="1">
                <a:solidFill>
                  <a:srgbClr val="007F80"/>
                </a:solidFill>
                <a:latin typeface="Arial"/>
                <a:ea typeface="Arial"/>
                <a:cs typeface="Arial"/>
              </a:rPr>
              <a:t>Continuous actor</a:t>
            </a:r>
          </a:p>
        </p:txBody>
      </p:sp>
      <p:sp>
        <p:nvSpPr>
          <p:cNvPr id="5" name="">
            <a:extLst xmlns:a="http://schemas.openxmlformats.org/drawingml/2006/main">
              <a:ext uri="{FF2B5EF4-FFF2-40B4-BE49-F238E27FC236}">
                <a16:creationId xmlns:a16="http://schemas.microsoft.com/office/drawing/2014/main" id="{2D843AEC-6E82-46C7-8967-B5EE4F34C8AB}"/>
              </a:ext>
            </a:extLst>
          </p:cNvPr>
          <p:cNvSpPr>
            <a:spLocks xmlns:a="http://schemas.openxmlformats.org/drawingml/2006/main" noGrp="1"/>
          </p:cNvSpPr>
          <p:nvPr/>
        </p:nvSpPr>
        <p:spPr>
          <a:xfrm xmlns:a="http://schemas.openxmlformats.org/drawingml/2006/main">
            <a:off x="609600" y="28194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Recorded locomotion</a:t>
            </a:r>
          </a:p>
        </p:txBody>
      </p:sp>
      <p:sp>
        <p:nvSpPr>
          <p:cNvPr id="6" name="">
            <a:extLst xmlns:a="http://schemas.openxmlformats.org/drawingml/2006/main">
              <a:ext uri="{FF2B5EF4-FFF2-40B4-BE49-F238E27FC236}">
                <a16:creationId xmlns:a16="http://schemas.microsoft.com/office/drawing/2014/main" id="{3290C158-CDBE-4235-88B0-A0EFCCEB48A5}"/>
              </a:ext>
            </a:extLst>
          </p:cNvPr>
          <p:cNvSpPr>
            <a:spLocks xmlns:a="http://schemas.openxmlformats.org/drawingml/2006/main" noGrp="1"/>
          </p:cNvSpPr>
          <p:nvPr/>
        </p:nvSpPr>
        <p:spPr>
          <a:xfrm xmlns:a="http://schemas.openxmlformats.org/drawingml/2006/main">
            <a:off x="5610225" y="2914650"/>
            <a:ext cx="6858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6820E3-14A2-470C-9120-9ABB95A0C270}"/>
              </a:ext>
            </a:extLst>
          </p:cNvPr>
          <p:cNvSpPr>
            <a:spLocks xmlns:a="http://schemas.openxmlformats.org/drawingml/2006/main" noGrp="1"/>
          </p:cNvSpPr>
          <p:nvPr/>
        </p:nvSpPr>
        <p:spPr>
          <a:xfrm xmlns:a="http://schemas.openxmlformats.org/drawingml/2006/main">
            <a:off x="6762750" y="28194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007F80"/>
                </a:solidFill>
                <a:latin typeface="Arial"/>
                <a:ea typeface="Arial"/>
                <a:cs typeface="Arial"/>
              </a:defRPr>
            </a:defPPr>
          </a:lstStyle>
          <a:p xmlns:a="http://schemas.openxmlformats.org/drawingml/2006/main">
            <a:pPr algn="l">
              <a:defRPr sz="2550" b="1">
                <a:solidFill>
                  <a:srgbClr val="007F80"/>
                </a:solidFill>
                <a:latin typeface="Arial"/>
                <a:ea typeface="Arial"/>
                <a:cs typeface="Arial"/>
              </a:defRPr>
            </a:pPr>
            <a:r>
              <a:rPr sz="2550" b="1">
                <a:solidFill>
                  <a:srgbClr val="007F80"/>
                </a:solidFill>
                <a:latin typeface="Arial"/>
                <a:ea typeface="Arial"/>
                <a:cs typeface="Arial"/>
              </a:rPr>
              <a:t>Offline learning</a:t>
            </a:r>
          </a:p>
        </p:txBody>
      </p:sp>
      <p:sp>
        <p:nvSpPr>
          <p:cNvPr id="8" name="">
            <a:extLst xmlns:a="http://schemas.openxmlformats.org/drawingml/2006/main">
              <a:ext uri="{FF2B5EF4-FFF2-40B4-BE49-F238E27FC236}">
                <a16:creationId xmlns:a16="http://schemas.microsoft.com/office/drawing/2014/main" id="{C3402D53-CAF5-446F-84EC-CB1BA77EFB9C}"/>
              </a:ext>
            </a:extLst>
          </p:cNvPr>
          <p:cNvSpPr>
            <a:spLocks xmlns:a="http://schemas.openxmlformats.org/drawingml/2006/main" noGrp="1"/>
          </p:cNvSpPr>
          <p:nvPr/>
        </p:nvSpPr>
        <p:spPr>
          <a:xfrm xmlns:a="http://schemas.openxmlformats.org/drawingml/2006/main">
            <a:off x="609600" y="39528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132E40"/>
                </a:solidFill>
                <a:latin typeface="Arial"/>
                <a:ea typeface="Arial"/>
                <a:cs typeface="Arial"/>
              </a:defRPr>
            </a:defPPr>
          </a:lstStyle>
          <a:p xmlns:a="http://schemas.openxmlformats.org/drawingml/2006/main">
            <a:pPr algn="l">
              <a:defRPr sz="2550" b="1">
                <a:solidFill>
                  <a:srgbClr val="132E40"/>
                </a:solidFill>
                <a:latin typeface="Arial"/>
                <a:ea typeface="Arial"/>
                <a:cs typeface="Arial"/>
              </a:defRPr>
            </a:pPr>
            <a:r>
              <a:rPr sz="2550" b="1">
                <a:solidFill>
                  <a:srgbClr val="132E40"/>
                </a:solidFill>
                <a:latin typeface="Arial"/>
                <a:ea typeface="Arial"/>
                <a:cs typeface="Arial"/>
              </a:rPr>
              <a:t>Returns + visible gait</a:t>
            </a:r>
          </a:p>
        </p:txBody>
      </p:sp>
      <p:sp>
        <p:nvSpPr>
          <p:cNvPr id="9" name="">
            <a:extLst xmlns:a="http://schemas.openxmlformats.org/drawingml/2006/main">
              <a:ext uri="{FF2B5EF4-FFF2-40B4-BE49-F238E27FC236}">
                <a16:creationId xmlns:a16="http://schemas.microsoft.com/office/drawing/2014/main" id="{454ECDB7-53EF-4EE1-A6CD-BAF94926CC07}"/>
              </a:ext>
            </a:extLst>
          </p:cNvPr>
          <p:cNvSpPr>
            <a:spLocks xmlns:a="http://schemas.openxmlformats.org/drawingml/2006/main" noGrp="1"/>
          </p:cNvSpPr>
          <p:nvPr/>
        </p:nvSpPr>
        <p:spPr>
          <a:xfrm xmlns:a="http://schemas.openxmlformats.org/drawingml/2006/main">
            <a:off x="5610225" y="4048125"/>
            <a:ext cx="685800" cy="228600"/>
          </a:xfrm>
          <a:prstGeom xmlns:a="http://schemas.openxmlformats.org/drawingml/2006/main" prst="rightArrow">
            <a:avLst/>
          </a:prstGeom>
          <a:solidFill xmlns:a="http://schemas.openxmlformats.org/drawingml/2006/main">
            <a:srgbClr val="007F8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21424AA-C6AF-4BC3-8EBE-1483B561BC54}"/>
              </a:ext>
            </a:extLst>
          </p:cNvPr>
          <p:cNvSpPr>
            <a:spLocks xmlns:a="http://schemas.openxmlformats.org/drawingml/2006/main" noGrp="1"/>
          </p:cNvSpPr>
          <p:nvPr/>
        </p:nvSpPr>
        <p:spPr>
          <a:xfrm xmlns:a="http://schemas.openxmlformats.org/drawingml/2006/main">
            <a:off x="6762750" y="395287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550" b="1">
                <a:solidFill>
                  <a:srgbClr val="007F80"/>
                </a:solidFill>
                <a:latin typeface="Arial"/>
                <a:ea typeface="Arial"/>
                <a:cs typeface="Arial"/>
              </a:defRPr>
            </a:defPPr>
          </a:lstStyle>
          <a:p xmlns:a="http://schemas.openxmlformats.org/drawingml/2006/main">
            <a:pPr algn="l">
              <a:defRPr sz="2550" b="1">
                <a:solidFill>
                  <a:srgbClr val="007F80"/>
                </a:solidFill>
                <a:latin typeface="Arial"/>
                <a:ea typeface="Arial"/>
                <a:cs typeface="Arial"/>
              </a:defRPr>
            </a:pPr>
            <a:r>
              <a:rPr sz="2550" b="1">
                <a:solidFill>
                  <a:srgbClr val="007F80"/>
                </a:solidFill>
                <a:latin typeface="Arial"/>
                <a:ea typeface="Arial"/>
                <a:cs typeface="Arial"/>
              </a:rPr>
              <a:t>Measurable evaluation</a:t>
            </a:r>
          </a:p>
        </p:txBody>
      </p:sp>
      <p:sp>
        <p:nvSpPr>
          <p:cNvPr id="11" name="">
            <a:extLst xmlns:a="http://schemas.openxmlformats.org/drawingml/2006/main">
              <a:ext uri="{FF2B5EF4-FFF2-40B4-BE49-F238E27FC236}">
                <a16:creationId xmlns:a16="http://schemas.microsoft.com/office/drawing/2014/main" id="{461DB77D-8B96-4816-9877-439ECAF4A2A4}"/>
              </a:ext>
            </a:extLst>
          </p:cNvPr>
          <p:cNvSpPr>
            <a:spLocks xmlns:a="http://schemas.openxmlformats.org/drawingml/2006/main" noGrp="1"/>
          </p:cNvSpPr>
          <p:nvPr/>
        </p:nvSpPr>
        <p:spPr>
          <a:xfrm xmlns:a="http://schemas.openxmlformats.org/drawingml/2006/main">
            <a:off x="609600" y="50101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E47F29"/>
                </a:solidFill>
                <a:latin typeface="Arial"/>
                <a:ea typeface="Arial"/>
                <a:cs typeface="Arial"/>
              </a:defRPr>
            </a:defPPr>
          </a:lstStyle>
          <a:p xmlns:a="http://schemas.openxmlformats.org/drawingml/2006/main">
            <a:pPr algn="l">
              <a:defRPr sz="2100" b="1">
                <a:solidFill>
                  <a:srgbClr val="E47F29"/>
                </a:solidFill>
                <a:latin typeface="Arial"/>
                <a:ea typeface="Arial"/>
                <a:cs typeface="Arial"/>
              </a:defRPr>
            </a:pPr>
            <a:r>
              <a:rPr sz="2100" b="1">
                <a:solidFill>
                  <a:srgbClr val="E47F29"/>
                </a:solidFill>
                <a:latin typeface="Arial"/>
                <a:ea typeface="Arial"/>
                <a:cs typeface="Arial"/>
              </a:rPr>
              <a:t>Challenges: data coverage, seed failures, physics differences</a:t>
            </a:r>
          </a:p>
        </p:txBody>
      </p:sp>
      <p:sp>
        <p:nvSpPr>
          <p:cNvPr id="12" name="">
            <a:extLst xmlns:a="http://schemas.openxmlformats.org/drawingml/2006/main">
              <a:ext uri="{FF2B5EF4-FFF2-40B4-BE49-F238E27FC236}">
                <a16:creationId xmlns:a16="http://schemas.microsoft.com/office/drawing/2014/main" id="{C6970212-8A01-4FAC-9E4F-4FF9E2A3A46F}"/>
              </a:ext>
            </a:extLst>
          </p:cNvPr>
          <p:cNvSpPr>
            <a:spLocks xmlns:a="http://schemas.openxmlformats.org/drawingml/2006/main" noGrp="1"/>
          </p:cNvSpPr>
          <p:nvPr/>
        </p:nvSpPr>
        <p:spPr>
          <a:xfrm xmlns:a="http://schemas.openxmlformats.org/drawingml/2006/main">
            <a:off x="609600" y="55340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32E40"/>
                </a:solidFill>
                <a:latin typeface="Arial"/>
                <a:ea typeface="Arial"/>
                <a:cs typeface="Arial"/>
              </a:defRPr>
            </a:defPPr>
          </a:lstStyle>
          <a:p xmlns:a="http://schemas.openxmlformats.org/drawingml/2006/main">
            <a:pPr algn="l">
              <a:defRPr sz="2100" b="0">
                <a:solidFill>
                  <a:srgbClr val="132E40"/>
                </a:solidFill>
                <a:latin typeface="Arial"/>
                <a:ea typeface="Arial"/>
                <a:cs typeface="Arial"/>
              </a:defRPr>
            </a:pPr>
            <a:r>
              <a:rPr sz="2100" b="0">
                <a:solidFill>
                  <a:srgbClr val="132E40"/>
                </a:solidFill>
                <a:latin typeface="Arial"/>
                <a:ea typeface="Arial"/>
                <a:cs typeface="Arial"/>
              </a:rPr>
              <a:t>Multiple seeds, full episodes and pinned dependencies</a:t>
            </a:r>
          </a:p>
        </p:txBody>
      </p:sp>
      <p:sp>
        <p:nvSpPr>
          <p:cNvPr id="13" name="">
            <a:extLst xmlns:a="http://schemas.openxmlformats.org/drawingml/2006/main">
              <a:ext uri="{FF2B5EF4-FFF2-40B4-BE49-F238E27FC236}">
                <a16:creationId xmlns:a16="http://schemas.microsoft.com/office/drawing/2014/main" id="{ED01C02F-C0EB-4810-BBB6-635BAB513AE1}"/>
              </a:ext>
            </a:extLst>
          </p:cNvPr>
          <p:cNvSpPr>
            <a:spLocks xmlns:a="http://schemas.openxmlformats.org/drawingml/2006/main" noGrp="1"/>
          </p:cNvSpPr>
          <p:nvPr/>
        </p:nvSpPr>
        <p:spPr>
          <a:xfrm xmlns:a="http://schemas.openxmlformats.org/drawingml/2006/main">
            <a:off x="609600" y="60198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32E40"/>
                </a:solidFill>
                <a:latin typeface="Arial"/>
                <a:ea typeface="Arial"/>
                <a:cs typeface="Arial"/>
              </a:defRPr>
            </a:defPPr>
          </a:lstStyle>
          <a:p xmlns:a="http://schemas.openxmlformats.org/drawingml/2006/main">
            <a:pPr algn="l">
              <a:defRPr sz="1725" b="0">
                <a:solidFill>
                  <a:srgbClr val="132E40"/>
                </a:solidFill>
                <a:latin typeface="Arial"/>
                <a:ea typeface="Arial"/>
                <a:cs typeface="Arial"/>
              </a:defRPr>
            </a:pPr>
            <a:r>
              <a:rPr sz="1725" b="0">
                <a:solidFill>
                  <a:srgbClr val="132E40"/>
                </a:solidFill>
                <a:latin typeface="Arial"/>
                <a:ea typeface="Arial"/>
                <a:cs typeface="Arial"/>
              </a:rPr>
              <a:t>Aleksandr: integration   Nikita: data   Leo: IQL</a:t>
            </a:r>
          </a:p>
          <a:p xmlns:a="http://schemas.openxmlformats.org/drawingml/2006/main">
            <a:pPr algn="l">
              <a:defRPr sz="1725" b="0">
                <a:solidFill>
                  <a:srgbClr val="132E40"/>
                </a:solidFill>
                <a:latin typeface="Arial"/>
                <a:ea typeface="Arial"/>
                <a:cs typeface="Arial"/>
              </a:defRPr>
            </a:pPr>
            <a:r>
              <a:rPr sz="1725" b="0">
                <a:solidFill>
                  <a:srgbClr val="132E40"/>
                </a:solidFill>
                <a:latin typeface="Arial"/>
                <a:ea typeface="Arial"/>
                <a:cs typeface="Arial"/>
              </a:rPr>
              <a:t>Ruslan: evaluation   Telman: notebook and presentation</a:t>
            </a:r>
          </a:p>
        </p:txBody>
      </p:sp>
      <p:sp>
        <p:nvSpPr>
          <p:cNvPr id="14" name="">
            <a:extLst xmlns:a="http://schemas.openxmlformats.org/drawingml/2006/main">
              <a:ext uri="{FF2B5EF4-FFF2-40B4-BE49-F238E27FC236}">
                <a16:creationId xmlns:a16="http://schemas.microsoft.com/office/drawing/2014/main" id="{C9593324-1983-4551-A814-A188BED5AB48}"/>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7 / 8</a:t>
            </a:r>
          </a:p>
        </p:txBody>
      </p:sp>
    </p:spTree>
    <p:extLst>
      <p:ext uri="{BB962C8B-B14F-4D97-AF65-F5344CB8AC3E}">
        <p14:creationId xmlns:p14="http://schemas.microsoft.com/office/powerpoint/2010/main" val="460821824"/>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0EDEEB-90EE-4248-B1BC-D88E8FD41BB8}"/>
              </a:ext>
            </a:extLst>
          </p:cNvPr>
          <p:cNvSpPr>
            <a:spLocks xmlns:a="http://schemas.openxmlformats.org/drawingml/2006/main" noGrp="1"/>
          </p:cNvSpPr>
          <p:nvPr/>
        </p:nvSpPr>
        <p:spPr>
          <a:xfrm xmlns:a="http://schemas.openxmlformats.org/drawingml/2006/main">
            <a:off x="609600" y="4572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450" b="1">
                <a:solidFill>
                  <a:srgbClr val="132E40"/>
                </a:solidFill>
                <a:latin typeface="Arial"/>
                <a:ea typeface="Arial"/>
                <a:cs typeface="Arial"/>
              </a:defRPr>
            </a:defPPr>
          </a:lstStyle>
          <a:p xmlns:a="http://schemas.openxmlformats.org/drawingml/2006/main">
            <a:pPr algn="l">
              <a:defRPr sz="3450" b="1">
                <a:solidFill>
                  <a:srgbClr val="132E40"/>
                </a:solidFill>
                <a:latin typeface="Arial"/>
                <a:ea typeface="Arial"/>
                <a:cs typeface="Arial"/>
              </a:defRPr>
            </a:pPr>
            <a:r>
              <a:rPr sz="3450" b="1">
                <a:solidFill>
                  <a:srgbClr val="132E40"/>
                </a:solidFill>
                <a:latin typeface="Arial"/>
                <a:ea typeface="Arial"/>
                <a:cs typeface="Arial"/>
              </a:rPr>
              <a:t>Learning progress and final test</a:t>
            </a:r>
          </a:p>
        </p:txBody>
      </p:sp>
      <p:graphicFrame>
        <p:nvGraphicFramePr>
          <p:cNvPr id="2" name="Chart">
            <a:extLst xmlns:a="http://schemas.openxmlformats.org/drawingml/2006/main">
              <a:ext uri="{FF2B5EF4-FFF2-40B4-BE49-F238E27FC236}">
                <a16:creationId xmlns:a16="http://schemas.microsoft.com/office/drawing/2014/main" id="{99D6F153-064D-4B20-9FE3-31503DD5E876}"/>
              </a:ext>
            </a:extLst>
          </p:cNvPr>
          <p:cNvGraphicFramePr/>
          <p:nvPr/>
        </p:nvGraphicFramePr>
        <p:xfrm>
          <a:off xmlns:a="http://schemas.openxmlformats.org/drawingml/2006/main" x="400050" y="1552575"/>
          <a:ext xmlns:a="http://schemas.openxmlformats.org/drawingml/2006/main" cx="7620000" cy="4210050"/>
        </p:xfrm>
        <a:graphic xmlns:a="http://schemas.openxmlformats.org/drawingml/2006/main">
          <a:graphicData uri="http://schemas.openxmlformats.org/drawingml/2006/chart">
            <c:chart xmlns:r="http://schemas.openxmlformats.org/officeDocument/2006/relationships" xmlns:c="http://schemas.openxmlformats.org/drawingml/2006/chart" r:id="R305b737795b846ec"/>
          </a:graphicData>
        </a:graphic>
      </p:graphicFrame>
      <p:sp>
        <p:nvSpPr>
          <p:cNvPr id="3" name="">
            <a:extLst xmlns:a="http://schemas.openxmlformats.org/drawingml/2006/main">
              <a:ext uri="{FF2B5EF4-FFF2-40B4-BE49-F238E27FC236}">
                <a16:creationId xmlns:a16="http://schemas.microsoft.com/office/drawing/2014/main" id="{AAEE9B92-6CDD-4B2E-B4AD-EF61590B3987}"/>
              </a:ext>
            </a:extLst>
          </p:cNvPr>
          <p:cNvSpPr>
            <a:spLocks xmlns:a="http://schemas.openxmlformats.org/drawingml/2006/main" noGrp="1"/>
          </p:cNvSpPr>
          <p:nvPr/>
        </p:nvSpPr>
        <p:spPr>
          <a:xfrm xmlns:a="http://schemas.openxmlformats.org/drawingml/2006/main">
            <a:off x="8534400" y="180975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250" b="1">
                <a:solidFill>
                  <a:srgbClr val="007F80"/>
                </a:solidFill>
                <a:latin typeface="Arial"/>
                <a:ea typeface="Arial"/>
                <a:cs typeface="Arial"/>
              </a:defRPr>
            </a:defPPr>
          </a:lstStyle>
          <a:p xmlns:a="http://schemas.openxmlformats.org/drawingml/2006/main">
            <a:pPr algn="l">
              <a:defRPr sz="5250" b="1">
                <a:solidFill>
                  <a:srgbClr val="007F80"/>
                </a:solidFill>
                <a:latin typeface="Arial"/>
                <a:ea typeface="Arial"/>
                <a:cs typeface="Arial"/>
              </a:defRPr>
            </a:pPr>
            <a:r>
              <a:rPr sz="5250" b="1">
                <a:solidFill>
                  <a:srgbClr val="007F80"/>
                </a:solidFill>
                <a:latin typeface="Arial"/>
                <a:ea typeface="Arial"/>
                <a:cs typeface="Arial"/>
              </a:rPr>
              <a:t>15,260</a:t>
            </a:r>
          </a:p>
        </p:txBody>
      </p:sp>
      <p:sp>
        <p:nvSpPr>
          <p:cNvPr id="4" name="">
            <a:extLst xmlns:a="http://schemas.openxmlformats.org/drawingml/2006/main">
              <a:ext uri="{FF2B5EF4-FFF2-40B4-BE49-F238E27FC236}">
                <a16:creationId xmlns:a16="http://schemas.microsoft.com/office/drawing/2014/main" id="{06FF584D-3250-45F8-BFD9-E2069D2FF67B}"/>
              </a:ext>
            </a:extLst>
          </p:cNvPr>
          <p:cNvSpPr>
            <a:spLocks xmlns:a="http://schemas.openxmlformats.org/drawingml/2006/main" noGrp="1"/>
          </p:cNvSpPr>
          <p:nvPr/>
        </p:nvSpPr>
        <p:spPr>
          <a:xfrm xmlns:a="http://schemas.openxmlformats.org/drawingml/2006/main">
            <a:off x="8534400" y="2667000"/>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final-test mean, 500k</a:t>
            </a:r>
          </a:p>
        </p:txBody>
      </p:sp>
      <p:sp>
        <p:nvSpPr>
          <p:cNvPr id="5" name="">
            <a:extLst xmlns:a="http://schemas.openxmlformats.org/drawingml/2006/main">
              <a:ext uri="{FF2B5EF4-FFF2-40B4-BE49-F238E27FC236}">
                <a16:creationId xmlns:a16="http://schemas.microsoft.com/office/drawing/2014/main" id="{9744ECF3-DAAF-423E-B679-FD01C3294F94}"/>
              </a:ext>
            </a:extLst>
          </p:cNvPr>
          <p:cNvSpPr>
            <a:spLocks xmlns:a="http://schemas.openxmlformats.org/drawingml/2006/main" noGrp="1"/>
          </p:cNvSpPr>
          <p:nvPr/>
        </p:nvSpPr>
        <p:spPr>
          <a:xfrm xmlns:a="http://schemas.openxmlformats.org/drawingml/2006/main">
            <a:off x="8534400" y="340995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6D8190"/>
                </a:solidFill>
                <a:latin typeface="Arial"/>
                <a:ea typeface="Arial"/>
                <a:cs typeface="Arial"/>
              </a:defRPr>
            </a:defPPr>
          </a:lstStyle>
          <a:p xmlns:a="http://schemas.openxmlformats.org/drawingml/2006/main">
            <a:pPr algn="l">
              <a:defRPr sz="2100" b="0">
                <a:solidFill>
                  <a:srgbClr val="6D8190"/>
                </a:solidFill>
                <a:latin typeface="Arial"/>
                <a:ea typeface="Arial"/>
                <a:cs typeface="Arial"/>
              </a:defRPr>
            </a:pPr>
            <a:r>
              <a:rPr sz="2100" b="0">
                <a:solidFill>
                  <a:srgbClr val="6D8190"/>
                </a:solidFill>
                <a:latin typeface="Arial"/>
                <a:ea typeface="Arial"/>
                <a:cs typeface="Arial"/>
              </a:rPr>
              <a:t>vs 2,026 at 100k</a:t>
            </a:r>
          </a:p>
        </p:txBody>
      </p:sp>
      <p:sp>
        <p:nvSpPr>
          <p:cNvPr id="6" name="">
            <a:extLst xmlns:a="http://schemas.openxmlformats.org/drawingml/2006/main">
              <a:ext uri="{FF2B5EF4-FFF2-40B4-BE49-F238E27FC236}">
                <a16:creationId xmlns:a16="http://schemas.microsoft.com/office/drawing/2014/main" id="{BA0644A2-8BFD-4818-8979-5E48FB5604EE}"/>
              </a:ext>
            </a:extLst>
          </p:cNvPr>
          <p:cNvSpPr>
            <a:spLocks xmlns:a="http://schemas.openxmlformats.org/drawingml/2006/main" noGrp="1"/>
          </p:cNvSpPr>
          <p:nvPr/>
        </p:nvSpPr>
        <p:spPr>
          <a:xfrm xmlns:a="http://schemas.openxmlformats.org/drawingml/2006/main">
            <a:off x="8258175" y="4229100"/>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225" b="1">
                <a:solidFill>
                  <a:srgbClr val="007F80"/>
                </a:solidFill>
                <a:latin typeface="Arial"/>
                <a:ea typeface="Arial"/>
                <a:cs typeface="Arial"/>
              </a:defRPr>
            </a:defPPr>
          </a:lstStyle>
          <a:p xmlns:a="http://schemas.openxmlformats.org/drawingml/2006/main">
            <a:pPr algn="l">
              <a:defRPr sz="3225" b="1">
                <a:solidFill>
                  <a:srgbClr val="007F80"/>
                </a:solidFill>
                <a:latin typeface="Arial"/>
                <a:ea typeface="Arial"/>
                <a:cs typeface="Arial"/>
              </a:defRPr>
            </a:pPr>
            <a:r>
              <a:rPr sz="3225" b="1">
                <a:solidFill>
                  <a:srgbClr val="007F80"/>
                </a:solidFill>
                <a:latin typeface="Arial"/>
                <a:ea typeface="Arial"/>
                <a:cs typeface="Arial"/>
              </a:rPr>
              <a:t>10/10 → 0/10</a:t>
            </a:r>
          </a:p>
        </p:txBody>
      </p:sp>
      <p:sp>
        <p:nvSpPr>
          <p:cNvPr id="7" name="">
            <a:extLst xmlns:a="http://schemas.openxmlformats.org/drawingml/2006/main">
              <a:ext uri="{FF2B5EF4-FFF2-40B4-BE49-F238E27FC236}">
                <a16:creationId xmlns:a16="http://schemas.microsoft.com/office/drawing/2014/main" id="{DECE21AC-0361-4AE9-BDD9-24464051B22C}"/>
              </a:ext>
            </a:extLst>
          </p:cNvPr>
          <p:cNvSpPr>
            <a:spLocks xmlns:a="http://schemas.openxmlformats.org/drawingml/2006/main" noGrp="1"/>
          </p:cNvSpPr>
          <p:nvPr/>
        </p:nvSpPr>
        <p:spPr>
          <a:xfrm xmlns:a="http://schemas.openxmlformats.org/drawingml/2006/main">
            <a:off x="8534400" y="4867275"/>
            <a:ext cx="3000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132E40"/>
                </a:solidFill>
                <a:latin typeface="Arial"/>
                <a:ea typeface="Arial"/>
                <a:cs typeface="Arial"/>
              </a:defRPr>
            </a:defPPr>
          </a:lstStyle>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episodes with long</a:t>
            </a:r>
          </a:p>
          <a:p xmlns:a="http://schemas.openxmlformats.org/drawingml/2006/main">
            <a:pPr algn="l">
              <a:defRPr sz="1950" b="0">
                <a:solidFill>
                  <a:srgbClr val="132E40"/>
                </a:solidFill>
                <a:latin typeface="Arial"/>
                <a:ea typeface="Arial"/>
                <a:cs typeface="Arial"/>
              </a:defRPr>
            </a:pPr>
            <a:r>
              <a:rPr sz="1950" b="0">
                <a:solidFill>
                  <a:srgbClr val="132E40"/>
                </a:solidFill>
                <a:latin typeface="Arial"/>
                <a:ea typeface="Arial"/>
                <a:cs typeface="Arial"/>
              </a:rPr>
              <a:t>stationary tails</a:t>
            </a:r>
          </a:p>
        </p:txBody>
      </p:sp>
      <p:sp>
        <p:nvSpPr>
          <p:cNvPr id="8" name="">
            <a:extLst xmlns:a="http://schemas.openxmlformats.org/drawingml/2006/main">
              <a:ext uri="{FF2B5EF4-FFF2-40B4-BE49-F238E27FC236}">
                <a16:creationId xmlns:a16="http://schemas.microsoft.com/office/drawing/2014/main" id="{A4F6E6E5-1C89-4A17-9756-020E5AE62AC4}"/>
              </a:ext>
            </a:extLst>
          </p:cNvPr>
          <p:cNvSpPr>
            <a:spLocks xmlns:a="http://schemas.openxmlformats.org/drawingml/2006/main" noGrp="1"/>
          </p:cNvSpPr>
          <p:nvPr/>
        </p:nvSpPr>
        <p:spPr>
          <a:xfrm xmlns:a="http://schemas.openxmlformats.org/drawingml/2006/main">
            <a:off x="609600" y="58674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6D8190"/>
                </a:solidFill>
                <a:latin typeface="Arial"/>
                <a:ea typeface="Arial"/>
                <a:cs typeface="Arial"/>
              </a:defRPr>
            </a:defPPr>
          </a:lstStyle>
          <a:p xmlns:a="http://schemas.openxmlformats.org/drawingml/2006/main">
            <a:pPr algn="l">
              <a:defRPr sz="1725" b="0">
                <a:solidFill>
                  <a:srgbClr val="6D8190"/>
                </a:solidFill>
                <a:latin typeface="Arial"/>
                <a:ea typeface="Arial"/>
                <a:cs typeface="Arial"/>
              </a:defRPr>
            </a:pPr>
            <a:r>
              <a:rPr sz="1725" b="0">
                <a:solidFill>
                  <a:srgbClr val="6D8190"/>
                </a:solidFill>
                <a:latin typeface="Arial"/>
                <a:ea typeface="Arial"/>
                <a:cs typeface="Arial"/>
              </a:rPr>
              <a:t>Means only: 10 episodes per point. Colab, MuJoCo 3.2.3.</a:t>
            </a:r>
          </a:p>
        </p:txBody>
      </p:sp>
      <p:sp>
        <p:nvSpPr>
          <p:cNvPr id="9" name="">
            <a:extLst xmlns:a="http://schemas.openxmlformats.org/drawingml/2006/main">
              <a:ext uri="{FF2B5EF4-FFF2-40B4-BE49-F238E27FC236}">
                <a16:creationId xmlns:a16="http://schemas.microsoft.com/office/drawing/2014/main" id="{DE23A003-03EF-4EAC-956C-FC17AD435D56}"/>
              </a:ext>
            </a:extLst>
          </p:cNvPr>
          <p:cNvSpPr>
            <a:spLocks xmlns:a="http://schemas.openxmlformats.org/drawingml/2006/main" noGrp="1"/>
          </p:cNvSpPr>
          <p:nvPr/>
        </p:nvSpPr>
        <p:spPr>
          <a:xfrm xmlns:a="http://schemas.openxmlformats.org/drawingml/2006/main">
            <a:off x="609600" y="6210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E47F29"/>
                </a:solidFill>
                <a:latin typeface="Arial"/>
                <a:ea typeface="Arial"/>
                <a:cs typeface="Arial"/>
              </a:defRPr>
            </a:defPPr>
          </a:lstStyle>
          <a:p xmlns:a="http://schemas.openxmlformats.org/drawingml/2006/main">
            <a:pPr algn="l">
              <a:defRPr sz="1725" b="1">
                <a:solidFill>
                  <a:srgbClr val="E47F29"/>
                </a:solidFill>
                <a:latin typeface="Arial"/>
                <a:ea typeface="Arial"/>
                <a:cs typeface="Arial"/>
              </a:defRPr>
            </a:pPr>
            <a:r>
              <a:rPr sz="1725" b="1">
                <a:solidFill>
                  <a:srgbClr val="E47F29"/>
                </a:solidFill>
                <a:latin typeface="Arial"/>
                <a:ea typeface="Arial"/>
                <a:cs typeface="Arial"/>
              </a:rPr>
              <a:t>Final test: seed 1, 10 new episodes. Other training seeds still fail.</a:t>
            </a:r>
          </a:p>
        </p:txBody>
      </p:sp>
      <p:sp>
        <p:nvSpPr>
          <p:cNvPr id="10" name="">
            <a:extLst xmlns:a="http://schemas.openxmlformats.org/drawingml/2006/main">
              <a:ext uri="{FF2B5EF4-FFF2-40B4-BE49-F238E27FC236}">
                <a16:creationId xmlns:a16="http://schemas.microsoft.com/office/drawing/2014/main" id="{8467E24D-BBDB-4398-B3E4-7B63AF2EA914}"/>
              </a:ext>
            </a:extLst>
          </p:cNvPr>
          <p:cNvSpPr>
            <a:spLocks xmlns:a="http://schemas.openxmlformats.org/drawingml/2006/main" noGrp="1"/>
          </p:cNvSpPr>
          <p:nvPr/>
        </p:nvSpPr>
        <p:spPr>
          <a:xfrm xmlns:a="http://schemas.openxmlformats.org/drawingml/2006/main">
            <a:off x="11077575" y="64579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6D8190"/>
                </a:solidFill>
                <a:latin typeface="Arial"/>
                <a:ea typeface="Arial"/>
                <a:cs typeface="Arial"/>
              </a:defRPr>
            </a:defPPr>
          </a:lstStyle>
          <a:p xmlns:a="http://schemas.openxmlformats.org/drawingml/2006/main">
            <a:pPr algn="l">
              <a:defRPr sz="1350" b="0">
                <a:solidFill>
                  <a:srgbClr val="6D8190"/>
                </a:solidFill>
                <a:latin typeface="Arial"/>
                <a:ea typeface="Arial"/>
                <a:cs typeface="Arial"/>
              </a:defRPr>
            </a:pPr>
            <a:r>
              <a:rPr sz="1350" b="0">
                <a:solidFill>
                  <a:srgbClr val="6D8190"/>
                </a:solidFill>
                <a:latin typeface="Arial"/>
                <a:ea typeface="Arial"/>
                <a:cs typeface="Arial"/>
              </a:rPr>
              <a:t>8 / 8</a:t>
            </a:r>
          </a:p>
        </p:txBody>
      </p:sp>
    </p:spTree>
    <p:extLst>
      <p:ext uri="{BB962C8B-B14F-4D97-AF65-F5344CB8AC3E}">
        <p14:creationId xmlns:p14="http://schemas.microsoft.com/office/powerpoint/2010/main" val="419985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2026-10-12T18:30:19.3950000Z</dcterms:created>
  <dcterms:modified xsi:type="dcterms:W3CDTF">2026-10-12T18:30:19.3950000Z</dcterms:modified>
</coreProperties>
</file>