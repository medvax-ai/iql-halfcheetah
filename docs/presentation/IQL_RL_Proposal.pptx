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2.xml" ContentType="application/vnd.openxmlformats-officedocument.drawingml.chart+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1aae37117644f4f" /><Relationship Type="http://schemas.openxmlformats.org/officeDocument/2006/relationships/extended-properties" Target="/docProps/app.xml" Id="Rdf1606ed04f54cf1" /><Relationship Type="http://schemas.openxmlformats.org/officeDocument/2006/relationships/officeDocument" Target="/ppt/presentation.xml" Id="R43ddc4de06ea45f1" /></Relationships>
</file>

<file path=ppt/presentation.xml><?xml version="1.0" encoding="utf-8"?>
<p:presentation xmlns:p="http://schemas.openxmlformats.org/presentationml/2006/main">
  <p:sldMasterIdLst>
    <p:sldMasterId xmlns:r="http://schemas.openxmlformats.org/officeDocument/2006/relationships" id="2147483648" r:id="R9946309e98e747a0"/>
  </p:sldMasterIdLst>
  <p:notesMasterIdLst>
    <p:notesMasterId xmlns:r="http://schemas.openxmlformats.org/officeDocument/2006/relationships" r:id="R0b2a2052db9a443f"/>
  </p:notesMasterIdLst>
  <p:sldIdLst>
    <p:sldId xmlns:r="http://schemas.openxmlformats.org/officeDocument/2006/relationships" id="256" r:id="R0529778ecaa44248"/>
    <p:sldId xmlns:r="http://schemas.openxmlformats.org/officeDocument/2006/relationships" id="257" r:id="R61fdd1cd922944e2"/>
    <p:sldId xmlns:r="http://schemas.openxmlformats.org/officeDocument/2006/relationships" id="258" r:id="Ree158b500aca47c1"/>
    <p:sldId xmlns:r="http://schemas.openxmlformats.org/officeDocument/2006/relationships" id="259" r:id="R7aa1096e09744b45"/>
    <p:sldId xmlns:r="http://schemas.openxmlformats.org/officeDocument/2006/relationships" id="260" r:id="Rc71333f686454841"/>
    <p:sldId xmlns:r="http://schemas.openxmlformats.org/officeDocument/2006/relationships" id="261" r:id="R3bc3ec5d50b34326"/>
    <p:sldId xmlns:r="http://schemas.openxmlformats.org/officeDocument/2006/relationships" id="262" r:id="R013ad991bd924b3b"/>
    <p:sldId xmlns:r="http://schemas.openxmlformats.org/officeDocument/2006/relationships" id="263" r:id="Rf1c7cce5282f415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af90e79c58841c9" /><Relationship Type="http://schemas.openxmlformats.org/officeDocument/2006/relationships/slideMaster" Target="/ppt/slideMasters/slideMaster1.xml" Id="R9946309e98e747a0" /><Relationship Type="http://schemas.openxmlformats.org/officeDocument/2006/relationships/notesMaster" Target="/ppt/notesMasters/notesMaster1.xml" Id="R0b2a2052db9a443f" /><Relationship Type="http://schemas.openxmlformats.org/officeDocument/2006/relationships/presProps" Target="/ppt/presProps.xml" Id="R2db10329352e4bf7" /><Relationship Type="http://schemas.openxmlformats.org/officeDocument/2006/relationships/tableStyles" Target="/ppt/tableStyles.xml" Id="Rc885f690c3644366" /><Relationship Type="http://schemas.openxmlformats.org/officeDocument/2006/relationships/slide" Target="/ppt/slides/slide1.xml" Id="R0529778ecaa44248" /><Relationship Type="http://schemas.openxmlformats.org/officeDocument/2006/relationships/slide" Target="/ppt/slides/slide2.xml" Id="R61fdd1cd922944e2" /><Relationship Type="http://schemas.openxmlformats.org/officeDocument/2006/relationships/slide" Target="/ppt/slides/slide3.xml" Id="Ree158b500aca47c1" /><Relationship Type="http://schemas.openxmlformats.org/officeDocument/2006/relationships/slide" Target="/ppt/slides/slide4.xml" Id="R7aa1096e09744b45" /><Relationship Type="http://schemas.openxmlformats.org/officeDocument/2006/relationships/slide" Target="/ppt/slides/slide5.xml" Id="Rc71333f686454841" /><Relationship Type="http://schemas.openxmlformats.org/officeDocument/2006/relationships/slide" Target="/ppt/slides/slide6.xml" Id="R3bc3ec5d50b34326" /><Relationship Type="http://schemas.openxmlformats.org/officeDocument/2006/relationships/slide" Target="/ppt/slides/slide7.xml" Id="R013ad991bd924b3b" /><Relationship Type="http://schemas.openxmlformats.org/officeDocument/2006/relationships/slide" Target="/ppt/slides/slide8.xml" Id="Rf1c7cce5282f415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8d15e827def479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988b9f2156e4995" /><Relationship Type="http://schemas.openxmlformats.org/officeDocument/2006/relationships/notesMaster" Target="/ppt/notesMasters/notesMaster1.xml" Id="Rdbfcbfecbf6f42c6" /></Relationships>
</file>

<file path=ppt/notesSlides/_rels/notesSlide2.xml.rels>&#65279;<?xml version="1.0" encoding="utf-8"?><Relationships xmlns="http://schemas.openxmlformats.org/package/2006/relationships"><Relationship Type="http://schemas.openxmlformats.org/officeDocument/2006/relationships/slide" Target="/ppt/slides/slide2.xml" Id="R8eb9141a1afd4cbe" /><Relationship Type="http://schemas.openxmlformats.org/officeDocument/2006/relationships/notesMaster" Target="/ppt/notesMasters/notesMaster1.xml" Id="R551ca95b88a7413d" /></Relationships>
</file>

<file path=ppt/notesSlides/_rels/notesSlide3.xml.rels>&#65279;<?xml version="1.0" encoding="utf-8"?><Relationships xmlns="http://schemas.openxmlformats.org/package/2006/relationships"><Relationship Type="http://schemas.openxmlformats.org/officeDocument/2006/relationships/slide" Target="/ppt/slides/slide3.xml" Id="R1edeca08ccec429d" /><Relationship Type="http://schemas.openxmlformats.org/officeDocument/2006/relationships/notesMaster" Target="/ppt/notesMasters/notesMaster1.xml" Id="R8a9f7ebb57c34a0a" /></Relationships>
</file>

<file path=ppt/notesSlides/_rels/notesSlide4.xml.rels>&#65279;<?xml version="1.0" encoding="utf-8"?><Relationships xmlns="http://schemas.openxmlformats.org/package/2006/relationships"><Relationship Type="http://schemas.openxmlformats.org/officeDocument/2006/relationships/slide" Target="/ppt/slides/slide4.xml" Id="R804ea878f95343b9" /><Relationship Type="http://schemas.openxmlformats.org/officeDocument/2006/relationships/notesMaster" Target="/ppt/notesMasters/notesMaster1.xml" Id="R86560a1489714036" /></Relationships>
</file>

<file path=ppt/notesSlides/_rels/notesSlide5.xml.rels>&#65279;<?xml version="1.0" encoding="utf-8"?><Relationships xmlns="http://schemas.openxmlformats.org/package/2006/relationships"><Relationship Type="http://schemas.openxmlformats.org/officeDocument/2006/relationships/slide" Target="/ppt/slides/slide5.xml" Id="Ra11b305f19b74606" /><Relationship Type="http://schemas.openxmlformats.org/officeDocument/2006/relationships/notesMaster" Target="/ppt/notesMasters/notesMaster1.xml" Id="Rcab77dd4ec834379" /></Relationships>
</file>

<file path=ppt/notesSlides/_rels/notesSlide6.xml.rels>&#65279;<?xml version="1.0" encoding="utf-8"?><Relationships xmlns="http://schemas.openxmlformats.org/package/2006/relationships"><Relationship Type="http://schemas.openxmlformats.org/officeDocument/2006/relationships/slide" Target="/ppt/slides/slide6.xml" Id="Ra33455eae72f4fc2" /><Relationship Type="http://schemas.openxmlformats.org/officeDocument/2006/relationships/notesMaster" Target="/ppt/notesMasters/notesMaster1.xml" Id="R6db9925d2e234175" /></Relationships>
</file>

<file path=ppt/notesSlides/_rels/notesSlide7.xml.rels>&#65279;<?xml version="1.0" encoding="utf-8"?><Relationships xmlns="http://schemas.openxmlformats.org/package/2006/relationships"><Relationship Type="http://schemas.openxmlformats.org/officeDocument/2006/relationships/slide" Target="/ppt/slides/slide7.xml" Id="Rda71858de9e6496d" /><Relationship Type="http://schemas.openxmlformats.org/officeDocument/2006/relationships/notesMaster" Target="/ppt/notesMasters/notesMaster1.xml" Id="R334fb045c407456a" /></Relationships>
</file>

<file path=ppt/notesSlides/_rels/notesSlide8.xml.rels>&#65279;<?xml version="1.0" encoding="utf-8"?><Relationships xmlns="http://schemas.openxmlformats.org/package/2006/relationships"><Relationship Type="http://schemas.openxmlformats.org/officeDocument/2006/relationships/slide" Target="/ppt/slides/slide8.xml" Id="R111652d4ba4d4460" /><Relationship Type="http://schemas.openxmlformats.org/officeDocument/2006/relationships/notesMaster" Target="/ppt/notesMasters/notesMaster1.xml" Id="R5727bde8c51243d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0:00-0:10</a:t>
            </a:r>
          </a:p>
          <a:p xmlns:a="http://schemas.openxmlformats.org/drawingml/2006/main">
            <a:r>
              <a:t/>
            </a:r>
          </a:p>
          <a:p xmlns:a="http://schemas.openxmlformats.org/drawingml/2006/main">
            <a:r>
              <a:t>Our project uses Implicit Q-Learning to teach HalfCheetah efficient locomotion from recorded data.</a:t>
            </a:r>
          </a:p>
          <a:p xmlns:a="http://schemas.openxmlformats.org/drawingml/2006/main">
            <a:r>
              <a:t/>
            </a:r>
          </a:p>
          <a:p xmlns:a="http://schemas.openxmlformats.org/drawingml/2006/main">
            <a:r>
              <a:t>Sources: [1], [4].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0:10-0:45</a:t>
            </a:r>
          </a:p>
          <a:p xmlns:a="http://schemas.openxmlformats.org/drawingml/2006/main">
            <a:r>
              <a:t/>
            </a:r>
          </a:p>
          <a:p xmlns:a="http://schemas.openxmlformats.org/drawingml/2006/main">
            <a:r>
              <a:t>IQL is offline, model-free actor-critic learning. It trains on fixed transitions, then gives better recorded actions more weight when fitting the policy. The actor outputs six continuous torques. Simulator rollouts evaluate the learned policy, without collecting new training data.</a:t>
            </a:r>
          </a:p>
          <a:p xmlns:a="http://schemas.openxmlformats.org/drawingml/2006/main">
            <a:r>
              <a:t/>
            </a:r>
          </a:p>
          <a:p xmlns:a="http://schemas.openxmlformats.org/drawingml/2006/main">
            <a:r>
              <a:t>Sources: [1].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0:45-1:30</a:t>
            </a:r>
          </a:p>
          <a:p xmlns:a="http://schemas.openxmlformats.org/drawingml/2006/main">
            <a:r>
              <a:t/>
            </a:r>
          </a:p>
          <a:p xmlns:a="http://schemas.openxmlformats.org/drawingml/2006/main">
            <a:r>
              <a:t>IQL updates three components. The value network uses expectile 0.7 to favor stronger recorded actions. Twin critics fit reward plus discounted next-state value, with discount 0.99. The actor imitates actions using advantage weights, capped at 100. Advantage is minimum target Q minus V. The weight uses inverse temperature 3. A tanh-squashed Gaussian keeps actions bounded.</a:t>
            </a:r>
          </a:p>
          <a:p xmlns:a="http://schemas.openxmlformats.org/drawingml/2006/main">
            <a:r>
              <a:t/>
            </a:r>
          </a:p>
          <a:p xmlns:a="http://schemas.openxmlformats.org/drawingml/2006/main">
            <a:r>
              <a:t>Sources: [1], [3].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1:30-2:30</a:t>
            </a:r>
          </a:p>
          <a:p xmlns:a="http://schemas.openxmlformats.org/drawingml/2006/main">
            <a:r>
              <a:t/>
            </a:r>
          </a:p>
          <a:p xmlns:a="http://schemas.openxmlformats.org/drawingml/2006/main">
            <a:r>
              <a:t>HalfCheetah-v5 is a two-dimensional locomotion task in Gymnasium and MuJoCo. Its 17 observations contain eight pose values and nine velocities. Absolute horizontal position is excluded. Six actions control the thigh, shin and foot on both legs. Each torque lies between minus one and one. The agent must coordinate these joints into a sustained forward gait.</a:t>
            </a:r>
          </a:p>
          <a:p xmlns:a="http://schemas.openxmlformats.org/drawingml/2006/main">
            <a:r>
              <a:t/>
            </a:r>
          </a:p>
          <a:p xmlns:a="http://schemas.openxmlformats.org/drawingml/2006/main">
            <a:r>
              <a:t>Sources: [2], [4].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2:30-3:30</a:t>
            </a:r>
          </a:p>
          <a:p xmlns:a="http://schemas.openxmlformats.org/drawingml/2006/main">
            <a:r>
              <a:t/>
            </a:r>
          </a:p>
          <a:p xmlns:a="http://schemas.openxmlformats.org/drawingml/2006/main">
            <a:r>
              <a:t>Reward is forward velocity minus 0.1 times squared action effort. In this example, speed contributes 5 and control costs 0.15, giving 4.85 reward. The goal is efficient, sustained forward motion. A fall does not end HalfCheetah: the episode lasts 1,000 steps, about 50 simulated seconds. Time-limit truncation preserves next-state value bootstrapping. We inspect complete episodes to detect falls and stalls.</a:t>
            </a:r>
          </a:p>
          <a:p xmlns:a="http://schemas.openxmlformats.org/drawingml/2006/main">
            <a:r>
              <a:t/>
            </a:r>
          </a:p>
          <a:p xmlns:a="http://schemas.openxmlformats.org/drawingml/2006/main">
            <a:r>
              <a:t>Sources: [2], [3].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3:30-3:50</a:t>
            </a:r>
          </a:p>
          <a:p xmlns:a="http://schemas.openxmlformats.org/drawingml/2006/main">
            <a:r>
              <a:t/>
            </a:r>
          </a:p>
          <a:p xmlns:a="http://schemas.openxmlformats.org/drawingml/2006/main">
            <a:r>
              <a:t>We use one million Minari transitions. Three training seeds receive 500k updates each. Checkpoints use ten evaluation episodes and a random baseline. The selected policy then uses separate final-test seeds. We retain full videos and pin MuJoCo 3.2.3 for reproducibility.</a:t>
            </a:r>
          </a:p>
          <a:p xmlns:a="http://schemas.openxmlformats.org/drawingml/2006/main">
            <a:r>
              <a:t/>
            </a:r>
          </a:p>
          <a:p xmlns:a="http://schemas.openxmlformats.org/drawingml/2006/main">
            <a:r>
              <a:t>Sources: [3], [5].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3:50-4:30</a:t>
            </a:r>
          </a:p>
          <a:p xmlns:a="http://schemas.openxmlformats.org/drawingml/2006/main">
            <a:r>
              <a:t/>
            </a:r>
          </a:p>
          <a:p xmlns:a="http://schemas.openxmlformats.org/drawingml/2006/main">
            <a:r>
              <a:t>HalfCheetah fits IQL because it has continuous controls, available offline data, and measurable locomotion. Advantage weighting can favor better actions, but improvement must be tested. Main challenges are data coverage, seed failures and physics differences. We address them with multiple seeds, pinned dependencies and full-episode evaluation. Team responsibilities and deliverables appear here.</a:t>
            </a:r>
          </a:p>
          <a:p xmlns:a="http://schemas.openxmlformats.org/drawingml/2006/main">
            <a:r>
              <a:t/>
            </a:r>
          </a:p>
          <a:p xmlns:a="http://schemas.openxmlformats.org/drawingml/2006/main">
            <a:r>
              <a:t>Sources: [1], [2], [3].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4:30-5:00</a:t>
            </a:r>
          </a:p>
          <a:p xmlns:a="http://schemas.openxmlformats.org/drawingml/2006/main">
            <a:r>
              <a:t/>
            </a:r>
          </a:p>
          <a:p xmlns:a="http://schemas.openxmlformats.org/drawingml/2006/main">
            <a:r>
              <a:t>The curves show measured means for all three training seeds, with ten episodes per point. On ten separate final-test episodes, selected seed 1 achieved about 15,260 return versus 2,026 at 100k. Long stationary tails decreased from ten episodes to zero. Other training seeds still fail, so these results demonstrate feasibility rather than guaranteed success. Thank you.</a:t>
            </a:r>
          </a:p>
          <a:p xmlns:a="http://schemas.openxmlformats.org/drawingml/2006/main">
            <a:r>
              <a:t/>
            </a:r>
          </a:p>
          <a:p xmlns:a="http://schemas.openxmlformats.org/drawingml/2006/main">
            <a:r>
              <a:t>Sources: [6]. Full references: SLIDE_SOURCES.md.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594a011127c466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e0d1e8212c54b2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c26ffbe67154e4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3a6ab258eb84d7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bec663b0f6d4d5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9e8272f4d6d4fb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51842E-4865-44BA-9A9A-4F829EE4ABC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5570495-47AE-416C-8939-85008C58F97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7FA6F09-1F7F-4207-88E3-A64A08B8DAD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A583C4-82D8-4DAE-98E9-815F4C57DE4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990B305-CF77-449D-9AD0-0FFE9AACAD0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1C48477-CE1F-4D66-9A23-A63871139F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69270E2-1AF2-4F56-98DD-467C0AF8D4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72BCBBF-3D32-4C94-8948-19AA2EF0649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2E01300-8848-4C94-B082-25CB121C3E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C5F199C-715D-4007-AE08-7F4999CF44F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de790844a0f4f33" /><Relationship Type="http://schemas.openxmlformats.org/officeDocument/2006/relationships/slideLayout" Target="/ppt/slideLayouts/slideLayout1.xml" Id="Rdf9803e0f7084304" /><Relationship Type="http://schemas.openxmlformats.org/officeDocument/2006/relationships/slideLayout" Target="/ppt/slideLayouts/slideLayout2.xml" Id="R29513c6300b741cb" /><Relationship Type="http://schemas.openxmlformats.org/officeDocument/2006/relationships/slideLayout" Target="/ppt/slideLayouts/slideLayout3.xml" Id="R22a81b0ac6694223" /><Relationship Type="http://schemas.openxmlformats.org/officeDocument/2006/relationships/slideLayout" Target="/ppt/slideLayouts/slideLayout4.xml" Id="R8fba659f22834dcb" /><Relationship Type="http://schemas.openxmlformats.org/officeDocument/2006/relationships/slideLayout" Target="/ppt/slideLayouts/slideLayout5.xml" Id="R90d1756499244541" /><Relationship Type="http://schemas.openxmlformats.org/officeDocument/2006/relationships/slideLayout" Target="/ppt/slideLayouts/slideLayout6.xml" Id="R854157911aad44a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f9803e0f7084304"/>
    <p:sldLayoutId xmlns:r="http://schemas.openxmlformats.org/officeDocument/2006/relationships" id="2147483650" r:id="R29513c6300b741cb"/>
    <p:sldLayoutId xmlns:r="http://schemas.openxmlformats.org/officeDocument/2006/relationships" id="2147483651" r:id="R22a81b0ac6694223"/>
    <p:sldLayoutId xmlns:r="http://schemas.openxmlformats.org/officeDocument/2006/relationships" id="2147483652" r:id="R8fba659f22834dcb"/>
    <p:sldLayoutId xmlns:r="http://schemas.openxmlformats.org/officeDocument/2006/relationships" id="2147483653" r:id="R90d1756499244541"/>
    <p:sldLayoutId xmlns:r="http://schemas.openxmlformats.org/officeDocument/2006/relationships" id="2147483654" r:id="R854157911aad44a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08074becfef4c54" /><Relationship Type="http://schemas.openxmlformats.org/officeDocument/2006/relationships/image" Target="/ppt/media/image.png" Id="Rd12b72b076d44a07" /><Relationship Type="http://schemas.openxmlformats.org/officeDocument/2006/relationships/notesSlide" Target="/ppt/notesSlides/notesSlide1.xml" Id="R390ade63045a4db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6b415f1a70548fe" /><Relationship Type="http://schemas.openxmlformats.org/officeDocument/2006/relationships/notesSlide" Target="/ppt/notesSlides/notesSlide2.xml" Id="R31dbf1215960464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56a7fd67e20414d" /><Relationship Type="http://schemas.openxmlformats.org/officeDocument/2006/relationships/notesSlide" Target="/ppt/notesSlides/notesSlide3.xml" Id="R33d35f6c9aa24ec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2b5689361394cb5" /><Relationship Type="http://schemas.openxmlformats.org/officeDocument/2006/relationships/chart" Target="/ppt/slides/charts/chart1.xml" Id="Reeb48ab3884e41a2" /><Relationship Type="http://schemas.openxmlformats.org/officeDocument/2006/relationships/image" Target="/ppt/media/image2.png" Id="R35d6c65bfc884783" /><Relationship Type="http://schemas.openxmlformats.org/officeDocument/2006/relationships/notesSlide" Target="/ppt/notesSlides/notesSlide4.xml" Id="Rbb46a300c5b641b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e72317d13a84a2a" /><Relationship Type="http://schemas.openxmlformats.org/officeDocument/2006/relationships/notesSlide" Target="/ppt/notesSlides/notesSlide5.xml" Id="R9093ca87174d4b1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a1f017d83184396" /><Relationship Type="http://schemas.openxmlformats.org/officeDocument/2006/relationships/notesSlide" Target="/ppt/notesSlides/notesSlide6.xml" Id="Rea01126798bd4f9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15f780755d44e83" /><Relationship Type="http://schemas.openxmlformats.org/officeDocument/2006/relationships/notesSlide" Target="/ppt/notesSlides/notesSlide7.xml" Id="R09d7ff869c6f4b7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9ad0c8e06d04d17" /><Relationship Type="http://schemas.openxmlformats.org/officeDocument/2006/relationships/chart" Target="/ppt/slides/charts/chart2.xml" Id="R105683b933fa4c7e" /><Relationship Type="http://schemas.openxmlformats.org/officeDocument/2006/relationships/notesSlide" Target="/ppt/notesSlides/notesSlide8.xml" Id="R05f1d78cf2544de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400" b="1">
                <a:latin typeface="Arial"/>
                <a:ea typeface="Arial"/>
                <a:cs typeface="Arial"/>
              </a:rPr>
              <a:t>17 observations</a:t>
            </a:r>
          </a:p>
        </c:rich>
      </c:tx>
      <c:overlay val="0"/>
      <c:txPr>
        <a:bodyPr xmlns:a="http://schemas.openxmlformats.org/drawingml/2006/main" anchorCtr="1"/>
        <a:lstStyle xmlns:a="http://schemas.openxmlformats.org/drawingml/2006/main"/>
        <a:p xmlns:a="http://schemas.openxmlformats.org/drawingml/2006/main">
          <a:pPr>
            <a:defRPr sz="2400" b="1">
              <a:latin typeface="Arial"/>
              <a:ea typeface="Arial"/>
              <a:cs typeface="Arial"/>
            </a:defRPr>
          </a:pPr>
        </a:p>
      </c:txPr>
    </c:title>
    <c:plotArea>
      <c:doughnutChart>
        <c:ser>
          <c:idx val="0"/>
          <c:order val="0"/>
          <c:tx>
            <c:v>Observed dimensions</c:v>
          </c:tx>
          <c:dPt>
            <c:idx val="0"/>
            <c:spPr>
              <a:solidFill xmlns:a="http://schemas.openxmlformats.org/drawingml/2006/main">
                <a:srgbClr val="007D7F"/>
              </a:solidFill>
            </c:spPr>
          </c:dPt>
          <c:dPt>
            <c:idx val="1"/>
            <c:spPr>
              <a:solidFill xmlns:a="http://schemas.openxmlformats.org/drawingml/2006/main">
                <a:srgbClr val="CB650E"/>
              </a:solidFill>
            </c:spPr>
          </c:dPt>
          <c:cat>
            <c:strRef>
              <c:f>'Chart Data'!$A$2:$A$3</c:f>
              <c:strCache>
                <c:ptCount val="2"/>
                <c:pt idx="0">
                  <c:v>Pose: 8</c:v>
                </c:pt>
                <c:pt idx="1">
                  <c:v>Velocity: 9</c:v>
                </c:pt>
              </c:strCache>
            </c:strRef>
          </c:cat>
          <c:val>
            <c:numRef>
              <c:f>'Chart Data'!$B$2:$B$3</c:f>
              <c:numCache>
                <c:formatCode>General</c:formatCode>
                <c:ptCount val="2"/>
                <c:pt idx="0">
                  <c:v>8</c:v>
                </c:pt>
                <c:pt idx="1">
                  <c:v>9</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holeSize val="76"/>
      </c:doughnutChart>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2100">
              <a:latin typeface="Arial"/>
              <a:ea typeface="Arial"/>
              <a:cs typeface="Arial"/>
            </a:defRPr>
          </a:pPr>
        </a:p>
      </c:txPr>
    </c:legend>
    <c:plotVisOnly val="1"/>
  </c:chart>
  <c:spPr>
    <a:solidFill xmlns:a="http://schemas.openxmlformats.org/drawingml/2006/main">
      <a:srgbClr val="FFFFFF"/>
    </a:solidFill>
    <a:ln xmlns:a="http://schemas.openxmlformats.org/drawingml/2006/main">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250" b="1">
                <a:latin typeface="Arial"/>
                <a:ea typeface="Arial"/>
                <a:cs typeface="Arial"/>
              </a:rPr>
              <a:t>Validation mean raw return</a:t>
            </a:r>
          </a:p>
        </c:rich>
      </c:tx>
      <c:overlay val="0"/>
      <c:txPr>
        <a:bodyPr xmlns:a="http://schemas.openxmlformats.org/drawingml/2006/main" anchorCtr="1"/>
        <a:lstStyle xmlns:a="http://schemas.openxmlformats.org/drawingml/2006/main"/>
        <a:p xmlns:a="http://schemas.openxmlformats.org/drawingml/2006/main">
          <a:pPr>
            <a:defRPr sz="2250" b="1">
              <a:latin typeface="Arial"/>
              <a:ea typeface="Arial"/>
              <a:cs typeface="Arial"/>
            </a:defRPr>
          </a:pPr>
        </a:p>
      </c:txPr>
    </c:title>
    <c:plotArea>
      <c:scatterChart>
        <c:scatterStyle val="lineMarker"/>
        <c:varyColors val="0"/>
        <c:ser>
          <c:idx val="0"/>
          <c:order val="0"/>
          <c:tx>
            <c:v>Seed 0</c:v>
          </c:tx>
          <c:spPr>
            <a:ln xmlns:a="http://schemas.openxmlformats.org/drawingml/2006/main" w="38100">
              <a:solidFill>
                <a:srgbClr val="4E6370"/>
              </a:solidFill>
            </a:ln>
          </c:spPr>
          <c:marker>
            <c:symbol val="circle"/>
            <c:size val="9"/>
            <c:spPr>
              <a:solidFill xmlns:a="http://schemas.openxmlformats.org/drawingml/2006/main">
                <a:srgbClr val="4E6370"/>
              </a:solidFill>
            </c:spPr>
          </c:marker>
          <c:xVal>
            <c:numRef>
              <c:f>'Chart Data'!$A$2:$A$6</c:f>
              <c:numCache>
                <c:formatCode>General</c:formatCode>
                <c:ptCount val="5"/>
                <c:pt idx="0">
                  <c:v>100</c:v>
                </c:pt>
                <c:pt idx="1">
                  <c:v>150</c:v>
                </c:pt>
                <c:pt idx="2">
                  <c:v>200</c:v>
                </c:pt>
                <c:pt idx="3">
                  <c:v>300</c:v>
                </c:pt>
                <c:pt idx="4">
                  <c:v>500</c:v>
                </c:pt>
              </c:numCache>
            </c:numRef>
          </c:xVal>
          <c:yVal>
            <c:numRef>
              <c:f>'Chart Data'!$B$2:$B$6</c:f>
              <c:numCache>
                <c:formatCode>#,##0</c:formatCode>
                <c:ptCount val="5"/>
                <c:pt idx="0">
                  <c:v>1613.03</c:v>
                </c:pt>
                <c:pt idx="1">
                  <c:v>4049.37</c:v>
                </c:pt>
                <c:pt idx="2">
                  <c:v>5403.12</c:v>
                </c:pt>
                <c:pt idx="3">
                  <c:v>6629.58</c:v>
                </c:pt>
                <c:pt idx="4">
                  <c:v>6864.09</c:v>
                </c:pt>
              </c:numCache>
            </c:numRef>
          </c:yVal>
        </c:ser>
        <c:ser>
          <c:idx val="1"/>
          <c:order val="1"/>
          <c:tx>
            <c:v>Seed 1</c:v>
          </c:tx>
          <c:spPr>
            <a:ln xmlns:a="http://schemas.openxmlformats.org/drawingml/2006/main" w="38100">
              <a:solidFill>
                <a:srgbClr val="007D7F"/>
              </a:solidFill>
            </a:ln>
          </c:spPr>
          <c:marker>
            <c:symbol val="circle"/>
            <c:size val="9"/>
            <c:spPr>
              <a:solidFill xmlns:a="http://schemas.openxmlformats.org/drawingml/2006/main">
                <a:srgbClr val="007D7F"/>
              </a:solidFill>
            </c:spPr>
          </c:marker>
          <c:xVal>
            <c:numRef>
              <c:f>'Chart Data'!$C$2:$C$6</c:f>
              <c:numCache>
                <c:formatCode>General</c:formatCode>
                <c:ptCount val="5"/>
                <c:pt idx="0">
                  <c:v>100</c:v>
                </c:pt>
                <c:pt idx="1">
                  <c:v>150</c:v>
                </c:pt>
                <c:pt idx="2">
                  <c:v>200</c:v>
                </c:pt>
                <c:pt idx="3">
                  <c:v>300</c:v>
                </c:pt>
                <c:pt idx="4">
                  <c:v>500</c:v>
                </c:pt>
              </c:numCache>
            </c:numRef>
          </c:xVal>
          <c:yVal>
            <c:numRef>
              <c:f>'Chart Data'!$D$2:$D$6</c:f>
              <c:numCache>
                <c:formatCode>#,##0</c:formatCode>
                <c:ptCount val="5"/>
                <c:pt idx="0">
                  <c:v>1504.65</c:v>
                </c:pt>
                <c:pt idx="1">
                  <c:v>5661.84</c:v>
                </c:pt>
                <c:pt idx="2">
                  <c:v>2852.51</c:v>
                </c:pt>
                <c:pt idx="3">
                  <c:v>8762.76</c:v>
                </c:pt>
                <c:pt idx="4">
                  <c:v>15232.53</c:v>
                </c:pt>
              </c:numCache>
            </c:numRef>
          </c:yVal>
        </c:ser>
        <c:ser>
          <c:idx val="2"/>
          <c:order val="2"/>
          <c:tx>
            <c:v>Seed 2</c:v>
          </c:tx>
          <c:spPr>
            <a:ln xmlns:a="http://schemas.openxmlformats.org/drawingml/2006/main" w="38100">
              <a:solidFill>
                <a:srgbClr val="CB650E"/>
              </a:solidFill>
            </a:ln>
          </c:spPr>
          <c:marker>
            <c:symbol val="circle"/>
            <c:size val="9"/>
            <c:spPr>
              <a:solidFill xmlns:a="http://schemas.openxmlformats.org/drawingml/2006/main">
                <a:srgbClr val="CB650E"/>
              </a:solidFill>
            </c:spPr>
          </c:marker>
          <c:xVal>
            <c:numRef>
              <c:f>'Chart Data'!$E$2:$E$6</c:f>
              <c:numCache>
                <c:formatCode>General</c:formatCode>
                <c:ptCount val="5"/>
                <c:pt idx="0">
                  <c:v>100</c:v>
                </c:pt>
                <c:pt idx="1">
                  <c:v>150</c:v>
                </c:pt>
                <c:pt idx="2">
                  <c:v>200</c:v>
                </c:pt>
                <c:pt idx="3">
                  <c:v>300</c:v>
                </c:pt>
                <c:pt idx="4">
                  <c:v>500</c:v>
                </c:pt>
              </c:numCache>
            </c:numRef>
          </c:xVal>
          <c:yVal>
            <c:numRef>
              <c:f>'Chart Data'!$F$2:$F$6</c:f>
              <c:numCache>
                <c:formatCode>#,##0</c:formatCode>
                <c:ptCount val="5"/>
                <c:pt idx="0">
                  <c:v>2667.16</c:v>
                </c:pt>
                <c:pt idx="1">
                  <c:v>6968.4</c:v>
                </c:pt>
                <c:pt idx="2">
                  <c:v>12024.62</c:v>
                </c:pt>
                <c:pt idx="3">
                  <c:v>6957.27</c:v>
                </c:pt>
                <c:pt idx="4">
                  <c:v>12732.22</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6000"/>
          <c:min val="0"/>
        </c:scaling>
        <c:delete val="0"/>
        <c:axPos val="l"/>
        <c:majorGridlines>
          <c:spPr>
            <a:ln xmlns:a="http://schemas.openxmlformats.org/drawingml/2006/main" w="9525">
              <a:solidFill>
                <a:srgbClr val="C4D1D8"/>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950">
                <a:solidFill>
                  <a:srgbClr val="666666"/>
                </a:solidFill>
                <a:latin typeface="Arial"/>
                <a:ea typeface="Arial"/>
                <a:cs typeface="Arial"/>
              </a:defRPr>
            </a:pPr>
          </a:p>
        </c:txPr>
        <c:crossAx val="48650112"/>
        <c:majorUnit val="4000"/>
      </c:valAx>
      <c:valAx>
        <c:axId val="48650112"/>
        <c:scaling>
          <c:orientation val="minMax"/>
          <c:max val="500"/>
          <c:min val="100"/>
        </c:scaling>
        <c:delete val="0"/>
        <c:axPos val="b"/>
        <c:title>
          <c:tx>
            <c:rich>
              <a:bodyPr xmlns:a="http://schemas.openxmlformats.org/drawingml/2006/main"/>
              <a:lstStyle xmlns:a="http://schemas.openxmlformats.org/drawingml/2006/main"/>
              <a:p xmlns:a="http://schemas.openxmlformats.org/drawingml/2006/main">
                <a:r>
                  <a:rPr sz="1950">
                    <a:latin typeface="Arial"/>
                    <a:ea typeface="Arial"/>
                    <a:cs typeface="Arial"/>
                  </a:rPr>
                  <a:t>Offline updates (thousands)</a:t>
                </a:r>
              </a:p>
            </c:rich>
          </c:tx>
          <c:overlay val="0"/>
          <c:txPr>
            <a:bodyPr xmlns:a="http://schemas.openxmlformats.org/drawingml/2006/main" anchorCtr="1"/>
            <a:lstStyle xmlns:a="http://schemas.openxmlformats.org/drawingml/2006/main"/>
            <a:p xmlns:a="http://schemas.openxmlformats.org/drawingml/2006/main">
              <a:pPr>
                <a:defRPr sz="1950">
                  <a:latin typeface="Arial"/>
                  <a:ea typeface="Arial"/>
                  <a:cs typeface="Arial"/>
                </a:defRPr>
              </a:pPr>
            </a:p>
          </c:txPr>
        </c:title>
        <c:numFmt formatCode="0"/>
        <c:majorTickMark val="none"/>
        <c:minorTickMark val="none"/>
        <c:spPr>
          <a:ln xmlns:a="http://schemas.openxmlformats.org/drawingml/2006/main" w="9525">
            <a:solidFill>
              <a:srgbClr val="C4D1D8"/>
            </a:solidFill>
          </a:ln>
        </c:spPr>
        <c:txPr>
          <a:bodyPr xmlns:a="http://schemas.openxmlformats.org/drawingml/2006/main" anchorCtr="1"/>
          <a:lstStyle xmlns:a="http://schemas.openxmlformats.org/drawingml/2006/main"/>
          <a:p xmlns:a="http://schemas.openxmlformats.org/drawingml/2006/main">
            <a:pPr>
              <a:defRPr sz="1950">
                <a:solidFill>
                  <a:srgbClr val="666666"/>
                </a:solidFill>
                <a:latin typeface="Arial"/>
                <a:ea typeface="Arial"/>
                <a:cs typeface="Arial"/>
              </a:defRPr>
            </a:pPr>
          </a:p>
        </c:txPr>
        <c:crossAx val="48672768"/>
        <c:majorUnit val="100"/>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950">
              <a:latin typeface="Arial"/>
              <a:ea typeface="Arial"/>
              <a:cs typeface="Arial"/>
            </a:defRPr>
          </a:pPr>
        </a:p>
      </c:txPr>
    </c:legend>
    <c:plotVisOnly val="1"/>
  </c:chart>
  <c:spPr>
    <a:solidFill xmlns:a="http://schemas.openxmlformats.org/drawingml/2006/main">
      <a:srgbClr val="FFFFFF"/>
    </a:solidFill>
    <a:ln xmlns:a="http://schemas.openxmlformats.org/drawingml/2006/main">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12D3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3523960-0F0D-4DF4-ADA8-B88590B09DEA}"/>
              </a:ext>
            </a:extLst>
          </p:cNvPr>
          <p:cNvSpPr>
            <a:spLocks xmlns:a="http://schemas.openxmlformats.org/drawingml/2006/main" noGrp="1"/>
          </p:cNvSpPr>
          <p:nvPr/>
        </p:nvSpPr>
        <p:spPr>
          <a:xfrm xmlns:a="http://schemas.openxmlformats.org/drawingml/2006/main">
            <a:off x="609600" y="1104900"/>
            <a:ext cx="5619750" cy="2019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6300" b="1">
                <a:solidFill>
                  <a:srgbClr val="FFFFFF"/>
                </a:solidFill>
                <a:latin typeface="Arial"/>
                <a:ea typeface="Arial"/>
                <a:cs typeface="Arial"/>
              </a:defRPr>
            </a:defPPr>
          </a:lstStyle>
          <a:p xmlns:a="http://schemas.openxmlformats.org/drawingml/2006/main">
            <a:pPr algn="l">
              <a:defRPr sz="6300" b="1">
                <a:solidFill>
                  <a:srgbClr val="FFFFFF"/>
                </a:solidFill>
                <a:latin typeface="Arial"/>
                <a:ea typeface="Arial"/>
                <a:cs typeface="Arial"/>
              </a:defRPr>
            </a:pPr>
            <a:r>
              <a:rPr sz="6300" b="1">
                <a:solidFill>
                  <a:srgbClr val="FFFFFF"/>
                </a:solidFill>
                <a:latin typeface="Arial"/>
                <a:ea typeface="Arial"/>
                <a:cs typeface="Arial"/>
              </a:rPr>
              <a:t>Implicit</a:t>
            </a:r>
          </a:p>
          <a:p xmlns:a="http://schemas.openxmlformats.org/drawingml/2006/main">
            <a:pPr algn="l">
              <a:defRPr sz="6300" b="1">
                <a:solidFill>
                  <a:srgbClr val="FFFFFF"/>
                </a:solidFill>
                <a:latin typeface="Arial"/>
                <a:ea typeface="Arial"/>
                <a:cs typeface="Arial"/>
              </a:defRPr>
            </a:pPr>
            <a:r>
              <a:rPr sz="6300" b="1">
                <a:solidFill>
                  <a:srgbClr val="FFFFFF"/>
                </a:solidFill>
                <a:latin typeface="Arial"/>
                <a:ea typeface="Arial"/>
                <a:cs typeface="Arial"/>
              </a:rPr>
              <a:t>Q-Learning</a:t>
            </a:r>
          </a:p>
        </p:txBody>
      </p:sp>
      <p:sp>
        <p:nvSpPr>
          <p:cNvPr id="2" name="">
            <a:extLst xmlns:a="http://schemas.openxmlformats.org/drawingml/2006/main">
              <a:ext uri="{FF2B5EF4-FFF2-40B4-BE49-F238E27FC236}">
                <a16:creationId xmlns:a16="http://schemas.microsoft.com/office/drawing/2014/main" id="{6295A5AF-486C-4922-934D-D4F10E58CBF5}"/>
              </a:ext>
            </a:extLst>
          </p:cNvPr>
          <p:cNvSpPr>
            <a:spLocks xmlns:a="http://schemas.openxmlformats.org/drawingml/2006/main" noGrp="1"/>
          </p:cNvSpPr>
          <p:nvPr/>
        </p:nvSpPr>
        <p:spPr>
          <a:xfrm xmlns:a="http://schemas.openxmlformats.org/drawingml/2006/main">
            <a:off x="609600" y="3476625"/>
            <a:ext cx="5715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750" b="1">
                <a:solidFill>
                  <a:srgbClr val="70D9CA"/>
                </a:solidFill>
                <a:latin typeface="Arial"/>
                <a:ea typeface="Arial"/>
                <a:cs typeface="Arial"/>
              </a:defRPr>
            </a:defPPr>
          </a:lstStyle>
          <a:p xmlns:a="http://schemas.openxmlformats.org/drawingml/2006/main">
            <a:pPr algn="l">
              <a:defRPr sz="3750" b="1">
                <a:solidFill>
                  <a:srgbClr val="70D9CA"/>
                </a:solidFill>
                <a:latin typeface="Arial"/>
                <a:ea typeface="Arial"/>
                <a:cs typeface="Arial"/>
              </a:defRPr>
            </a:pPr>
            <a:r>
              <a:rPr sz="3750" b="1">
                <a:solidFill>
                  <a:srgbClr val="70D9CA"/>
                </a:solidFill>
                <a:latin typeface="Arial"/>
                <a:ea typeface="Arial"/>
                <a:cs typeface="Arial"/>
              </a:rPr>
              <a:t>HalfCheetah-v5</a:t>
            </a:r>
          </a:p>
        </p:txBody>
      </p:sp>
      <p:sp>
        <p:nvSpPr>
          <p:cNvPr id="3" name="">
            <a:extLst xmlns:a="http://schemas.openxmlformats.org/drawingml/2006/main">
              <a:ext uri="{FF2B5EF4-FFF2-40B4-BE49-F238E27FC236}">
                <a16:creationId xmlns:a16="http://schemas.microsoft.com/office/drawing/2014/main" id="{C060235E-A541-47ED-81C4-DFCFFF0967BF}"/>
              </a:ext>
            </a:extLst>
          </p:cNvPr>
          <p:cNvSpPr>
            <a:spLocks xmlns:a="http://schemas.openxmlformats.org/drawingml/2006/main" noGrp="1"/>
          </p:cNvSpPr>
          <p:nvPr/>
        </p:nvSpPr>
        <p:spPr>
          <a:xfrm xmlns:a="http://schemas.openxmlformats.org/drawingml/2006/main">
            <a:off x="609600" y="4295775"/>
            <a:ext cx="6191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400" b="0">
                <a:solidFill>
                  <a:srgbClr val="FFFFFF"/>
                </a:solidFill>
                <a:latin typeface="Arial"/>
                <a:ea typeface="Arial"/>
                <a:cs typeface="Arial"/>
              </a:defRPr>
            </a:defPPr>
          </a:lstStyle>
          <a:p xmlns:a="http://schemas.openxmlformats.org/drawingml/2006/main">
            <a:pPr algn="l">
              <a:defRPr sz="2400" b="0">
                <a:solidFill>
                  <a:srgbClr val="FFFFFF"/>
                </a:solidFill>
                <a:latin typeface="Arial"/>
                <a:ea typeface="Arial"/>
                <a:cs typeface="Arial"/>
              </a:defRPr>
            </a:pPr>
            <a:r>
              <a:rPr sz="2400" b="0">
                <a:solidFill>
                  <a:srgbClr val="FFFFFF"/>
                </a:solidFill>
                <a:latin typeface="Arial"/>
                <a:ea typeface="Arial"/>
                <a:cs typeface="Arial"/>
              </a:rPr>
              <a:t>Offline reinforcement learning</a:t>
            </a:r>
          </a:p>
        </p:txBody>
      </p:sp>
      <p:pic>
        <p:nvPicPr>
          <p:cNvPr id="4" name="">
            <a:extLst xmlns:a="http://schemas.openxmlformats.org/drawingml/2006/main">
              <a:ext uri="{FF2B5EF4-FFF2-40B4-BE49-F238E27FC236}">
                <a16:creationId xmlns:a16="http://schemas.microsoft.com/office/drawing/2014/main" id="{B33F9EC7-77F2-4E67-91B5-843441801DDE}"/>
              </a:ext>
            </a:extLst>
          </p:cNvPr>
          <p:cNvPicPr>
            <a:picLocks xmlns:a="http://schemas.openxmlformats.org/drawingml/2006/main" noChangeAspect="1"/>
          </p:cNvPicPr>
          <p:nvPr/>
        </p:nvPicPr>
        <p:blipFill>
          <a:blip xmlns:r="http://schemas.openxmlformats.org/officeDocument/2006/relationships" xmlns:a="http://schemas.openxmlformats.org/drawingml/2006/main" r:embed="Rd12b72b076d44a07"/>
          <a:stretch xmlns:a="http://schemas.openxmlformats.org/drawingml/2006/main"/>
        </p:blipFill>
        <p:spPr>
          <a:xfrm xmlns:a="http://schemas.openxmlformats.org/drawingml/2006/main">
            <a:off x="6638925" y="1600498"/>
            <a:ext cx="4943475" cy="278070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E4EBB61-2487-45B9-A529-5A18364DEDCB}"/>
              </a:ext>
            </a:extLst>
          </p:cNvPr>
          <p:cNvSpPr>
            <a:spLocks xmlns:a="http://schemas.openxmlformats.org/drawingml/2006/main" noGrp="1"/>
          </p:cNvSpPr>
          <p:nvPr/>
        </p:nvSpPr>
        <p:spPr>
          <a:xfrm xmlns:a="http://schemas.openxmlformats.org/drawingml/2006/main">
            <a:off x="609600" y="55149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75" b="0">
                <a:solidFill>
                  <a:srgbClr val="FFFFFF"/>
                </a:solidFill>
                <a:latin typeface="Arial"/>
                <a:ea typeface="Arial"/>
                <a:cs typeface="Arial"/>
              </a:defRPr>
            </a:defPPr>
          </a:lstStyle>
          <a:p xmlns:a="http://schemas.openxmlformats.org/drawingml/2006/main">
            <a:pPr algn="l">
              <a:defRPr sz="2175" b="0">
                <a:solidFill>
                  <a:srgbClr val="FFFFFF"/>
                </a:solidFill>
                <a:latin typeface="Arial"/>
                <a:ea typeface="Arial"/>
                <a:cs typeface="Arial"/>
              </a:defRPr>
            </a:pPr>
            <a:r>
              <a:rPr sz="2175" b="0">
                <a:solidFill>
                  <a:srgbClr val="FFFFFF"/>
                </a:solidFill>
                <a:latin typeface="Arial"/>
                <a:ea typeface="Arial"/>
                <a:cs typeface="Arial"/>
              </a:rPr>
              <a:t>Aleksandr Medvedev   Nikita Shankin   Leo Vesin</a:t>
            </a:r>
          </a:p>
          <a:p xmlns:a="http://schemas.openxmlformats.org/drawingml/2006/main">
            <a:pPr algn="l">
              <a:defRPr sz="2175" b="0">
                <a:solidFill>
                  <a:srgbClr val="FFFFFF"/>
                </a:solidFill>
                <a:latin typeface="Arial"/>
                <a:ea typeface="Arial"/>
                <a:cs typeface="Arial"/>
              </a:defRPr>
            </a:pPr>
            <a:r>
              <a:rPr sz="2175" b="0">
                <a:solidFill>
                  <a:srgbClr val="FFFFFF"/>
                </a:solidFill>
                <a:latin typeface="Arial"/>
                <a:ea typeface="Arial"/>
                <a:cs typeface="Arial"/>
              </a:rPr>
              <a:t>Ruslan Nasibullin   Telman Nuruzov</a:t>
            </a:r>
          </a:p>
        </p:txBody>
      </p:sp>
    </p:spTree>
    <p:extLst>
      <p:ext uri="{BB962C8B-B14F-4D97-AF65-F5344CB8AC3E}">
        <p14:creationId xmlns:p14="http://schemas.microsoft.com/office/powerpoint/2010/main" val="122204257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CD847F9-E0D8-42EA-BEAE-182F34458C29}"/>
              </a:ext>
            </a:extLst>
          </p:cNvPr>
          <p:cNvSpPr>
            <a:spLocks xmlns:a="http://schemas.openxmlformats.org/drawingml/2006/main" noGrp="1"/>
          </p:cNvSpPr>
          <p:nvPr/>
        </p:nvSpPr>
        <p:spPr>
          <a:xfrm xmlns:a="http://schemas.openxmlformats.org/drawingml/2006/main">
            <a:off x="609600" y="4572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900" b="1">
                <a:solidFill>
                  <a:srgbClr val="112D3D"/>
                </a:solidFill>
                <a:latin typeface="Arial"/>
                <a:ea typeface="Arial"/>
                <a:cs typeface="Arial"/>
              </a:defRPr>
            </a:defPPr>
          </a:lstStyle>
          <a:p xmlns:a="http://schemas.openxmlformats.org/drawingml/2006/main">
            <a:pPr algn="l">
              <a:defRPr sz="3900" b="1">
                <a:solidFill>
                  <a:srgbClr val="112D3D"/>
                </a:solidFill>
                <a:latin typeface="Arial"/>
                <a:ea typeface="Arial"/>
                <a:cs typeface="Arial"/>
              </a:defRPr>
            </a:pPr>
            <a:r>
              <a:rPr sz="3900" b="1">
                <a:solidFill>
                  <a:srgbClr val="112D3D"/>
                </a:solidFill>
                <a:latin typeface="Arial"/>
                <a:ea typeface="Arial"/>
                <a:cs typeface="Arial"/>
              </a:rPr>
              <a:t>How IQL learns from recorded data</a:t>
            </a:r>
          </a:p>
        </p:txBody>
      </p:sp>
      <p:sp>
        <p:nvSpPr>
          <p:cNvPr id="2" name="">
            <a:extLst xmlns:a="http://schemas.openxmlformats.org/drawingml/2006/main">
              <a:ext uri="{FF2B5EF4-FFF2-40B4-BE49-F238E27FC236}">
                <a16:creationId xmlns:a16="http://schemas.microsoft.com/office/drawing/2014/main" id="{5E642258-DA46-4EA6-AE40-916E65C86897}"/>
              </a:ext>
            </a:extLst>
          </p:cNvPr>
          <p:cNvSpPr>
            <a:spLocks xmlns:a="http://schemas.openxmlformats.org/drawingml/2006/main" noGrp="1"/>
          </p:cNvSpPr>
          <p:nvPr/>
        </p:nvSpPr>
        <p:spPr>
          <a:xfrm xmlns:a="http://schemas.openxmlformats.org/drawingml/2006/main">
            <a:off x="609600" y="1581150"/>
            <a:ext cx="10858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007D7F"/>
                </a:solidFill>
                <a:latin typeface="Arial"/>
                <a:ea typeface="Arial"/>
                <a:cs typeface="Arial"/>
              </a:defRPr>
            </a:defPPr>
          </a:lstStyle>
          <a:p xmlns:a="http://schemas.openxmlformats.org/drawingml/2006/main">
            <a:pPr algn="l">
              <a:defRPr sz="2700" b="1">
                <a:solidFill>
                  <a:srgbClr val="007D7F"/>
                </a:solidFill>
                <a:latin typeface="Arial"/>
                <a:ea typeface="Arial"/>
                <a:cs typeface="Arial"/>
              </a:defRPr>
            </a:pPr>
            <a:r>
              <a:rPr sz="2700" b="1">
                <a:solidFill>
                  <a:srgbClr val="007D7F"/>
                </a:solidFill>
                <a:latin typeface="Arial"/>
                <a:ea typeface="Arial"/>
                <a:cs typeface="Arial"/>
              </a:rPr>
              <a:t>Offline, model-free actor-critic</a:t>
            </a:r>
          </a:p>
        </p:txBody>
      </p:sp>
      <p:sp>
        <p:nvSpPr>
          <p:cNvPr id="3" name="">
            <a:extLst xmlns:a="http://schemas.openxmlformats.org/drawingml/2006/main">
              <a:ext uri="{FF2B5EF4-FFF2-40B4-BE49-F238E27FC236}">
                <a16:creationId xmlns:a16="http://schemas.microsoft.com/office/drawing/2014/main" id="{2393A0A5-A5B2-41D0-AC3A-52897859E6D8}"/>
              </a:ext>
            </a:extLst>
          </p:cNvPr>
          <p:cNvSpPr>
            <a:spLocks xmlns:a="http://schemas.openxmlformats.org/drawingml/2006/main" noGrp="1"/>
          </p:cNvSpPr>
          <p:nvPr/>
        </p:nvSpPr>
        <p:spPr>
          <a:xfrm xmlns:a="http://schemas.openxmlformats.org/drawingml/2006/main">
            <a:off x="609600" y="2590800"/>
            <a:ext cx="2971800" cy="1409700"/>
          </a:xfrm>
          <a:prstGeom xmlns:a="http://schemas.openxmlformats.org/drawingml/2006/main" prst="rect">
            <a:avLst/>
          </a:prstGeom>
          <a:solidFill xmlns:a="http://schemas.openxmlformats.org/drawingml/2006/main">
            <a:srgbClr val="E9F4F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72C26B6-F86C-4C83-92CB-885266F74BAA}"/>
              </a:ext>
            </a:extLst>
          </p:cNvPr>
          <p:cNvSpPr>
            <a:spLocks xmlns:a="http://schemas.openxmlformats.org/drawingml/2006/main" noGrp="1"/>
          </p:cNvSpPr>
          <p:nvPr/>
        </p:nvSpPr>
        <p:spPr>
          <a:xfrm xmlns:a="http://schemas.openxmlformats.org/drawingml/2006/main">
            <a:off x="819150" y="2800350"/>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007D7F"/>
                </a:solidFill>
                <a:latin typeface="Arial"/>
                <a:ea typeface="Arial"/>
                <a:cs typeface="Arial"/>
              </a:defRPr>
            </a:defPPr>
          </a:lstStyle>
          <a:p xmlns:a="http://schemas.openxmlformats.org/drawingml/2006/main">
            <a:pPr algn="l">
              <a:defRPr sz="2700" b="1">
                <a:solidFill>
                  <a:srgbClr val="007D7F"/>
                </a:solidFill>
                <a:latin typeface="Arial"/>
                <a:ea typeface="Arial"/>
                <a:cs typeface="Arial"/>
              </a:defRPr>
            </a:pPr>
            <a:r>
              <a:rPr sz="2700" b="1">
                <a:solidFill>
                  <a:srgbClr val="007D7F"/>
                </a:solidFill>
                <a:latin typeface="Arial"/>
                <a:ea typeface="Arial"/>
                <a:cs typeface="Arial"/>
              </a:rPr>
              <a:t>Recorded data</a:t>
            </a:r>
          </a:p>
        </p:txBody>
      </p:sp>
      <p:sp>
        <p:nvSpPr>
          <p:cNvPr id="5" name="">
            <a:extLst xmlns:a="http://schemas.openxmlformats.org/drawingml/2006/main">
              <a:ext uri="{FF2B5EF4-FFF2-40B4-BE49-F238E27FC236}">
                <a16:creationId xmlns:a16="http://schemas.microsoft.com/office/drawing/2014/main" id="{15A32739-E569-42F9-937F-FD14CB9ACDEF}"/>
              </a:ext>
            </a:extLst>
          </p:cNvPr>
          <p:cNvSpPr>
            <a:spLocks xmlns:a="http://schemas.openxmlformats.org/drawingml/2006/main" noGrp="1"/>
          </p:cNvSpPr>
          <p:nvPr/>
        </p:nvSpPr>
        <p:spPr>
          <a:xfrm xmlns:a="http://schemas.openxmlformats.org/drawingml/2006/main">
            <a:off x="819150" y="3371850"/>
            <a:ext cx="2552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Fixed transitions</a:t>
            </a:r>
          </a:p>
        </p:txBody>
      </p:sp>
      <p:sp>
        <p:nvSpPr>
          <p:cNvPr id="6" name="">
            <a:extLst xmlns:a="http://schemas.openxmlformats.org/drawingml/2006/main">
              <a:ext uri="{FF2B5EF4-FFF2-40B4-BE49-F238E27FC236}">
                <a16:creationId xmlns:a16="http://schemas.microsoft.com/office/drawing/2014/main" id="{5B8A7DF4-ACCA-4E63-BE2D-6F5A61585E55}"/>
              </a:ext>
            </a:extLst>
          </p:cNvPr>
          <p:cNvSpPr>
            <a:spLocks xmlns:a="http://schemas.openxmlformats.org/drawingml/2006/main" noGrp="1"/>
          </p:cNvSpPr>
          <p:nvPr/>
        </p:nvSpPr>
        <p:spPr>
          <a:xfrm xmlns:a="http://schemas.openxmlformats.org/drawingml/2006/main">
            <a:off x="3752850" y="3162300"/>
            <a:ext cx="45720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0957A8F-1F81-4868-86ED-3E5A0B232994}"/>
              </a:ext>
            </a:extLst>
          </p:cNvPr>
          <p:cNvSpPr>
            <a:spLocks xmlns:a="http://schemas.openxmlformats.org/drawingml/2006/main" noGrp="1"/>
          </p:cNvSpPr>
          <p:nvPr/>
        </p:nvSpPr>
        <p:spPr>
          <a:xfrm xmlns:a="http://schemas.openxmlformats.org/drawingml/2006/main">
            <a:off x="4419600" y="2590800"/>
            <a:ext cx="2971800" cy="1409700"/>
          </a:xfrm>
          <a:prstGeom xmlns:a="http://schemas.openxmlformats.org/drawingml/2006/main" prst="rect">
            <a:avLst/>
          </a:prstGeom>
          <a:solidFill xmlns:a="http://schemas.openxmlformats.org/drawingml/2006/main">
            <a:srgbClr val="E9F4F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BBE4444-E307-40BB-A6D6-F282155C8627}"/>
              </a:ext>
            </a:extLst>
          </p:cNvPr>
          <p:cNvSpPr>
            <a:spLocks xmlns:a="http://schemas.openxmlformats.org/drawingml/2006/main" noGrp="1"/>
          </p:cNvSpPr>
          <p:nvPr/>
        </p:nvSpPr>
        <p:spPr>
          <a:xfrm xmlns:a="http://schemas.openxmlformats.org/drawingml/2006/main">
            <a:off x="4629150" y="2800350"/>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007D7F"/>
                </a:solidFill>
                <a:latin typeface="Arial"/>
                <a:ea typeface="Arial"/>
                <a:cs typeface="Arial"/>
              </a:defRPr>
            </a:defPPr>
          </a:lstStyle>
          <a:p xmlns:a="http://schemas.openxmlformats.org/drawingml/2006/main">
            <a:pPr algn="l">
              <a:defRPr sz="2700" b="1">
                <a:solidFill>
                  <a:srgbClr val="007D7F"/>
                </a:solidFill>
                <a:latin typeface="Arial"/>
                <a:ea typeface="Arial"/>
                <a:cs typeface="Arial"/>
              </a:defRPr>
            </a:pPr>
            <a:r>
              <a:rPr sz="2700" b="1">
                <a:solidFill>
                  <a:srgbClr val="007D7F"/>
                </a:solidFill>
                <a:latin typeface="Arial"/>
                <a:ea typeface="Arial"/>
                <a:cs typeface="Arial"/>
              </a:rPr>
              <a:t>IQL learner</a:t>
            </a:r>
          </a:p>
        </p:txBody>
      </p:sp>
      <p:sp>
        <p:nvSpPr>
          <p:cNvPr id="9" name="">
            <a:extLst xmlns:a="http://schemas.openxmlformats.org/drawingml/2006/main">
              <a:ext uri="{FF2B5EF4-FFF2-40B4-BE49-F238E27FC236}">
                <a16:creationId xmlns:a16="http://schemas.microsoft.com/office/drawing/2014/main" id="{F5AB781A-4209-4297-88CD-8D3BA23A60A4}"/>
              </a:ext>
            </a:extLst>
          </p:cNvPr>
          <p:cNvSpPr>
            <a:spLocks xmlns:a="http://schemas.openxmlformats.org/drawingml/2006/main" noGrp="1"/>
          </p:cNvSpPr>
          <p:nvPr/>
        </p:nvSpPr>
        <p:spPr>
          <a:xfrm xmlns:a="http://schemas.openxmlformats.org/drawingml/2006/main">
            <a:off x="4629150" y="3371850"/>
            <a:ext cx="2552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Values and actor</a:t>
            </a:r>
          </a:p>
        </p:txBody>
      </p:sp>
      <p:sp>
        <p:nvSpPr>
          <p:cNvPr id="10" name="">
            <a:extLst xmlns:a="http://schemas.openxmlformats.org/drawingml/2006/main">
              <a:ext uri="{FF2B5EF4-FFF2-40B4-BE49-F238E27FC236}">
                <a16:creationId xmlns:a16="http://schemas.microsoft.com/office/drawing/2014/main" id="{6B6A2362-0E77-4AFA-8B7B-FB6AA640FDD0}"/>
              </a:ext>
            </a:extLst>
          </p:cNvPr>
          <p:cNvSpPr>
            <a:spLocks xmlns:a="http://schemas.openxmlformats.org/drawingml/2006/main" noGrp="1"/>
          </p:cNvSpPr>
          <p:nvPr/>
        </p:nvSpPr>
        <p:spPr>
          <a:xfrm xmlns:a="http://schemas.openxmlformats.org/drawingml/2006/main">
            <a:off x="7562850" y="3162300"/>
            <a:ext cx="45720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3ABDE2-E4C1-45EC-A4C9-1C236AFD8C87}"/>
              </a:ext>
            </a:extLst>
          </p:cNvPr>
          <p:cNvSpPr>
            <a:spLocks xmlns:a="http://schemas.openxmlformats.org/drawingml/2006/main" noGrp="1"/>
          </p:cNvSpPr>
          <p:nvPr/>
        </p:nvSpPr>
        <p:spPr>
          <a:xfrm xmlns:a="http://schemas.openxmlformats.org/drawingml/2006/main">
            <a:off x="8229600" y="2590800"/>
            <a:ext cx="3352800" cy="1409700"/>
          </a:xfrm>
          <a:prstGeom xmlns:a="http://schemas.openxmlformats.org/drawingml/2006/main" prst="rect">
            <a:avLst/>
          </a:prstGeom>
          <a:solidFill xmlns:a="http://schemas.openxmlformats.org/drawingml/2006/main">
            <a:srgbClr val="E9F4F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AF14275-835F-42A3-AF05-31784948F4A5}"/>
              </a:ext>
            </a:extLst>
          </p:cNvPr>
          <p:cNvSpPr>
            <a:spLocks xmlns:a="http://schemas.openxmlformats.org/drawingml/2006/main" noGrp="1"/>
          </p:cNvSpPr>
          <p:nvPr/>
        </p:nvSpPr>
        <p:spPr>
          <a:xfrm xmlns:a="http://schemas.openxmlformats.org/drawingml/2006/main">
            <a:off x="8439150" y="2800350"/>
            <a:ext cx="2933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007D7F"/>
                </a:solidFill>
                <a:latin typeface="Arial"/>
                <a:ea typeface="Arial"/>
                <a:cs typeface="Arial"/>
              </a:defRPr>
            </a:defPPr>
          </a:lstStyle>
          <a:p xmlns:a="http://schemas.openxmlformats.org/drawingml/2006/main">
            <a:pPr algn="l">
              <a:defRPr sz="2700" b="1">
                <a:solidFill>
                  <a:srgbClr val="007D7F"/>
                </a:solidFill>
                <a:latin typeface="Arial"/>
                <a:ea typeface="Arial"/>
                <a:cs typeface="Arial"/>
              </a:defRPr>
            </a:pPr>
            <a:r>
              <a:rPr sz="2700" b="1">
                <a:solidFill>
                  <a:srgbClr val="007D7F"/>
                </a:solidFill>
                <a:latin typeface="Arial"/>
                <a:ea typeface="Arial"/>
                <a:cs typeface="Arial"/>
              </a:rPr>
              <a:t>Policy</a:t>
            </a:r>
          </a:p>
        </p:txBody>
      </p:sp>
      <p:sp>
        <p:nvSpPr>
          <p:cNvPr id="13" name="">
            <a:extLst xmlns:a="http://schemas.openxmlformats.org/drawingml/2006/main">
              <a:ext uri="{FF2B5EF4-FFF2-40B4-BE49-F238E27FC236}">
                <a16:creationId xmlns:a16="http://schemas.microsoft.com/office/drawing/2014/main" id="{CE77702D-4929-4469-9B7E-A0F64CAA0CB1}"/>
              </a:ext>
            </a:extLst>
          </p:cNvPr>
          <p:cNvSpPr>
            <a:spLocks xmlns:a="http://schemas.openxmlformats.org/drawingml/2006/main" noGrp="1"/>
          </p:cNvSpPr>
          <p:nvPr/>
        </p:nvSpPr>
        <p:spPr>
          <a:xfrm xmlns:a="http://schemas.openxmlformats.org/drawingml/2006/main">
            <a:off x="8439150" y="3371850"/>
            <a:ext cx="2933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6 bounded torques</a:t>
            </a:r>
          </a:p>
        </p:txBody>
      </p:sp>
      <p:sp>
        <p:nvSpPr>
          <p:cNvPr id="14" name="">
            <a:extLst xmlns:a="http://schemas.openxmlformats.org/drawingml/2006/main">
              <a:ext uri="{FF2B5EF4-FFF2-40B4-BE49-F238E27FC236}">
                <a16:creationId xmlns:a16="http://schemas.microsoft.com/office/drawing/2014/main" id="{0CEC2840-55D4-4764-BAC5-09293E736274}"/>
              </a:ext>
            </a:extLst>
          </p:cNvPr>
          <p:cNvSpPr>
            <a:spLocks xmlns:a="http://schemas.openxmlformats.org/drawingml/2006/main" noGrp="1"/>
          </p:cNvSpPr>
          <p:nvPr/>
        </p:nvSpPr>
        <p:spPr>
          <a:xfrm xmlns:a="http://schemas.openxmlformats.org/drawingml/2006/main">
            <a:off x="609600" y="4191000"/>
            <a:ext cx="600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75" b="0">
                <a:solidFill>
                  <a:srgbClr val="112D3D"/>
                </a:solidFill>
                <a:latin typeface="Arial"/>
                <a:ea typeface="Arial"/>
                <a:cs typeface="Arial"/>
              </a:defRPr>
            </a:defPPr>
          </a:lstStyle>
          <a:p xmlns:a="http://schemas.openxmlformats.org/drawingml/2006/main">
            <a:pPr algn="l">
              <a:defRPr sz="2175" b="0">
                <a:solidFill>
                  <a:srgbClr val="112D3D"/>
                </a:solidFill>
                <a:latin typeface="Arial"/>
                <a:ea typeface="Arial"/>
                <a:cs typeface="Arial"/>
              </a:defRPr>
            </a:pPr>
            <a:r>
              <a:rPr sz="2175" b="0">
                <a:solidFill>
                  <a:srgbClr val="112D3D"/>
                </a:solidFill>
                <a:latin typeface="Arial"/>
                <a:ea typeface="Arial"/>
                <a:cs typeface="Arial"/>
              </a:rPr>
              <a:t>(state, action, reward, next state)</a:t>
            </a:r>
          </a:p>
        </p:txBody>
      </p:sp>
      <p:sp>
        <p:nvSpPr>
          <p:cNvPr id="15" name="">
            <a:extLst xmlns:a="http://schemas.openxmlformats.org/drawingml/2006/main">
              <a:ext uri="{FF2B5EF4-FFF2-40B4-BE49-F238E27FC236}">
                <a16:creationId xmlns:a16="http://schemas.microsoft.com/office/drawing/2014/main" id="{F65F10F4-113A-4E24-92F4-D143CF58C917}"/>
              </a:ext>
            </a:extLst>
          </p:cNvPr>
          <p:cNvSpPr>
            <a:spLocks xmlns:a="http://schemas.openxmlformats.org/drawingml/2006/main" noGrp="1"/>
          </p:cNvSpPr>
          <p:nvPr/>
        </p:nvSpPr>
        <p:spPr>
          <a:xfrm xmlns:a="http://schemas.openxmlformats.org/drawingml/2006/main">
            <a:off x="9667875" y="4171950"/>
            <a:ext cx="342900" cy="514350"/>
          </a:xfrm>
          <a:prstGeom xmlns:a="http://schemas.openxmlformats.org/drawingml/2006/main" prst="downArrow">
            <a:avLst/>
          </a:prstGeom>
          <a:solidFill xmlns:a="http://schemas.openxmlformats.org/drawingml/2006/main">
            <a:srgbClr val="CB650E"/>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F722D9E-B902-41AE-A6DF-C307C1549B0C}"/>
              </a:ext>
            </a:extLst>
          </p:cNvPr>
          <p:cNvSpPr>
            <a:spLocks xmlns:a="http://schemas.openxmlformats.org/drawingml/2006/main" noGrp="1"/>
          </p:cNvSpPr>
          <p:nvPr/>
        </p:nvSpPr>
        <p:spPr>
          <a:xfrm xmlns:a="http://schemas.openxmlformats.org/drawingml/2006/main">
            <a:off x="7753350" y="4876800"/>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550" b="1">
                <a:solidFill>
                  <a:srgbClr val="CB650E"/>
                </a:solidFill>
                <a:latin typeface="Arial"/>
                <a:ea typeface="Arial"/>
                <a:cs typeface="Arial"/>
              </a:defRPr>
            </a:defPPr>
          </a:lstStyle>
          <a:p xmlns:a="http://schemas.openxmlformats.org/drawingml/2006/main">
            <a:pPr algn="ctr">
              <a:defRPr sz="2550" b="1">
                <a:solidFill>
                  <a:srgbClr val="CB650E"/>
                </a:solidFill>
                <a:latin typeface="Arial"/>
                <a:ea typeface="Arial"/>
                <a:cs typeface="Arial"/>
              </a:defRPr>
            </a:pPr>
            <a:r>
              <a:rPr sz="2550" b="1">
                <a:solidFill>
                  <a:srgbClr val="CB650E"/>
                </a:solidFill>
                <a:latin typeface="Arial"/>
                <a:ea typeface="Arial"/>
                <a:cs typeface="Arial"/>
              </a:rPr>
              <a:t>Simulator evaluation</a:t>
            </a:r>
          </a:p>
        </p:txBody>
      </p:sp>
      <p:sp>
        <p:nvSpPr>
          <p:cNvPr id="17" name="">
            <a:extLst xmlns:a="http://schemas.openxmlformats.org/drawingml/2006/main">
              <a:ext uri="{FF2B5EF4-FFF2-40B4-BE49-F238E27FC236}">
                <a16:creationId xmlns:a16="http://schemas.microsoft.com/office/drawing/2014/main" id="{29F16A10-7BFF-430F-BEE2-2B365383C949}"/>
              </a:ext>
            </a:extLst>
          </p:cNvPr>
          <p:cNvSpPr>
            <a:spLocks xmlns:a="http://schemas.openxmlformats.org/drawingml/2006/main" noGrp="1"/>
          </p:cNvSpPr>
          <p:nvPr/>
        </p:nvSpPr>
        <p:spPr>
          <a:xfrm xmlns:a="http://schemas.openxmlformats.org/drawingml/2006/main">
            <a:off x="7753350" y="5419725"/>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2250" b="0">
                <a:solidFill>
                  <a:srgbClr val="112D3D"/>
                </a:solidFill>
                <a:latin typeface="Arial"/>
                <a:ea typeface="Arial"/>
                <a:cs typeface="Arial"/>
              </a:defRPr>
            </a:defPPr>
          </a:lstStyle>
          <a:p xmlns:a="http://schemas.openxmlformats.org/drawingml/2006/main">
            <a:pPr algn="ctr">
              <a:defRPr sz="2250" b="0">
                <a:solidFill>
                  <a:srgbClr val="112D3D"/>
                </a:solidFill>
                <a:latin typeface="Arial"/>
                <a:ea typeface="Arial"/>
                <a:cs typeface="Arial"/>
              </a:defRPr>
            </a:pPr>
            <a:r>
              <a:rPr sz="2250" b="0">
                <a:solidFill>
                  <a:srgbClr val="112D3D"/>
                </a:solidFill>
                <a:latin typeface="Arial"/>
                <a:ea typeface="Arial"/>
                <a:cs typeface="Arial"/>
              </a:rPr>
              <a:t>Complete policy episodes</a:t>
            </a:r>
          </a:p>
        </p:txBody>
      </p:sp>
      <p:sp>
        <p:nvSpPr>
          <p:cNvPr id="18" name="">
            <a:extLst xmlns:a="http://schemas.openxmlformats.org/drawingml/2006/main">
              <a:ext uri="{FF2B5EF4-FFF2-40B4-BE49-F238E27FC236}">
                <a16:creationId xmlns:a16="http://schemas.microsoft.com/office/drawing/2014/main" id="{F4E63130-592B-4DB5-961D-32C09B0B512C}"/>
              </a:ext>
            </a:extLst>
          </p:cNvPr>
          <p:cNvSpPr>
            <a:spLocks xmlns:a="http://schemas.openxmlformats.org/drawingml/2006/main" noGrp="1"/>
          </p:cNvSpPr>
          <p:nvPr/>
        </p:nvSpPr>
        <p:spPr>
          <a:xfrm xmlns:a="http://schemas.openxmlformats.org/drawingml/2006/main">
            <a:off x="609600" y="5172075"/>
            <a:ext cx="6572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000" b="1">
                <a:solidFill>
                  <a:srgbClr val="007D7F"/>
                </a:solidFill>
                <a:latin typeface="Arial"/>
                <a:ea typeface="Arial"/>
                <a:cs typeface="Arial"/>
              </a:defRPr>
            </a:defPPr>
          </a:lstStyle>
          <a:p xmlns:a="http://schemas.openxmlformats.org/drawingml/2006/main">
            <a:pPr algn="l">
              <a:defRPr sz="3000" b="1">
                <a:solidFill>
                  <a:srgbClr val="007D7F"/>
                </a:solidFill>
                <a:latin typeface="Arial"/>
                <a:ea typeface="Arial"/>
                <a:cs typeface="Arial"/>
              </a:defRPr>
            </a:pPr>
            <a:r>
              <a:rPr sz="3000" b="1">
                <a:solidFill>
                  <a:srgbClr val="007D7F"/>
                </a:solidFill>
                <a:latin typeface="Arial"/>
                <a:ea typeface="Arial"/>
                <a:cs typeface="Arial"/>
              </a:rPr>
              <a:t>Better recorded actions</a:t>
            </a:r>
          </a:p>
          <a:p xmlns:a="http://schemas.openxmlformats.org/drawingml/2006/main">
            <a:pPr algn="l">
              <a:defRPr sz="3000" b="1">
                <a:solidFill>
                  <a:srgbClr val="007D7F"/>
                </a:solidFill>
                <a:latin typeface="Arial"/>
                <a:ea typeface="Arial"/>
                <a:cs typeface="Arial"/>
              </a:defRPr>
            </a:pPr>
            <a:r>
              <a:rPr sz="3000" b="1">
                <a:solidFill>
                  <a:srgbClr val="007D7F"/>
                </a:solidFill>
                <a:latin typeface="Arial"/>
                <a:ea typeface="Arial"/>
                <a:cs typeface="Arial"/>
              </a:rPr>
              <a:t>receive more weight</a:t>
            </a:r>
          </a:p>
        </p:txBody>
      </p:sp>
    </p:spTree>
    <p:extLst>
      <p:ext uri="{BB962C8B-B14F-4D97-AF65-F5344CB8AC3E}">
        <p14:creationId xmlns:p14="http://schemas.microsoft.com/office/powerpoint/2010/main" val="189942654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A9A26C1-46C4-4B87-B2E2-FA2028EAA612}"/>
              </a:ext>
            </a:extLst>
          </p:cNvPr>
          <p:cNvSpPr>
            <a:spLocks xmlns:a="http://schemas.openxmlformats.org/drawingml/2006/main" noGrp="1"/>
          </p:cNvSpPr>
          <p:nvPr/>
        </p:nvSpPr>
        <p:spPr>
          <a:xfrm xmlns:a="http://schemas.openxmlformats.org/drawingml/2006/main">
            <a:off x="609600" y="4572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900" b="1">
                <a:solidFill>
                  <a:srgbClr val="112D3D"/>
                </a:solidFill>
                <a:latin typeface="Arial"/>
                <a:ea typeface="Arial"/>
                <a:cs typeface="Arial"/>
              </a:defRPr>
            </a:defPPr>
          </a:lstStyle>
          <a:p xmlns:a="http://schemas.openxmlformats.org/drawingml/2006/main">
            <a:pPr algn="l">
              <a:defRPr sz="3900" b="1">
                <a:solidFill>
                  <a:srgbClr val="112D3D"/>
                </a:solidFill>
                <a:latin typeface="Arial"/>
                <a:ea typeface="Arial"/>
                <a:cs typeface="Arial"/>
              </a:defRPr>
            </a:pPr>
            <a:r>
              <a:rPr sz="3900" b="1">
                <a:solidFill>
                  <a:srgbClr val="112D3D"/>
                </a:solidFill>
                <a:latin typeface="Arial"/>
                <a:ea typeface="Arial"/>
                <a:cs typeface="Arial"/>
              </a:rPr>
              <a:t>The three IQL updates</a:t>
            </a:r>
          </a:p>
        </p:txBody>
      </p:sp>
      <p:sp>
        <p:nvSpPr>
          <p:cNvPr id="2" name="">
            <a:extLst xmlns:a="http://schemas.openxmlformats.org/drawingml/2006/main">
              <a:ext uri="{FF2B5EF4-FFF2-40B4-BE49-F238E27FC236}">
                <a16:creationId xmlns:a16="http://schemas.microsoft.com/office/drawing/2014/main" id="{2EE8822A-6CB7-48BC-ABE4-9ECFDC098A1F}"/>
              </a:ext>
            </a:extLst>
          </p:cNvPr>
          <p:cNvSpPr>
            <a:spLocks xmlns:a="http://schemas.openxmlformats.org/drawingml/2006/main" noGrp="1"/>
          </p:cNvSpPr>
          <p:nvPr/>
        </p:nvSpPr>
        <p:spPr>
          <a:xfrm xmlns:a="http://schemas.openxmlformats.org/drawingml/2006/main">
            <a:off x="609600" y="1638300"/>
            <a:ext cx="9715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4650" b="1">
                <a:solidFill>
                  <a:srgbClr val="007D7F"/>
                </a:solidFill>
                <a:latin typeface="Arial"/>
                <a:ea typeface="Arial"/>
                <a:cs typeface="Arial"/>
              </a:defRPr>
            </a:defPPr>
          </a:lstStyle>
          <a:p xmlns:a="http://schemas.openxmlformats.org/drawingml/2006/main">
            <a:pPr algn="l">
              <a:defRPr sz="4650" b="1">
                <a:solidFill>
                  <a:srgbClr val="007D7F"/>
                </a:solidFill>
                <a:latin typeface="Arial"/>
                <a:ea typeface="Arial"/>
                <a:cs typeface="Arial"/>
              </a:defRPr>
            </a:pPr>
            <a:r>
              <a:rPr sz="4650" b="1">
                <a:solidFill>
                  <a:srgbClr val="007D7F"/>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B12B4856-C07F-4C3E-9A86-9479EEB3FE41}"/>
              </a:ext>
            </a:extLst>
          </p:cNvPr>
          <p:cNvSpPr>
            <a:spLocks xmlns:a="http://schemas.openxmlformats.org/drawingml/2006/main" noGrp="1"/>
          </p:cNvSpPr>
          <p:nvPr/>
        </p:nvSpPr>
        <p:spPr>
          <a:xfrm xmlns:a="http://schemas.openxmlformats.org/drawingml/2006/main">
            <a:off x="609600" y="3219450"/>
            <a:ext cx="9715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4650" b="1">
                <a:solidFill>
                  <a:srgbClr val="007D7F"/>
                </a:solidFill>
                <a:latin typeface="Arial"/>
                <a:ea typeface="Arial"/>
                <a:cs typeface="Arial"/>
              </a:defRPr>
            </a:defPPr>
          </a:lstStyle>
          <a:p xmlns:a="http://schemas.openxmlformats.org/drawingml/2006/main">
            <a:pPr algn="l">
              <a:defRPr sz="4650" b="1">
                <a:solidFill>
                  <a:srgbClr val="007D7F"/>
                </a:solidFill>
                <a:latin typeface="Arial"/>
                <a:ea typeface="Arial"/>
                <a:cs typeface="Arial"/>
              </a:defRPr>
            </a:pPr>
            <a:r>
              <a:rPr sz="4650" b="1">
                <a:solidFill>
                  <a:srgbClr val="007D7F"/>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BBA93922-1D2B-401C-A063-6410C8EA18F5}"/>
              </a:ext>
            </a:extLst>
          </p:cNvPr>
          <p:cNvSpPr>
            <a:spLocks xmlns:a="http://schemas.openxmlformats.org/drawingml/2006/main" noGrp="1"/>
          </p:cNvSpPr>
          <p:nvPr/>
        </p:nvSpPr>
        <p:spPr>
          <a:xfrm xmlns:a="http://schemas.openxmlformats.org/drawingml/2006/main">
            <a:off x="609600" y="4800600"/>
            <a:ext cx="9715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4650" b="1">
                <a:solidFill>
                  <a:srgbClr val="CB650E"/>
                </a:solidFill>
                <a:latin typeface="Arial"/>
                <a:ea typeface="Arial"/>
                <a:cs typeface="Arial"/>
              </a:defRPr>
            </a:defPPr>
          </a:lstStyle>
          <a:p xmlns:a="http://schemas.openxmlformats.org/drawingml/2006/main">
            <a:pPr algn="l">
              <a:defRPr sz="4650" b="1">
                <a:solidFill>
                  <a:srgbClr val="CB650E"/>
                </a:solidFill>
                <a:latin typeface="Arial"/>
                <a:ea typeface="Arial"/>
                <a:cs typeface="Arial"/>
              </a:defRPr>
            </a:pPr>
            <a:r>
              <a:rPr sz="4650" b="1">
                <a:solidFill>
                  <a:srgbClr val="CB650E"/>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2D6F7BB4-59C4-43CE-9F17-55F78A723AC4}"/>
              </a:ext>
            </a:extLst>
          </p:cNvPr>
          <p:cNvSpPr>
            <a:spLocks xmlns:a="http://schemas.openxmlformats.org/drawingml/2006/main" noGrp="1"/>
          </p:cNvSpPr>
          <p:nvPr/>
        </p:nvSpPr>
        <p:spPr>
          <a:xfrm xmlns:a="http://schemas.openxmlformats.org/drawingml/2006/main">
            <a:off x="1857375" y="1676400"/>
            <a:ext cx="30289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000" b="1">
                <a:solidFill>
                  <a:srgbClr val="112D3D"/>
                </a:solidFill>
                <a:latin typeface="Arial"/>
                <a:ea typeface="Arial"/>
                <a:cs typeface="Arial"/>
              </a:defRPr>
            </a:defPPr>
          </a:lstStyle>
          <a:p xmlns:a="http://schemas.openxmlformats.org/drawingml/2006/main">
            <a:pPr algn="l">
              <a:defRPr sz="3000" b="1">
                <a:solidFill>
                  <a:srgbClr val="112D3D"/>
                </a:solidFill>
                <a:latin typeface="Arial"/>
                <a:ea typeface="Arial"/>
                <a:cs typeface="Arial"/>
              </a:defRPr>
            </a:pPr>
            <a:r>
              <a:rPr sz="3000" b="1">
                <a:solidFill>
                  <a:srgbClr val="112D3D"/>
                </a:solidFill>
                <a:latin typeface="Arial"/>
                <a:ea typeface="Arial"/>
                <a:cs typeface="Arial"/>
              </a:rPr>
              <a:t>Value V</a:t>
            </a:r>
          </a:p>
        </p:txBody>
      </p:sp>
      <p:sp>
        <p:nvSpPr>
          <p:cNvPr id="6" name="">
            <a:extLst xmlns:a="http://schemas.openxmlformats.org/drawingml/2006/main">
              <a:ext uri="{FF2B5EF4-FFF2-40B4-BE49-F238E27FC236}">
                <a16:creationId xmlns:a16="http://schemas.microsoft.com/office/drawing/2014/main" id="{0E527F12-39EE-4C21-8B69-3D2B6AD249F9}"/>
              </a:ext>
            </a:extLst>
          </p:cNvPr>
          <p:cNvSpPr>
            <a:spLocks xmlns:a="http://schemas.openxmlformats.org/drawingml/2006/main" noGrp="1"/>
          </p:cNvSpPr>
          <p:nvPr/>
        </p:nvSpPr>
        <p:spPr>
          <a:xfrm xmlns:a="http://schemas.openxmlformats.org/drawingml/2006/main">
            <a:off x="1857375" y="2238375"/>
            <a:ext cx="304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Upper expectile</a:t>
            </a:r>
          </a:p>
        </p:txBody>
      </p:sp>
      <p:sp>
        <p:nvSpPr>
          <p:cNvPr id="7" name="">
            <a:extLst xmlns:a="http://schemas.openxmlformats.org/drawingml/2006/main">
              <a:ext uri="{FF2B5EF4-FFF2-40B4-BE49-F238E27FC236}">
                <a16:creationId xmlns:a16="http://schemas.microsoft.com/office/drawing/2014/main" id="{C37B2183-8FAE-42B0-AE13-D1B2C457790C}"/>
              </a:ext>
            </a:extLst>
          </p:cNvPr>
          <p:cNvSpPr>
            <a:spLocks xmlns:a="http://schemas.openxmlformats.org/drawingml/2006/main" noGrp="1"/>
          </p:cNvSpPr>
          <p:nvPr/>
        </p:nvSpPr>
        <p:spPr>
          <a:xfrm xmlns:a="http://schemas.openxmlformats.org/drawingml/2006/main">
            <a:off x="4981575" y="1943100"/>
            <a:ext cx="51435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E9EB055-27CA-4601-A574-CBFDD19573EB}"/>
              </a:ext>
            </a:extLst>
          </p:cNvPr>
          <p:cNvSpPr>
            <a:spLocks xmlns:a="http://schemas.openxmlformats.org/drawingml/2006/main" noGrp="1"/>
          </p:cNvSpPr>
          <p:nvPr/>
        </p:nvSpPr>
        <p:spPr>
          <a:xfrm xmlns:a="http://schemas.openxmlformats.org/drawingml/2006/main">
            <a:off x="5743575" y="1704975"/>
            <a:ext cx="5000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112D3D"/>
                </a:solidFill>
                <a:latin typeface="Arial"/>
                <a:ea typeface="Arial"/>
                <a:cs typeface="Arial"/>
              </a:defRPr>
            </a:defPPr>
          </a:lstStyle>
          <a:p xmlns:a="http://schemas.openxmlformats.org/drawingml/2006/main">
            <a:pPr algn="l">
              <a:defRPr sz="2550" b="1">
                <a:solidFill>
                  <a:srgbClr val="112D3D"/>
                </a:solidFill>
                <a:latin typeface="Arial"/>
                <a:ea typeface="Arial"/>
                <a:cs typeface="Arial"/>
              </a:defRPr>
            </a:pPr>
            <a:r>
              <a:rPr sz="2550" b="1">
                <a:solidFill>
                  <a:srgbClr val="112D3D"/>
                </a:solidFill>
                <a:latin typeface="Arial"/>
                <a:ea typeface="Arial"/>
                <a:cs typeface="Arial"/>
              </a:rPr>
              <a:t>Favor stronger actions</a:t>
            </a:r>
          </a:p>
        </p:txBody>
      </p:sp>
      <p:sp>
        <p:nvSpPr>
          <p:cNvPr id="9" name="">
            <a:extLst xmlns:a="http://schemas.openxmlformats.org/drawingml/2006/main">
              <a:ext uri="{FF2B5EF4-FFF2-40B4-BE49-F238E27FC236}">
                <a16:creationId xmlns:a16="http://schemas.microsoft.com/office/drawing/2014/main" id="{DEED7132-272A-46CC-BF78-E85735B3397A}"/>
              </a:ext>
            </a:extLst>
          </p:cNvPr>
          <p:cNvSpPr>
            <a:spLocks xmlns:a="http://schemas.openxmlformats.org/drawingml/2006/main" noGrp="1"/>
          </p:cNvSpPr>
          <p:nvPr/>
        </p:nvSpPr>
        <p:spPr>
          <a:xfrm xmlns:a="http://schemas.openxmlformats.org/drawingml/2006/main">
            <a:off x="5743575" y="2257425"/>
            <a:ext cx="5619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475" b="0">
                <a:solidFill>
                  <a:srgbClr val="007D7F"/>
                </a:solidFill>
                <a:latin typeface="Arial"/>
                <a:ea typeface="Arial"/>
                <a:cs typeface="Arial"/>
              </a:defRPr>
            </a:defPPr>
          </a:lstStyle>
          <a:p xmlns:a="http://schemas.openxmlformats.org/drawingml/2006/main">
            <a:pPr algn="l">
              <a:defRPr sz="2475" b="0">
                <a:solidFill>
                  <a:srgbClr val="007D7F"/>
                </a:solidFill>
                <a:latin typeface="Arial"/>
                <a:ea typeface="Arial"/>
                <a:cs typeface="Arial"/>
              </a:defRPr>
            </a:pPr>
            <a:r>
              <a:rPr sz="2475" b="0">
                <a:solidFill>
                  <a:srgbClr val="007D7F"/>
                </a:solidFill>
                <a:latin typeface="Arial"/>
                <a:ea typeface="Arial"/>
                <a:cs typeface="Arial"/>
              </a:rPr>
              <a:t>expectile = 0.7</a:t>
            </a:r>
          </a:p>
        </p:txBody>
      </p:sp>
      <p:sp>
        <p:nvSpPr>
          <p:cNvPr id="10" name="">
            <a:extLst xmlns:a="http://schemas.openxmlformats.org/drawingml/2006/main">
              <a:ext uri="{FF2B5EF4-FFF2-40B4-BE49-F238E27FC236}">
                <a16:creationId xmlns:a16="http://schemas.microsoft.com/office/drawing/2014/main" id="{70C96A4D-E8A1-43D1-B5F5-C1A0556275FC}"/>
              </a:ext>
            </a:extLst>
          </p:cNvPr>
          <p:cNvSpPr>
            <a:spLocks xmlns:a="http://schemas.openxmlformats.org/drawingml/2006/main" noGrp="1"/>
          </p:cNvSpPr>
          <p:nvPr/>
        </p:nvSpPr>
        <p:spPr>
          <a:xfrm xmlns:a="http://schemas.openxmlformats.org/drawingml/2006/main">
            <a:off x="1857375" y="3257550"/>
            <a:ext cx="30289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000" b="1">
                <a:solidFill>
                  <a:srgbClr val="112D3D"/>
                </a:solidFill>
                <a:latin typeface="Arial"/>
                <a:ea typeface="Arial"/>
                <a:cs typeface="Arial"/>
              </a:defRPr>
            </a:defPPr>
          </a:lstStyle>
          <a:p xmlns:a="http://schemas.openxmlformats.org/drawingml/2006/main">
            <a:pPr algn="l">
              <a:defRPr sz="3000" b="1">
                <a:solidFill>
                  <a:srgbClr val="112D3D"/>
                </a:solidFill>
                <a:latin typeface="Arial"/>
                <a:ea typeface="Arial"/>
                <a:cs typeface="Arial"/>
              </a:defRPr>
            </a:pPr>
            <a:r>
              <a:rPr sz="3000" b="1">
                <a:solidFill>
                  <a:srgbClr val="112D3D"/>
                </a:solidFill>
                <a:latin typeface="Arial"/>
                <a:ea typeface="Arial"/>
                <a:cs typeface="Arial"/>
              </a:rPr>
              <a:t>Twin critics</a:t>
            </a:r>
          </a:p>
        </p:txBody>
      </p:sp>
      <p:sp>
        <p:nvSpPr>
          <p:cNvPr id="11" name="">
            <a:extLst xmlns:a="http://schemas.openxmlformats.org/drawingml/2006/main">
              <a:ext uri="{FF2B5EF4-FFF2-40B4-BE49-F238E27FC236}">
                <a16:creationId xmlns:a16="http://schemas.microsoft.com/office/drawing/2014/main" id="{F91474D8-1E27-4CB7-88F2-30A9D6CF6CDB}"/>
              </a:ext>
            </a:extLst>
          </p:cNvPr>
          <p:cNvSpPr>
            <a:spLocks xmlns:a="http://schemas.openxmlformats.org/drawingml/2006/main" noGrp="1"/>
          </p:cNvSpPr>
          <p:nvPr/>
        </p:nvSpPr>
        <p:spPr>
          <a:xfrm xmlns:a="http://schemas.openxmlformats.org/drawingml/2006/main">
            <a:off x="1857375" y="3819525"/>
            <a:ext cx="3028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Q1 and Q2</a:t>
            </a:r>
          </a:p>
        </p:txBody>
      </p:sp>
      <p:sp>
        <p:nvSpPr>
          <p:cNvPr id="12" name="">
            <a:extLst xmlns:a="http://schemas.openxmlformats.org/drawingml/2006/main">
              <a:ext uri="{FF2B5EF4-FFF2-40B4-BE49-F238E27FC236}">
                <a16:creationId xmlns:a16="http://schemas.microsoft.com/office/drawing/2014/main" id="{3B6BBAAD-40F6-4B33-8456-2B641D9A14A1}"/>
              </a:ext>
            </a:extLst>
          </p:cNvPr>
          <p:cNvSpPr>
            <a:spLocks xmlns:a="http://schemas.openxmlformats.org/drawingml/2006/main" noGrp="1"/>
          </p:cNvSpPr>
          <p:nvPr/>
        </p:nvSpPr>
        <p:spPr>
          <a:xfrm xmlns:a="http://schemas.openxmlformats.org/drawingml/2006/main">
            <a:off x="4981575" y="3524250"/>
            <a:ext cx="51435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F68D861-F158-419A-8D88-3EF745C5A9B3}"/>
              </a:ext>
            </a:extLst>
          </p:cNvPr>
          <p:cNvSpPr>
            <a:spLocks xmlns:a="http://schemas.openxmlformats.org/drawingml/2006/main" noGrp="1"/>
          </p:cNvSpPr>
          <p:nvPr/>
        </p:nvSpPr>
        <p:spPr>
          <a:xfrm xmlns:a="http://schemas.openxmlformats.org/drawingml/2006/main">
            <a:off x="5743575" y="3286125"/>
            <a:ext cx="5810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112D3D"/>
                </a:solidFill>
                <a:latin typeface="Arial"/>
                <a:ea typeface="Arial"/>
                <a:cs typeface="Arial"/>
              </a:defRPr>
            </a:defPPr>
          </a:lstStyle>
          <a:p xmlns:a="http://schemas.openxmlformats.org/drawingml/2006/main">
            <a:pPr algn="l">
              <a:defRPr sz="2550" b="1">
                <a:solidFill>
                  <a:srgbClr val="112D3D"/>
                </a:solidFill>
                <a:latin typeface="Arial"/>
                <a:ea typeface="Arial"/>
                <a:cs typeface="Arial"/>
              </a:defRPr>
            </a:pPr>
            <a:r>
              <a:rPr sz="2550" b="1">
                <a:solidFill>
                  <a:srgbClr val="112D3D"/>
                </a:solidFill>
                <a:latin typeface="Arial"/>
                <a:ea typeface="Arial"/>
                <a:cs typeface="Arial"/>
              </a:rPr>
              <a:t>reward + 0.99 × V(next state)</a:t>
            </a:r>
          </a:p>
        </p:txBody>
      </p:sp>
      <p:sp>
        <p:nvSpPr>
          <p:cNvPr id="14" name="">
            <a:extLst xmlns:a="http://schemas.openxmlformats.org/drawingml/2006/main">
              <a:ext uri="{FF2B5EF4-FFF2-40B4-BE49-F238E27FC236}">
                <a16:creationId xmlns:a16="http://schemas.microsoft.com/office/drawing/2014/main" id="{9CBBF4C2-F3B4-43C6-AC13-5CEAE6728392}"/>
              </a:ext>
            </a:extLst>
          </p:cNvPr>
          <p:cNvSpPr>
            <a:spLocks xmlns:a="http://schemas.openxmlformats.org/drawingml/2006/main" noGrp="1"/>
          </p:cNvSpPr>
          <p:nvPr/>
        </p:nvSpPr>
        <p:spPr>
          <a:xfrm xmlns:a="http://schemas.openxmlformats.org/drawingml/2006/main">
            <a:off x="5743575" y="3829050"/>
            <a:ext cx="581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0">
                <a:solidFill>
                  <a:srgbClr val="112D3D"/>
                </a:solidFill>
                <a:latin typeface="Arial"/>
                <a:ea typeface="Arial"/>
                <a:cs typeface="Arial"/>
              </a:defRPr>
            </a:defPPr>
          </a:lstStyle>
          <a:p xmlns:a="http://schemas.openxmlformats.org/drawingml/2006/main">
            <a:pPr algn="l">
              <a:defRPr sz="2100" b="0">
                <a:solidFill>
                  <a:srgbClr val="112D3D"/>
                </a:solidFill>
                <a:latin typeface="Arial"/>
                <a:ea typeface="Arial"/>
                <a:cs typeface="Arial"/>
              </a:defRPr>
            </a:pPr>
            <a:r>
              <a:rPr sz="2100" b="0">
                <a:solidFill>
                  <a:srgbClr val="112D3D"/>
                </a:solidFill>
                <a:latin typeface="Arial"/>
                <a:ea typeface="Arial"/>
                <a:cs typeface="Arial"/>
              </a:rPr>
              <a:t>Bootstrap unless truly terminated</a:t>
            </a:r>
          </a:p>
        </p:txBody>
      </p:sp>
      <p:sp>
        <p:nvSpPr>
          <p:cNvPr id="15" name="">
            <a:extLst xmlns:a="http://schemas.openxmlformats.org/drawingml/2006/main">
              <a:ext uri="{FF2B5EF4-FFF2-40B4-BE49-F238E27FC236}">
                <a16:creationId xmlns:a16="http://schemas.microsoft.com/office/drawing/2014/main" id="{831F95FF-6FF9-417C-A74E-154F13A31D4E}"/>
              </a:ext>
            </a:extLst>
          </p:cNvPr>
          <p:cNvSpPr>
            <a:spLocks xmlns:a="http://schemas.openxmlformats.org/drawingml/2006/main" noGrp="1"/>
          </p:cNvSpPr>
          <p:nvPr/>
        </p:nvSpPr>
        <p:spPr>
          <a:xfrm xmlns:a="http://schemas.openxmlformats.org/drawingml/2006/main">
            <a:off x="1857375" y="4838700"/>
            <a:ext cx="30289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000" b="1">
                <a:solidFill>
                  <a:srgbClr val="112D3D"/>
                </a:solidFill>
                <a:latin typeface="Arial"/>
                <a:ea typeface="Arial"/>
                <a:cs typeface="Arial"/>
              </a:defRPr>
            </a:defPPr>
          </a:lstStyle>
          <a:p xmlns:a="http://schemas.openxmlformats.org/drawingml/2006/main">
            <a:pPr algn="l">
              <a:defRPr sz="3000" b="1">
                <a:solidFill>
                  <a:srgbClr val="112D3D"/>
                </a:solidFill>
                <a:latin typeface="Arial"/>
                <a:ea typeface="Arial"/>
                <a:cs typeface="Arial"/>
              </a:defRPr>
            </a:pPr>
            <a:r>
              <a:rPr sz="3000" b="1">
                <a:solidFill>
                  <a:srgbClr val="112D3D"/>
                </a:solidFill>
                <a:latin typeface="Arial"/>
                <a:ea typeface="Arial"/>
                <a:cs typeface="Arial"/>
              </a:rPr>
              <a:t>Actor</a:t>
            </a:r>
          </a:p>
        </p:txBody>
      </p:sp>
      <p:sp>
        <p:nvSpPr>
          <p:cNvPr id="16" name="">
            <a:extLst xmlns:a="http://schemas.openxmlformats.org/drawingml/2006/main">
              <a:ext uri="{FF2B5EF4-FFF2-40B4-BE49-F238E27FC236}">
                <a16:creationId xmlns:a16="http://schemas.microsoft.com/office/drawing/2014/main" id="{09E18605-82E9-48AC-B49B-02F244DDF2D5}"/>
              </a:ext>
            </a:extLst>
          </p:cNvPr>
          <p:cNvSpPr>
            <a:spLocks xmlns:a="http://schemas.openxmlformats.org/drawingml/2006/main" noGrp="1"/>
          </p:cNvSpPr>
          <p:nvPr/>
        </p:nvSpPr>
        <p:spPr>
          <a:xfrm xmlns:a="http://schemas.openxmlformats.org/drawingml/2006/main">
            <a:off x="1857375" y="5400675"/>
            <a:ext cx="304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Weighted imitation</a:t>
            </a:r>
          </a:p>
        </p:txBody>
      </p:sp>
      <p:sp>
        <p:nvSpPr>
          <p:cNvPr id="17" name="">
            <a:extLst xmlns:a="http://schemas.openxmlformats.org/drawingml/2006/main">
              <a:ext uri="{FF2B5EF4-FFF2-40B4-BE49-F238E27FC236}">
                <a16:creationId xmlns:a16="http://schemas.microsoft.com/office/drawing/2014/main" id="{322659C2-5DFA-491F-B99C-194DE7F2CE87}"/>
              </a:ext>
            </a:extLst>
          </p:cNvPr>
          <p:cNvSpPr>
            <a:spLocks xmlns:a="http://schemas.openxmlformats.org/drawingml/2006/main" noGrp="1"/>
          </p:cNvSpPr>
          <p:nvPr/>
        </p:nvSpPr>
        <p:spPr>
          <a:xfrm xmlns:a="http://schemas.openxmlformats.org/drawingml/2006/main">
            <a:off x="4981575" y="5105400"/>
            <a:ext cx="514350" cy="285750"/>
          </a:xfrm>
          <a:prstGeom xmlns:a="http://schemas.openxmlformats.org/drawingml/2006/main" prst="rightArrow">
            <a:avLst/>
          </a:prstGeom>
          <a:solidFill xmlns:a="http://schemas.openxmlformats.org/drawingml/2006/main">
            <a:srgbClr val="CB650E"/>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ED0EF1-1226-4E44-875A-4E4F18911B2C}"/>
              </a:ext>
            </a:extLst>
          </p:cNvPr>
          <p:cNvSpPr>
            <a:spLocks xmlns:a="http://schemas.openxmlformats.org/drawingml/2006/main" noGrp="1"/>
          </p:cNvSpPr>
          <p:nvPr/>
        </p:nvSpPr>
        <p:spPr>
          <a:xfrm xmlns:a="http://schemas.openxmlformats.org/drawingml/2006/main">
            <a:off x="5743575" y="4867275"/>
            <a:ext cx="5810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CB650E"/>
                </a:solidFill>
                <a:latin typeface="Arial"/>
                <a:ea typeface="Arial"/>
                <a:cs typeface="Arial"/>
              </a:defRPr>
            </a:defPPr>
          </a:lstStyle>
          <a:p xmlns:a="http://schemas.openxmlformats.org/drawingml/2006/main">
            <a:pPr algn="l">
              <a:defRPr sz="2550" b="1">
                <a:solidFill>
                  <a:srgbClr val="CB650E"/>
                </a:solidFill>
                <a:latin typeface="Arial"/>
                <a:ea typeface="Arial"/>
                <a:cs typeface="Arial"/>
              </a:defRPr>
            </a:pPr>
            <a:r>
              <a:rPr sz="2550" b="1">
                <a:solidFill>
                  <a:srgbClr val="CB650E"/>
                </a:solidFill>
                <a:latin typeface="Arial"/>
                <a:ea typeface="Arial"/>
                <a:cs typeface="Arial"/>
              </a:rPr>
              <a:t>min(exp(3 × advantage), 100)</a:t>
            </a:r>
          </a:p>
        </p:txBody>
      </p:sp>
      <p:sp>
        <p:nvSpPr>
          <p:cNvPr id="19" name="">
            <a:extLst xmlns:a="http://schemas.openxmlformats.org/drawingml/2006/main">
              <a:ext uri="{FF2B5EF4-FFF2-40B4-BE49-F238E27FC236}">
                <a16:creationId xmlns:a16="http://schemas.microsoft.com/office/drawing/2014/main" id="{DD839138-1A98-4D86-B340-AB46C187F12E}"/>
              </a:ext>
            </a:extLst>
          </p:cNvPr>
          <p:cNvSpPr>
            <a:spLocks xmlns:a="http://schemas.openxmlformats.org/drawingml/2006/main" noGrp="1"/>
          </p:cNvSpPr>
          <p:nvPr/>
        </p:nvSpPr>
        <p:spPr>
          <a:xfrm xmlns:a="http://schemas.openxmlformats.org/drawingml/2006/main">
            <a:off x="5743575" y="5419725"/>
            <a:ext cx="5810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0">
                <a:solidFill>
                  <a:srgbClr val="112D3D"/>
                </a:solidFill>
                <a:latin typeface="Arial"/>
                <a:ea typeface="Arial"/>
                <a:cs typeface="Arial"/>
              </a:defRPr>
            </a:defPPr>
          </a:lstStyle>
          <a:p xmlns:a="http://schemas.openxmlformats.org/drawingml/2006/main">
            <a:pPr algn="l">
              <a:defRPr sz="2100" b="0">
                <a:solidFill>
                  <a:srgbClr val="112D3D"/>
                </a:solidFill>
                <a:latin typeface="Arial"/>
                <a:ea typeface="Arial"/>
                <a:cs typeface="Arial"/>
              </a:defRPr>
            </a:pPr>
            <a:r>
              <a:rPr sz="2100" b="0">
                <a:solidFill>
                  <a:srgbClr val="112D3D"/>
                </a:solidFill>
                <a:latin typeface="Arial"/>
                <a:ea typeface="Arial"/>
                <a:cs typeface="Arial"/>
              </a:rPr>
              <a:t>Advantage = min(target Q1, Q2) - V</a:t>
            </a:r>
          </a:p>
        </p:txBody>
      </p:sp>
      <p:sp>
        <p:nvSpPr>
          <p:cNvPr id="20" name="">
            <a:extLst xmlns:a="http://schemas.openxmlformats.org/drawingml/2006/main">
              <a:ext uri="{FF2B5EF4-FFF2-40B4-BE49-F238E27FC236}">
                <a16:creationId xmlns:a16="http://schemas.microsoft.com/office/drawing/2014/main" id="{64AC4C0B-9069-4062-A28C-31E9681F63A6}"/>
              </a:ext>
            </a:extLst>
          </p:cNvPr>
          <p:cNvSpPr>
            <a:spLocks xmlns:a="http://schemas.openxmlformats.org/drawingml/2006/main" noGrp="1"/>
          </p:cNvSpPr>
          <p:nvPr/>
        </p:nvSpPr>
        <p:spPr>
          <a:xfrm xmlns:a="http://schemas.openxmlformats.org/drawingml/2006/main">
            <a:off x="1857375" y="6181725"/>
            <a:ext cx="962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0">
                <a:solidFill>
                  <a:srgbClr val="4E6370"/>
                </a:solidFill>
                <a:latin typeface="Arial"/>
                <a:ea typeface="Arial"/>
                <a:cs typeface="Arial"/>
              </a:defRPr>
            </a:defPPr>
          </a:lstStyle>
          <a:p xmlns:a="http://schemas.openxmlformats.org/drawingml/2006/main">
            <a:pPr algn="l">
              <a:defRPr sz="1950" b="0">
                <a:solidFill>
                  <a:srgbClr val="4E6370"/>
                </a:solidFill>
                <a:latin typeface="Arial"/>
                <a:ea typeface="Arial"/>
                <a:cs typeface="Arial"/>
              </a:defRPr>
            </a:pPr>
            <a:r>
              <a:rPr sz="1950" b="0">
                <a:solidFill>
                  <a:srgbClr val="4E6370"/>
                </a:solidFill>
                <a:latin typeface="Arial"/>
                <a:ea typeface="Arial"/>
                <a:cs typeface="Arial"/>
              </a:rPr>
              <a:t>Bounded policy: tanh-squashed Gaussian</a:t>
            </a:r>
          </a:p>
        </p:txBody>
      </p:sp>
    </p:spTree>
    <p:extLst>
      <p:ext uri="{BB962C8B-B14F-4D97-AF65-F5344CB8AC3E}">
        <p14:creationId xmlns:p14="http://schemas.microsoft.com/office/powerpoint/2010/main" val="14742512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5F0963-4971-467D-A719-1FC16F5A07F5}"/>
              </a:ext>
            </a:extLst>
          </p:cNvPr>
          <p:cNvSpPr>
            <a:spLocks xmlns:a="http://schemas.openxmlformats.org/drawingml/2006/main" noGrp="1"/>
          </p:cNvSpPr>
          <p:nvPr/>
        </p:nvSpPr>
        <p:spPr>
          <a:xfrm xmlns:a="http://schemas.openxmlformats.org/drawingml/2006/main">
            <a:off x="609600" y="4572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900" b="1">
                <a:solidFill>
                  <a:srgbClr val="112D3D"/>
                </a:solidFill>
                <a:latin typeface="Arial"/>
                <a:ea typeface="Arial"/>
                <a:cs typeface="Arial"/>
              </a:defRPr>
            </a:defPPr>
          </a:lstStyle>
          <a:p xmlns:a="http://schemas.openxmlformats.org/drawingml/2006/main">
            <a:pPr algn="l">
              <a:defRPr sz="3900" b="1">
                <a:solidFill>
                  <a:srgbClr val="112D3D"/>
                </a:solidFill>
                <a:latin typeface="Arial"/>
                <a:ea typeface="Arial"/>
                <a:cs typeface="Arial"/>
              </a:defRPr>
            </a:pPr>
            <a:r>
              <a:rPr sz="3900" b="1">
                <a:solidFill>
                  <a:srgbClr val="112D3D"/>
                </a:solidFill>
                <a:latin typeface="Arial"/>
                <a:ea typeface="Arial"/>
                <a:cs typeface="Arial"/>
              </a:rPr>
              <a:t>HalfCheetah observations and controls</a:t>
            </a:r>
          </a:p>
        </p:txBody>
      </p:sp>
      <p:graphicFrame>
        <p:nvGraphicFramePr>
          <p:cNvPr id="2" name="Chart">
            <a:extLst xmlns:a="http://schemas.openxmlformats.org/drawingml/2006/main">
              <a:ext uri="{FF2B5EF4-FFF2-40B4-BE49-F238E27FC236}">
                <a16:creationId xmlns:a16="http://schemas.microsoft.com/office/drawing/2014/main" id="{E800032C-97D7-4AFC-88FF-90EF44100BCE}"/>
              </a:ext>
            </a:extLst>
          </p:cNvPr>
          <p:cNvGraphicFramePr/>
          <p:nvPr/>
        </p:nvGraphicFramePr>
        <p:xfrm>
          <a:off xmlns:a="http://schemas.openxmlformats.org/drawingml/2006/main" x="476250" y="1685925"/>
          <a:ext xmlns:a="http://schemas.openxmlformats.org/drawingml/2006/main" cx="4171950" cy="3505200"/>
        </p:xfrm>
        <a:graphic xmlns:a="http://schemas.openxmlformats.org/drawingml/2006/main">
          <a:graphicData uri="http://schemas.openxmlformats.org/drawingml/2006/chart">
            <c:chart xmlns:r="http://schemas.openxmlformats.org/officeDocument/2006/relationships" xmlns:c="http://schemas.openxmlformats.org/drawingml/2006/chart" r:id="Reeb48ab3884e41a2"/>
          </a:graphicData>
        </a:graphic>
      </p:graphicFrame>
      <p:sp>
        <p:nvSpPr>
          <p:cNvPr id="3" name="">
            <a:extLst xmlns:a="http://schemas.openxmlformats.org/drawingml/2006/main">
              <a:ext uri="{FF2B5EF4-FFF2-40B4-BE49-F238E27FC236}">
                <a16:creationId xmlns:a16="http://schemas.microsoft.com/office/drawing/2014/main" id="{DFA32270-417D-4102-A49C-F449BDC648AD}"/>
              </a:ext>
            </a:extLst>
          </p:cNvPr>
          <p:cNvSpPr>
            <a:spLocks xmlns:a="http://schemas.openxmlformats.org/drawingml/2006/main" noGrp="1"/>
          </p:cNvSpPr>
          <p:nvPr/>
        </p:nvSpPr>
        <p:spPr>
          <a:xfrm xmlns:a="http://schemas.openxmlformats.org/drawingml/2006/main">
            <a:off x="1800225" y="2857500"/>
            <a:ext cx="1524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ctr">
              <a:defRPr sz="6000" b="1">
                <a:solidFill>
                  <a:srgbClr val="112D3D"/>
                </a:solidFill>
                <a:latin typeface="Arial"/>
                <a:ea typeface="Arial"/>
                <a:cs typeface="Arial"/>
              </a:defRPr>
            </a:defPPr>
          </a:lstStyle>
          <a:p xmlns:a="http://schemas.openxmlformats.org/drawingml/2006/main">
            <a:pPr algn="ctr">
              <a:defRPr sz="6000" b="1">
                <a:solidFill>
                  <a:srgbClr val="112D3D"/>
                </a:solidFill>
                <a:latin typeface="Arial"/>
                <a:ea typeface="Arial"/>
                <a:cs typeface="Arial"/>
              </a:defRPr>
            </a:pPr>
            <a:r>
              <a:rPr sz="6000" b="1">
                <a:solidFill>
                  <a:srgbClr val="112D3D"/>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B84B152D-99CF-4236-B241-1CDB34D8C80D}"/>
              </a:ext>
            </a:extLst>
          </p:cNvPr>
          <p:cNvSpPr>
            <a:spLocks xmlns:a="http://schemas.openxmlformats.org/drawingml/2006/main" noGrp="1"/>
          </p:cNvSpPr>
          <p:nvPr/>
        </p:nvSpPr>
        <p:spPr>
          <a:xfrm xmlns:a="http://schemas.openxmlformats.org/drawingml/2006/main">
            <a:off x="723900" y="5410200"/>
            <a:ext cx="4191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Absolute x excluded</a:t>
            </a:r>
          </a:p>
        </p:txBody>
      </p:sp>
      <p:sp>
        <p:nvSpPr>
          <p:cNvPr id="5" name="">
            <a:extLst xmlns:a="http://schemas.openxmlformats.org/drawingml/2006/main">
              <a:ext uri="{FF2B5EF4-FFF2-40B4-BE49-F238E27FC236}">
                <a16:creationId xmlns:a16="http://schemas.microsoft.com/office/drawing/2014/main" id="{B97A6339-4C61-4636-9891-DC14EE2F8B69}"/>
              </a:ext>
            </a:extLst>
          </p:cNvPr>
          <p:cNvSpPr>
            <a:spLocks xmlns:a="http://schemas.openxmlformats.org/drawingml/2006/main" noGrp="1"/>
          </p:cNvSpPr>
          <p:nvPr/>
        </p:nvSpPr>
        <p:spPr>
          <a:xfrm xmlns:a="http://schemas.openxmlformats.org/drawingml/2006/main">
            <a:off x="5438775" y="1571625"/>
            <a:ext cx="4095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4950" b="1">
                <a:solidFill>
                  <a:srgbClr val="007D7F"/>
                </a:solidFill>
                <a:latin typeface="Arial"/>
                <a:ea typeface="Arial"/>
                <a:cs typeface="Arial"/>
              </a:defRPr>
            </a:defPPr>
          </a:lstStyle>
          <a:p xmlns:a="http://schemas.openxmlformats.org/drawingml/2006/main">
            <a:pPr algn="l">
              <a:defRPr sz="4950" b="1">
                <a:solidFill>
                  <a:srgbClr val="007D7F"/>
                </a:solidFill>
                <a:latin typeface="Arial"/>
                <a:ea typeface="Arial"/>
                <a:cs typeface="Arial"/>
              </a:defRPr>
            </a:pPr>
            <a:r>
              <a:rPr sz="4950" b="1">
                <a:solidFill>
                  <a:srgbClr val="007D7F"/>
                </a:solidFill>
                <a:latin typeface="Arial"/>
                <a:ea typeface="Arial"/>
                <a:cs typeface="Arial"/>
              </a:rPr>
              <a:t>6 torques</a:t>
            </a:r>
          </a:p>
        </p:txBody>
      </p:sp>
      <p:sp>
        <p:nvSpPr>
          <p:cNvPr id="6" name="">
            <a:extLst xmlns:a="http://schemas.openxmlformats.org/drawingml/2006/main">
              <a:ext uri="{FF2B5EF4-FFF2-40B4-BE49-F238E27FC236}">
                <a16:creationId xmlns:a16="http://schemas.microsoft.com/office/drawing/2014/main" id="{2A2CF9AD-F34F-4BAA-B5A2-2D5659048444}"/>
              </a:ext>
            </a:extLst>
          </p:cNvPr>
          <p:cNvSpPr>
            <a:spLocks xmlns:a="http://schemas.openxmlformats.org/drawingml/2006/main" noGrp="1"/>
          </p:cNvSpPr>
          <p:nvPr/>
        </p:nvSpPr>
        <p:spPr>
          <a:xfrm xmlns:a="http://schemas.openxmlformats.org/drawingml/2006/main">
            <a:off x="5438775" y="2419350"/>
            <a:ext cx="60007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CB650E"/>
                </a:solidFill>
                <a:latin typeface="Arial"/>
                <a:ea typeface="Arial"/>
                <a:cs typeface="Arial"/>
              </a:defRPr>
            </a:defPPr>
          </a:lstStyle>
          <a:p xmlns:a="http://schemas.openxmlformats.org/drawingml/2006/main">
            <a:pPr algn="l">
              <a:defRPr sz="2700" b="1">
                <a:solidFill>
                  <a:srgbClr val="CB650E"/>
                </a:solidFill>
                <a:latin typeface="Arial"/>
                <a:ea typeface="Arial"/>
                <a:cs typeface="Arial"/>
              </a:defRPr>
            </a:pPr>
            <a:r>
              <a:rPr sz="2700" b="1">
                <a:solidFill>
                  <a:srgbClr val="CB650E"/>
                </a:solidFill>
                <a:latin typeface="Arial"/>
                <a:ea typeface="Arial"/>
                <a:cs typeface="Arial"/>
              </a:rPr>
              <a:t>[-1, 1] per joint</a:t>
            </a:r>
          </a:p>
        </p:txBody>
      </p:sp>
      <p:pic>
        <p:nvPicPr>
          <p:cNvPr id="7" name="">
            <a:extLst xmlns:a="http://schemas.openxmlformats.org/drawingml/2006/main">
              <a:ext uri="{FF2B5EF4-FFF2-40B4-BE49-F238E27FC236}">
                <a16:creationId xmlns:a16="http://schemas.microsoft.com/office/drawing/2014/main" id="{4D129C64-3B42-4A63-A690-E5CC781E2F47}"/>
              </a:ext>
            </a:extLst>
          </p:cNvPr>
          <p:cNvPicPr>
            <a:picLocks xmlns:a="http://schemas.openxmlformats.org/drawingml/2006/main" noChangeAspect="1"/>
          </p:cNvPicPr>
          <p:nvPr/>
        </p:nvPicPr>
        <p:blipFill>
          <a:blip xmlns:r="http://schemas.openxmlformats.org/officeDocument/2006/relationships" xmlns:a="http://schemas.openxmlformats.org/drawingml/2006/main" r:embed="R35d6c65bfc884783"/>
          <a:srcRect xmlns:a="http://schemas.openxmlformats.org/drawingml/2006/main" l="0" t="11886" r="0" b="11886"/>
          <a:stretch xmlns:a="http://schemas.openxmlformats.org/drawingml/2006/main">
            <a:fillRect l="0" t="0" r="0" b="0"/>
          </a:stretch>
        </p:blipFill>
        <p:spPr>
          <a:xfrm xmlns:a="http://schemas.openxmlformats.org/drawingml/2006/main">
            <a:off x="5229225" y="3190875"/>
            <a:ext cx="6353175" cy="27241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FB66E67-8DEC-4A61-8956-58DB7A242499}"/>
              </a:ext>
            </a:extLst>
          </p:cNvPr>
          <p:cNvSpPr>
            <a:spLocks xmlns:a="http://schemas.openxmlformats.org/drawingml/2006/main" noGrp="1"/>
          </p:cNvSpPr>
          <p:nvPr/>
        </p:nvSpPr>
        <p:spPr>
          <a:xfrm xmlns:a="http://schemas.openxmlformats.org/drawingml/2006/main">
            <a:off x="5295900" y="6115050"/>
            <a:ext cx="6286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1">
                <a:solidFill>
                  <a:srgbClr val="112D3D"/>
                </a:solidFill>
                <a:latin typeface="Arial"/>
                <a:ea typeface="Arial"/>
                <a:cs typeface="Arial"/>
              </a:defRPr>
            </a:defPPr>
          </a:lstStyle>
          <a:p xmlns:a="http://schemas.openxmlformats.org/drawingml/2006/main">
            <a:pPr algn="l">
              <a:defRPr sz="2250" b="1">
                <a:solidFill>
                  <a:srgbClr val="112D3D"/>
                </a:solidFill>
                <a:latin typeface="Arial"/>
                <a:ea typeface="Arial"/>
                <a:cs typeface="Arial"/>
              </a:defRPr>
            </a:pPr>
            <a:r>
              <a:rPr sz="2250" b="1">
                <a:solidFill>
                  <a:srgbClr val="112D3D"/>
                </a:solidFill>
                <a:latin typeface="Arial"/>
                <a:ea typeface="Arial"/>
                <a:cs typeface="Arial"/>
              </a:rPr>
              <a:t>2 legs × (thigh + shin + foot)</a:t>
            </a:r>
          </a:p>
        </p:txBody>
      </p:sp>
    </p:spTree>
    <p:extLst>
      <p:ext uri="{BB962C8B-B14F-4D97-AF65-F5344CB8AC3E}">
        <p14:creationId xmlns:p14="http://schemas.microsoft.com/office/powerpoint/2010/main" val="112678744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33C0EC8-0386-4C66-8C3E-6C56C0959E80}"/>
              </a:ext>
            </a:extLst>
          </p:cNvPr>
          <p:cNvSpPr>
            <a:spLocks xmlns:a="http://schemas.openxmlformats.org/drawingml/2006/main" noGrp="1"/>
          </p:cNvSpPr>
          <p:nvPr/>
        </p:nvSpPr>
        <p:spPr>
          <a:xfrm xmlns:a="http://schemas.openxmlformats.org/drawingml/2006/main">
            <a:off x="609600" y="4572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900" b="1">
                <a:solidFill>
                  <a:srgbClr val="112D3D"/>
                </a:solidFill>
                <a:latin typeface="Arial"/>
                <a:ea typeface="Arial"/>
                <a:cs typeface="Arial"/>
              </a:defRPr>
            </a:defPPr>
          </a:lstStyle>
          <a:p xmlns:a="http://schemas.openxmlformats.org/drawingml/2006/main">
            <a:pPr algn="l">
              <a:defRPr sz="3900" b="1">
                <a:solidFill>
                  <a:srgbClr val="112D3D"/>
                </a:solidFill>
                <a:latin typeface="Arial"/>
                <a:ea typeface="Arial"/>
                <a:cs typeface="Arial"/>
              </a:defRPr>
            </a:pPr>
            <a:r>
              <a:rPr sz="3900" b="1">
                <a:solidFill>
                  <a:srgbClr val="112D3D"/>
                </a:solidFill>
                <a:latin typeface="Arial"/>
                <a:ea typeface="Arial"/>
                <a:cs typeface="Arial"/>
              </a:rPr>
              <a:t>Reward and episode length</a:t>
            </a:r>
          </a:p>
        </p:txBody>
      </p:sp>
      <p:sp>
        <p:nvSpPr>
          <p:cNvPr id="2" name="">
            <a:extLst xmlns:a="http://schemas.openxmlformats.org/drawingml/2006/main">
              <a:ext uri="{FF2B5EF4-FFF2-40B4-BE49-F238E27FC236}">
                <a16:creationId xmlns:a16="http://schemas.microsoft.com/office/drawing/2014/main" id="{770DC0A2-598D-4C2D-B678-18BFC682DFFC}"/>
              </a:ext>
            </a:extLst>
          </p:cNvPr>
          <p:cNvSpPr>
            <a:spLocks xmlns:a="http://schemas.openxmlformats.org/drawingml/2006/main" noGrp="1"/>
          </p:cNvSpPr>
          <p:nvPr/>
        </p:nvSpPr>
        <p:spPr>
          <a:xfrm xmlns:a="http://schemas.openxmlformats.org/drawingml/2006/main">
            <a:off x="609600" y="1609725"/>
            <a:ext cx="109728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112D3D"/>
                </a:solidFill>
                <a:latin typeface="Arial"/>
                <a:ea typeface="Arial"/>
                <a:cs typeface="Arial"/>
              </a:defRPr>
            </a:defPPr>
          </a:lstStyle>
          <a:p xmlns:a="http://schemas.openxmlformats.org/drawingml/2006/main">
            <a:pPr algn="l">
              <a:defRPr sz="2700" b="1">
                <a:solidFill>
                  <a:srgbClr val="112D3D"/>
                </a:solidFill>
                <a:latin typeface="Arial"/>
                <a:ea typeface="Arial"/>
                <a:cs typeface="Arial"/>
              </a:defRPr>
            </a:pPr>
            <a:r>
              <a:rPr sz="2700" b="1">
                <a:solidFill>
                  <a:srgbClr val="112D3D"/>
                </a:solidFill>
                <a:latin typeface="Arial"/>
                <a:ea typeface="Arial"/>
                <a:cs typeface="Arial"/>
              </a:rPr>
              <a:t>Reward = forward velocity - 0.1 × sum(action²)</a:t>
            </a:r>
          </a:p>
        </p:txBody>
      </p:sp>
      <p:sp>
        <p:nvSpPr>
          <p:cNvPr id="3" name="">
            <a:extLst xmlns:a="http://schemas.openxmlformats.org/drawingml/2006/main">
              <a:ext uri="{FF2B5EF4-FFF2-40B4-BE49-F238E27FC236}">
                <a16:creationId xmlns:a16="http://schemas.microsoft.com/office/drawing/2014/main" id="{3AF4B94B-8917-403E-9CD9-A17F100891A5}"/>
              </a:ext>
            </a:extLst>
          </p:cNvPr>
          <p:cNvSpPr>
            <a:spLocks xmlns:a="http://schemas.openxmlformats.org/drawingml/2006/main" noGrp="1"/>
          </p:cNvSpPr>
          <p:nvPr/>
        </p:nvSpPr>
        <p:spPr>
          <a:xfrm xmlns:a="http://schemas.openxmlformats.org/drawingml/2006/main">
            <a:off x="609600" y="2343150"/>
            <a:ext cx="10858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4E6370"/>
                </a:solidFill>
                <a:latin typeface="Arial"/>
                <a:ea typeface="Arial"/>
                <a:cs typeface="Arial"/>
              </a:defRPr>
            </a:defPPr>
          </a:lstStyle>
          <a:p xmlns:a="http://schemas.openxmlformats.org/drawingml/2006/main">
            <a:pPr algn="l">
              <a:defRPr sz="2250" b="0">
                <a:solidFill>
                  <a:srgbClr val="4E6370"/>
                </a:solidFill>
                <a:latin typeface="Arial"/>
                <a:ea typeface="Arial"/>
                <a:cs typeface="Arial"/>
              </a:defRPr>
            </a:pPr>
            <a:r>
              <a:rPr sz="2250" b="0">
                <a:solidFill>
                  <a:srgbClr val="4E6370"/>
                </a:solidFill>
                <a:latin typeface="Arial"/>
                <a:ea typeface="Arial"/>
                <a:cs typeface="Arial"/>
              </a:rPr>
              <a:t>Example: six action components of 0.5</a:t>
            </a:r>
          </a:p>
        </p:txBody>
      </p:sp>
      <p:sp>
        <p:nvSpPr>
          <p:cNvPr id="4" name="">
            <a:extLst xmlns:a="http://schemas.openxmlformats.org/drawingml/2006/main">
              <a:ext uri="{FF2B5EF4-FFF2-40B4-BE49-F238E27FC236}">
                <a16:creationId xmlns:a16="http://schemas.microsoft.com/office/drawing/2014/main" id="{DA0607F0-AA39-4DEE-82F0-E30059C8EE26}"/>
              </a:ext>
            </a:extLst>
          </p:cNvPr>
          <p:cNvSpPr>
            <a:spLocks xmlns:a="http://schemas.openxmlformats.org/drawingml/2006/main" noGrp="1"/>
          </p:cNvSpPr>
          <p:nvPr/>
        </p:nvSpPr>
        <p:spPr>
          <a:xfrm xmlns:a="http://schemas.openxmlformats.org/drawingml/2006/main">
            <a:off x="609600" y="306705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6150" b="1">
                <a:solidFill>
                  <a:srgbClr val="007D7F"/>
                </a:solidFill>
                <a:latin typeface="Arial"/>
                <a:ea typeface="Arial"/>
                <a:cs typeface="Arial"/>
              </a:defRPr>
            </a:defPPr>
          </a:lstStyle>
          <a:p xmlns:a="http://schemas.openxmlformats.org/drawingml/2006/main">
            <a:pPr algn="l">
              <a:defRPr sz="6150" b="1">
                <a:solidFill>
                  <a:srgbClr val="007D7F"/>
                </a:solidFill>
                <a:latin typeface="Arial"/>
                <a:ea typeface="Arial"/>
                <a:cs typeface="Arial"/>
              </a:defRPr>
            </a:pPr>
            <a:r>
              <a:rPr sz="6150" b="1">
                <a:solidFill>
                  <a:srgbClr val="007D7F"/>
                </a:solidFill>
                <a:latin typeface="Arial"/>
                <a:ea typeface="Arial"/>
                <a:cs typeface="Arial"/>
              </a:rPr>
              <a:t>5.00</a:t>
            </a:r>
          </a:p>
        </p:txBody>
      </p:sp>
      <p:sp>
        <p:nvSpPr>
          <p:cNvPr id="5" name="">
            <a:extLst xmlns:a="http://schemas.openxmlformats.org/drawingml/2006/main">
              <a:ext uri="{FF2B5EF4-FFF2-40B4-BE49-F238E27FC236}">
                <a16:creationId xmlns:a16="http://schemas.microsoft.com/office/drawing/2014/main" id="{3343550C-0736-4B7C-B9F3-D01848978952}"/>
              </a:ext>
            </a:extLst>
          </p:cNvPr>
          <p:cNvSpPr>
            <a:spLocks xmlns:a="http://schemas.openxmlformats.org/drawingml/2006/main" noGrp="1"/>
          </p:cNvSpPr>
          <p:nvPr/>
        </p:nvSpPr>
        <p:spPr>
          <a:xfrm xmlns:a="http://schemas.openxmlformats.org/drawingml/2006/main">
            <a:off x="609600" y="4114800"/>
            <a:ext cx="285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forward velocity</a:t>
            </a:r>
          </a:p>
        </p:txBody>
      </p:sp>
      <p:sp>
        <p:nvSpPr>
          <p:cNvPr id="6" name="">
            <a:extLst xmlns:a="http://schemas.openxmlformats.org/drawingml/2006/main">
              <a:ext uri="{FF2B5EF4-FFF2-40B4-BE49-F238E27FC236}">
                <a16:creationId xmlns:a16="http://schemas.microsoft.com/office/drawing/2014/main" id="{08AF5447-8E49-43FA-80C8-0165F4A04AA7}"/>
              </a:ext>
            </a:extLst>
          </p:cNvPr>
          <p:cNvSpPr>
            <a:spLocks xmlns:a="http://schemas.openxmlformats.org/drawingml/2006/main" noGrp="1"/>
          </p:cNvSpPr>
          <p:nvPr/>
        </p:nvSpPr>
        <p:spPr>
          <a:xfrm xmlns:a="http://schemas.openxmlformats.org/drawingml/2006/main">
            <a:off x="3438525" y="3276600"/>
            <a:ext cx="666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4650" b="1">
                <a:solidFill>
                  <a:srgbClr val="CB650E"/>
                </a:solidFill>
                <a:latin typeface="Arial"/>
                <a:ea typeface="Arial"/>
                <a:cs typeface="Arial"/>
              </a:defRPr>
            </a:defPPr>
          </a:lstStyle>
          <a:p xmlns:a="http://schemas.openxmlformats.org/drawingml/2006/main">
            <a:pPr algn="l">
              <a:defRPr sz="4650" b="1">
                <a:solidFill>
                  <a:srgbClr val="CB650E"/>
                </a:solidFill>
                <a:latin typeface="Arial"/>
                <a:ea typeface="Arial"/>
                <a:cs typeface="Arial"/>
              </a:defRPr>
            </a:pPr>
            <a:r>
              <a:rPr sz="4650" b="1">
                <a:solidFill>
                  <a:srgbClr val="CB650E"/>
                </a:solidFill>
                <a:latin typeface="Arial"/>
                <a:ea typeface="Arial"/>
                <a:cs typeface="Arial"/>
              </a:rPr>
              <a:t>−</a:t>
            </a:r>
          </a:p>
        </p:txBody>
      </p:sp>
      <p:sp>
        <p:nvSpPr>
          <p:cNvPr id="7" name="">
            <a:extLst xmlns:a="http://schemas.openxmlformats.org/drawingml/2006/main">
              <a:ext uri="{FF2B5EF4-FFF2-40B4-BE49-F238E27FC236}">
                <a16:creationId xmlns:a16="http://schemas.microsoft.com/office/drawing/2014/main" id="{4187ACA5-C319-48C1-86B5-6178FD2C7ECD}"/>
              </a:ext>
            </a:extLst>
          </p:cNvPr>
          <p:cNvSpPr>
            <a:spLocks xmlns:a="http://schemas.openxmlformats.org/drawingml/2006/main" noGrp="1"/>
          </p:cNvSpPr>
          <p:nvPr/>
        </p:nvSpPr>
        <p:spPr>
          <a:xfrm xmlns:a="http://schemas.openxmlformats.org/drawingml/2006/main">
            <a:off x="4410075" y="306705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6150" b="1">
                <a:solidFill>
                  <a:srgbClr val="CB650E"/>
                </a:solidFill>
                <a:latin typeface="Arial"/>
                <a:ea typeface="Arial"/>
                <a:cs typeface="Arial"/>
              </a:defRPr>
            </a:defPPr>
          </a:lstStyle>
          <a:p xmlns:a="http://schemas.openxmlformats.org/drawingml/2006/main">
            <a:pPr algn="l">
              <a:defRPr sz="6150" b="1">
                <a:solidFill>
                  <a:srgbClr val="CB650E"/>
                </a:solidFill>
                <a:latin typeface="Arial"/>
                <a:ea typeface="Arial"/>
                <a:cs typeface="Arial"/>
              </a:defRPr>
            </a:pPr>
            <a:r>
              <a:rPr sz="6150" b="1">
                <a:solidFill>
                  <a:srgbClr val="CB650E"/>
                </a:solidFill>
                <a:latin typeface="Arial"/>
                <a:ea typeface="Arial"/>
                <a:cs typeface="Arial"/>
              </a:rPr>
              <a:t>0.15</a:t>
            </a:r>
          </a:p>
        </p:txBody>
      </p:sp>
      <p:sp>
        <p:nvSpPr>
          <p:cNvPr id="8" name="">
            <a:extLst xmlns:a="http://schemas.openxmlformats.org/drawingml/2006/main">
              <a:ext uri="{FF2B5EF4-FFF2-40B4-BE49-F238E27FC236}">
                <a16:creationId xmlns:a16="http://schemas.microsoft.com/office/drawing/2014/main" id="{3E232A9B-BEBF-46C9-9CB6-96B3D5444144}"/>
              </a:ext>
            </a:extLst>
          </p:cNvPr>
          <p:cNvSpPr>
            <a:spLocks xmlns:a="http://schemas.openxmlformats.org/drawingml/2006/main" noGrp="1"/>
          </p:cNvSpPr>
          <p:nvPr/>
        </p:nvSpPr>
        <p:spPr>
          <a:xfrm xmlns:a="http://schemas.openxmlformats.org/drawingml/2006/main">
            <a:off x="4410075" y="4114800"/>
            <a:ext cx="285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control cost</a:t>
            </a:r>
          </a:p>
        </p:txBody>
      </p:sp>
      <p:sp>
        <p:nvSpPr>
          <p:cNvPr id="9" name="">
            <a:extLst xmlns:a="http://schemas.openxmlformats.org/drawingml/2006/main">
              <a:ext uri="{FF2B5EF4-FFF2-40B4-BE49-F238E27FC236}">
                <a16:creationId xmlns:a16="http://schemas.microsoft.com/office/drawing/2014/main" id="{725BBAE5-1597-4245-8CC5-7EA46D2D5A0E}"/>
              </a:ext>
            </a:extLst>
          </p:cNvPr>
          <p:cNvSpPr>
            <a:spLocks xmlns:a="http://schemas.openxmlformats.org/drawingml/2006/main" noGrp="1"/>
          </p:cNvSpPr>
          <p:nvPr/>
        </p:nvSpPr>
        <p:spPr>
          <a:xfrm xmlns:a="http://schemas.openxmlformats.org/drawingml/2006/main">
            <a:off x="7372350" y="3276600"/>
            <a:ext cx="666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4650" b="1">
                <a:solidFill>
                  <a:srgbClr val="4E6370"/>
                </a:solidFill>
                <a:latin typeface="Arial"/>
                <a:ea typeface="Arial"/>
                <a:cs typeface="Arial"/>
              </a:defRPr>
            </a:defPPr>
          </a:lstStyle>
          <a:p xmlns:a="http://schemas.openxmlformats.org/drawingml/2006/main">
            <a:pPr algn="l">
              <a:defRPr sz="4650" b="1">
                <a:solidFill>
                  <a:srgbClr val="4E6370"/>
                </a:solidFill>
                <a:latin typeface="Arial"/>
                <a:ea typeface="Arial"/>
                <a:cs typeface="Arial"/>
              </a:defRPr>
            </a:pPr>
            <a:r>
              <a:rPr sz="4650" b="1">
                <a:solidFill>
                  <a:srgbClr val="4E6370"/>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69C89294-199A-4F32-BCC1-2A77741615C9}"/>
              </a:ext>
            </a:extLst>
          </p:cNvPr>
          <p:cNvSpPr>
            <a:spLocks xmlns:a="http://schemas.openxmlformats.org/drawingml/2006/main" noGrp="1"/>
          </p:cNvSpPr>
          <p:nvPr/>
        </p:nvSpPr>
        <p:spPr>
          <a:xfrm xmlns:a="http://schemas.openxmlformats.org/drawingml/2006/main">
            <a:off x="8620125" y="306705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6150" b="1">
                <a:solidFill>
                  <a:srgbClr val="007D7F"/>
                </a:solidFill>
                <a:latin typeface="Arial"/>
                <a:ea typeface="Arial"/>
                <a:cs typeface="Arial"/>
              </a:defRPr>
            </a:defPPr>
          </a:lstStyle>
          <a:p xmlns:a="http://schemas.openxmlformats.org/drawingml/2006/main">
            <a:pPr algn="l">
              <a:defRPr sz="6150" b="1">
                <a:solidFill>
                  <a:srgbClr val="007D7F"/>
                </a:solidFill>
                <a:latin typeface="Arial"/>
                <a:ea typeface="Arial"/>
                <a:cs typeface="Arial"/>
              </a:defRPr>
            </a:pPr>
            <a:r>
              <a:rPr sz="6150" b="1">
                <a:solidFill>
                  <a:srgbClr val="007D7F"/>
                </a:solidFill>
                <a:latin typeface="Arial"/>
                <a:ea typeface="Arial"/>
                <a:cs typeface="Arial"/>
              </a:rPr>
              <a:t>4.85</a:t>
            </a:r>
          </a:p>
        </p:txBody>
      </p:sp>
      <p:sp>
        <p:nvSpPr>
          <p:cNvPr id="11" name="">
            <a:extLst xmlns:a="http://schemas.openxmlformats.org/drawingml/2006/main">
              <a:ext uri="{FF2B5EF4-FFF2-40B4-BE49-F238E27FC236}">
                <a16:creationId xmlns:a16="http://schemas.microsoft.com/office/drawing/2014/main" id="{38D055BE-B2D4-4468-8C6F-6F7C557471B5}"/>
              </a:ext>
            </a:extLst>
          </p:cNvPr>
          <p:cNvSpPr>
            <a:spLocks xmlns:a="http://schemas.openxmlformats.org/drawingml/2006/main" noGrp="1"/>
          </p:cNvSpPr>
          <p:nvPr/>
        </p:nvSpPr>
        <p:spPr>
          <a:xfrm xmlns:a="http://schemas.openxmlformats.org/drawingml/2006/main">
            <a:off x="8620125" y="4114800"/>
            <a:ext cx="285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net reward</a:t>
            </a:r>
          </a:p>
        </p:txBody>
      </p:sp>
      <p:sp>
        <p:nvSpPr>
          <p:cNvPr id="12" name="">
            <a:extLst xmlns:a="http://schemas.openxmlformats.org/drawingml/2006/main">
              <a:ext uri="{FF2B5EF4-FFF2-40B4-BE49-F238E27FC236}">
                <a16:creationId xmlns:a16="http://schemas.microsoft.com/office/drawing/2014/main" id="{E7224238-6AF5-4830-85E7-41DD61317AF8}"/>
              </a:ext>
            </a:extLst>
          </p:cNvPr>
          <p:cNvSpPr>
            <a:spLocks xmlns:a="http://schemas.openxmlformats.org/drawingml/2006/main" noGrp="1"/>
          </p:cNvSpPr>
          <p:nvPr/>
        </p:nvSpPr>
        <p:spPr>
          <a:xfrm xmlns:a="http://schemas.openxmlformats.org/drawingml/2006/main">
            <a:off x="609600" y="4981575"/>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550" b="1">
                <a:solidFill>
                  <a:srgbClr val="112D3D"/>
                </a:solidFill>
                <a:latin typeface="Arial"/>
                <a:ea typeface="Arial"/>
                <a:cs typeface="Arial"/>
              </a:defRPr>
            </a:defPPr>
          </a:lstStyle>
          <a:p xmlns:a="http://schemas.openxmlformats.org/drawingml/2006/main">
            <a:pPr algn="l">
              <a:defRPr sz="2550" b="1">
                <a:solidFill>
                  <a:srgbClr val="112D3D"/>
                </a:solidFill>
                <a:latin typeface="Arial"/>
                <a:ea typeface="Arial"/>
                <a:cs typeface="Arial"/>
              </a:defRPr>
            </a:pPr>
            <a:r>
              <a:rPr sz="2550" b="1">
                <a:solidFill>
                  <a:srgbClr val="112D3D"/>
                </a:solidFill>
                <a:latin typeface="Arial"/>
                <a:ea typeface="Arial"/>
                <a:cs typeface="Arial"/>
              </a:rPr>
              <a:t>Goal: sustained, efficient forward motion</a:t>
            </a:r>
          </a:p>
        </p:txBody>
      </p:sp>
      <p:sp>
        <p:nvSpPr>
          <p:cNvPr id="13" name="">
            <a:extLst xmlns:a="http://schemas.openxmlformats.org/drawingml/2006/main">
              <a:ext uri="{FF2B5EF4-FFF2-40B4-BE49-F238E27FC236}">
                <a16:creationId xmlns:a16="http://schemas.microsoft.com/office/drawing/2014/main" id="{10357B55-060C-460A-BFE0-2B078A21E789}"/>
              </a:ext>
            </a:extLst>
          </p:cNvPr>
          <p:cNvSpPr>
            <a:spLocks xmlns:a="http://schemas.openxmlformats.org/drawingml/2006/main" noGrp="1"/>
          </p:cNvSpPr>
          <p:nvPr/>
        </p:nvSpPr>
        <p:spPr>
          <a:xfrm xmlns:a="http://schemas.openxmlformats.org/drawingml/2006/main">
            <a:off x="609600" y="5810250"/>
            <a:ext cx="10972800" cy="47625"/>
          </a:xfrm>
          <a:prstGeom xmlns:a="http://schemas.openxmlformats.org/drawingml/2006/main" prst="rect">
            <a:avLst/>
          </a:prstGeom>
          <a:solidFill xmlns:a="http://schemas.openxmlformats.org/drawingml/2006/main">
            <a:srgbClr val="C4D1D8"/>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F87AD32-25EB-4F9D-A523-46599D19AB90}"/>
              </a:ext>
            </a:extLst>
          </p:cNvPr>
          <p:cNvSpPr>
            <a:spLocks xmlns:a="http://schemas.openxmlformats.org/drawingml/2006/main" noGrp="1"/>
          </p:cNvSpPr>
          <p:nvPr/>
        </p:nvSpPr>
        <p:spPr>
          <a:xfrm xmlns:a="http://schemas.openxmlformats.org/drawingml/2006/main">
            <a:off x="609600" y="6067425"/>
            <a:ext cx="590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1">
                <a:solidFill>
                  <a:srgbClr val="CB650E"/>
                </a:solidFill>
                <a:latin typeface="Arial"/>
                <a:ea typeface="Arial"/>
                <a:cs typeface="Arial"/>
              </a:defRPr>
            </a:defPPr>
          </a:lstStyle>
          <a:p xmlns:a="http://schemas.openxmlformats.org/drawingml/2006/main">
            <a:pPr algn="l">
              <a:defRPr sz="2100" b="1">
                <a:solidFill>
                  <a:srgbClr val="CB650E"/>
                </a:solidFill>
                <a:latin typeface="Arial"/>
                <a:ea typeface="Arial"/>
                <a:cs typeface="Arial"/>
              </a:defRPr>
            </a:pPr>
            <a:r>
              <a:rPr sz="2100" b="1">
                <a:solidFill>
                  <a:srgbClr val="CB650E"/>
                </a:solidFill>
                <a:latin typeface="Arial"/>
                <a:ea typeface="Arial"/>
                <a:cs typeface="Arial"/>
              </a:rPr>
              <a:t>A fall does not end the episode</a:t>
            </a:r>
          </a:p>
        </p:txBody>
      </p:sp>
      <p:sp>
        <p:nvSpPr>
          <p:cNvPr id="15" name="">
            <a:extLst xmlns:a="http://schemas.openxmlformats.org/drawingml/2006/main">
              <a:ext uri="{FF2B5EF4-FFF2-40B4-BE49-F238E27FC236}">
                <a16:creationId xmlns:a16="http://schemas.microsoft.com/office/drawing/2014/main" id="{5593620F-EBD3-4A7F-871E-99035AF138B7}"/>
              </a:ext>
            </a:extLst>
          </p:cNvPr>
          <p:cNvSpPr>
            <a:spLocks xmlns:a="http://schemas.openxmlformats.org/drawingml/2006/main" noGrp="1"/>
          </p:cNvSpPr>
          <p:nvPr/>
        </p:nvSpPr>
        <p:spPr>
          <a:xfrm xmlns:a="http://schemas.openxmlformats.org/drawingml/2006/main">
            <a:off x="6324600" y="6067425"/>
            <a:ext cx="5257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r">
              <a:defRPr sz="2250" b="1">
                <a:solidFill>
                  <a:srgbClr val="007D7F"/>
                </a:solidFill>
                <a:latin typeface="Arial"/>
                <a:ea typeface="Arial"/>
                <a:cs typeface="Arial"/>
              </a:defRPr>
            </a:defPPr>
          </a:lstStyle>
          <a:p xmlns:a="http://schemas.openxmlformats.org/drawingml/2006/main">
            <a:pPr algn="r">
              <a:defRPr sz="2250" b="1">
                <a:solidFill>
                  <a:srgbClr val="007D7F"/>
                </a:solidFill>
                <a:latin typeface="Arial"/>
                <a:ea typeface="Arial"/>
                <a:cs typeface="Arial"/>
              </a:defRPr>
            </a:pPr>
            <a:r>
              <a:rPr sz="2250" b="1">
                <a:solidFill>
                  <a:srgbClr val="007D7F"/>
                </a:solidFill>
                <a:latin typeface="Arial"/>
                <a:ea typeface="Arial"/>
                <a:cs typeface="Arial"/>
              </a:rPr>
              <a:t>1,000 steps ≈ 50 seconds</a:t>
            </a:r>
          </a:p>
        </p:txBody>
      </p:sp>
    </p:spTree>
    <p:extLst>
      <p:ext uri="{BB962C8B-B14F-4D97-AF65-F5344CB8AC3E}">
        <p14:creationId xmlns:p14="http://schemas.microsoft.com/office/powerpoint/2010/main" val="41833718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77E3F12-3EA6-448E-B765-CC4A650B7437}"/>
              </a:ext>
            </a:extLst>
          </p:cNvPr>
          <p:cNvSpPr>
            <a:spLocks xmlns:a="http://schemas.openxmlformats.org/drawingml/2006/main" noGrp="1"/>
          </p:cNvSpPr>
          <p:nvPr/>
        </p:nvSpPr>
        <p:spPr>
          <a:xfrm xmlns:a="http://schemas.openxmlformats.org/drawingml/2006/main">
            <a:off x="609600" y="4572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900" b="1">
                <a:solidFill>
                  <a:srgbClr val="112D3D"/>
                </a:solidFill>
                <a:latin typeface="Arial"/>
                <a:ea typeface="Arial"/>
                <a:cs typeface="Arial"/>
              </a:defRPr>
            </a:defPPr>
          </a:lstStyle>
          <a:p xmlns:a="http://schemas.openxmlformats.org/drawingml/2006/main">
            <a:pPr algn="l">
              <a:defRPr sz="3900" b="1">
                <a:solidFill>
                  <a:srgbClr val="112D3D"/>
                </a:solidFill>
                <a:latin typeface="Arial"/>
                <a:ea typeface="Arial"/>
                <a:cs typeface="Arial"/>
              </a:defRPr>
            </a:pPr>
            <a:r>
              <a:rPr sz="3900" b="1">
                <a:solidFill>
                  <a:srgbClr val="112D3D"/>
                </a:solidFill>
                <a:latin typeface="Arial"/>
                <a:ea typeface="Arial"/>
                <a:cs typeface="Arial"/>
              </a:rPr>
              <a:t>Training and evaluation</a:t>
            </a:r>
          </a:p>
        </p:txBody>
      </p:sp>
      <p:sp>
        <p:nvSpPr>
          <p:cNvPr id="2" name="">
            <a:extLst xmlns:a="http://schemas.openxmlformats.org/drawingml/2006/main">
              <a:ext uri="{FF2B5EF4-FFF2-40B4-BE49-F238E27FC236}">
                <a16:creationId xmlns:a16="http://schemas.microsoft.com/office/drawing/2014/main" id="{61ECD696-9821-4D4B-B254-12D77F940A2A}"/>
              </a:ext>
            </a:extLst>
          </p:cNvPr>
          <p:cNvSpPr>
            <a:spLocks xmlns:a="http://schemas.openxmlformats.org/drawingml/2006/main" noGrp="1"/>
          </p:cNvSpPr>
          <p:nvPr/>
        </p:nvSpPr>
        <p:spPr>
          <a:xfrm xmlns:a="http://schemas.openxmlformats.org/drawingml/2006/main">
            <a:off x="609600" y="165735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6150" b="1">
                <a:solidFill>
                  <a:srgbClr val="007D7F"/>
                </a:solidFill>
                <a:latin typeface="Arial"/>
                <a:ea typeface="Arial"/>
                <a:cs typeface="Arial"/>
              </a:defRPr>
            </a:defPPr>
          </a:lstStyle>
          <a:p xmlns:a="http://schemas.openxmlformats.org/drawingml/2006/main">
            <a:pPr algn="l">
              <a:defRPr sz="6150" b="1">
                <a:solidFill>
                  <a:srgbClr val="007D7F"/>
                </a:solidFill>
                <a:latin typeface="Arial"/>
                <a:ea typeface="Arial"/>
                <a:cs typeface="Arial"/>
              </a:defRPr>
            </a:pPr>
            <a:r>
              <a:rPr sz="6150" b="1">
                <a:solidFill>
                  <a:srgbClr val="007D7F"/>
                </a:solidFill>
                <a:latin typeface="Arial"/>
                <a:ea typeface="Arial"/>
                <a:cs typeface="Arial"/>
              </a:rPr>
              <a:t>1M</a:t>
            </a:r>
          </a:p>
        </p:txBody>
      </p:sp>
      <p:sp>
        <p:nvSpPr>
          <p:cNvPr id="3" name="">
            <a:extLst xmlns:a="http://schemas.openxmlformats.org/drawingml/2006/main">
              <a:ext uri="{FF2B5EF4-FFF2-40B4-BE49-F238E27FC236}">
                <a16:creationId xmlns:a16="http://schemas.microsoft.com/office/drawing/2014/main" id="{A291358E-76BF-41CA-846A-EB91A98DD6D1}"/>
              </a:ext>
            </a:extLst>
          </p:cNvPr>
          <p:cNvSpPr>
            <a:spLocks xmlns:a="http://schemas.openxmlformats.org/drawingml/2006/main" noGrp="1"/>
          </p:cNvSpPr>
          <p:nvPr/>
        </p:nvSpPr>
        <p:spPr>
          <a:xfrm xmlns:a="http://schemas.openxmlformats.org/drawingml/2006/main">
            <a:off x="609600" y="2705100"/>
            <a:ext cx="285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transitions</a:t>
            </a:r>
          </a:p>
        </p:txBody>
      </p:sp>
      <p:sp>
        <p:nvSpPr>
          <p:cNvPr id="4" name="">
            <a:extLst xmlns:a="http://schemas.openxmlformats.org/drawingml/2006/main">
              <a:ext uri="{FF2B5EF4-FFF2-40B4-BE49-F238E27FC236}">
                <a16:creationId xmlns:a16="http://schemas.microsoft.com/office/drawing/2014/main" id="{3562E868-87C8-48EC-ADCF-83F2D1EDF52F}"/>
              </a:ext>
            </a:extLst>
          </p:cNvPr>
          <p:cNvSpPr>
            <a:spLocks xmlns:a="http://schemas.openxmlformats.org/drawingml/2006/main" noGrp="1"/>
          </p:cNvSpPr>
          <p:nvPr/>
        </p:nvSpPr>
        <p:spPr>
          <a:xfrm xmlns:a="http://schemas.openxmlformats.org/drawingml/2006/main">
            <a:off x="4352925" y="165735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6150" b="1">
                <a:solidFill>
                  <a:srgbClr val="007D7F"/>
                </a:solidFill>
                <a:latin typeface="Arial"/>
                <a:ea typeface="Arial"/>
                <a:cs typeface="Arial"/>
              </a:defRPr>
            </a:defPPr>
          </a:lstStyle>
          <a:p xmlns:a="http://schemas.openxmlformats.org/drawingml/2006/main">
            <a:pPr algn="l">
              <a:defRPr sz="6150" b="1">
                <a:solidFill>
                  <a:srgbClr val="007D7F"/>
                </a:solidFill>
                <a:latin typeface="Arial"/>
                <a:ea typeface="Arial"/>
                <a:cs typeface="Arial"/>
              </a:defRPr>
            </a:pPr>
            <a:r>
              <a:rPr sz="6150" b="1">
                <a:solidFill>
                  <a:srgbClr val="007D7F"/>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ADD6975D-C5E4-4032-A252-87ABA2E6AB2C}"/>
              </a:ext>
            </a:extLst>
          </p:cNvPr>
          <p:cNvSpPr>
            <a:spLocks xmlns:a="http://schemas.openxmlformats.org/drawingml/2006/main" noGrp="1"/>
          </p:cNvSpPr>
          <p:nvPr/>
        </p:nvSpPr>
        <p:spPr>
          <a:xfrm xmlns:a="http://schemas.openxmlformats.org/drawingml/2006/main">
            <a:off x="4352925" y="2705100"/>
            <a:ext cx="285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training seeds</a:t>
            </a:r>
          </a:p>
        </p:txBody>
      </p:sp>
      <p:sp>
        <p:nvSpPr>
          <p:cNvPr id="6" name="">
            <a:extLst xmlns:a="http://schemas.openxmlformats.org/drawingml/2006/main">
              <a:ext uri="{FF2B5EF4-FFF2-40B4-BE49-F238E27FC236}">
                <a16:creationId xmlns:a16="http://schemas.microsoft.com/office/drawing/2014/main" id="{35FFAE44-22C3-440F-9460-D7F0CE565589}"/>
              </a:ext>
            </a:extLst>
          </p:cNvPr>
          <p:cNvSpPr>
            <a:spLocks xmlns:a="http://schemas.openxmlformats.org/drawingml/2006/main" noGrp="1"/>
          </p:cNvSpPr>
          <p:nvPr/>
        </p:nvSpPr>
        <p:spPr>
          <a:xfrm xmlns:a="http://schemas.openxmlformats.org/drawingml/2006/main">
            <a:off x="8353425" y="1657350"/>
            <a:ext cx="32194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6150" b="1">
                <a:solidFill>
                  <a:srgbClr val="007D7F"/>
                </a:solidFill>
                <a:latin typeface="Arial"/>
                <a:ea typeface="Arial"/>
                <a:cs typeface="Arial"/>
              </a:defRPr>
            </a:defPPr>
          </a:lstStyle>
          <a:p xmlns:a="http://schemas.openxmlformats.org/drawingml/2006/main">
            <a:pPr algn="l">
              <a:defRPr sz="6150" b="1">
                <a:solidFill>
                  <a:srgbClr val="007D7F"/>
                </a:solidFill>
                <a:latin typeface="Arial"/>
                <a:ea typeface="Arial"/>
                <a:cs typeface="Arial"/>
              </a:defRPr>
            </a:pPr>
            <a:r>
              <a:rPr sz="6150" b="1">
                <a:solidFill>
                  <a:srgbClr val="007D7F"/>
                </a:solidFill>
                <a:latin typeface="Arial"/>
                <a:ea typeface="Arial"/>
                <a:cs typeface="Arial"/>
              </a:rPr>
              <a:t>500k</a:t>
            </a:r>
          </a:p>
        </p:txBody>
      </p:sp>
      <p:sp>
        <p:nvSpPr>
          <p:cNvPr id="7" name="">
            <a:extLst xmlns:a="http://schemas.openxmlformats.org/drawingml/2006/main">
              <a:ext uri="{FF2B5EF4-FFF2-40B4-BE49-F238E27FC236}">
                <a16:creationId xmlns:a16="http://schemas.microsoft.com/office/drawing/2014/main" id="{8C43BC45-794A-469A-A37E-74ED2BA90060}"/>
              </a:ext>
            </a:extLst>
          </p:cNvPr>
          <p:cNvSpPr>
            <a:spLocks xmlns:a="http://schemas.openxmlformats.org/drawingml/2006/main" noGrp="1"/>
          </p:cNvSpPr>
          <p:nvPr/>
        </p:nvSpPr>
        <p:spPr>
          <a:xfrm xmlns:a="http://schemas.openxmlformats.org/drawingml/2006/main">
            <a:off x="8353425" y="2705100"/>
            <a:ext cx="32194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updates per seed</a:t>
            </a:r>
          </a:p>
        </p:txBody>
      </p:sp>
      <p:sp>
        <p:nvSpPr>
          <p:cNvPr id="8" name="">
            <a:extLst xmlns:a="http://schemas.openxmlformats.org/drawingml/2006/main">
              <a:ext uri="{FF2B5EF4-FFF2-40B4-BE49-F238E27FC236}">
                <a16:creationId xmlns:a16="http://schemas.microsoft.com/office/drawing/2014/main" id="{7DA1A2B1-1418-4DB3-BD95-17A0D93F7890}"/>
              </a:ext>
            </a:extLst>
          </p:cNvPr>
          <p:cNvSpPr>
            <a:spLocks xmlns:a="http://schemas.openxmlformats.org/drawingml/2006/main" noGrp="1"/>
          </p:cNvSpPr>
          <p:nvPr/>
        </p:nvSpPr>
        <p:spPr>
          <a:xfrm xmlns:a="http://schemas.openxmlformats.org/drawingml/2006/main">
            <a:off x="609600" y="3667125"/>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400" b="0">
                <a:solidFill>
                  <a:srgbClr val="112D3D"/>
                </a:solidFill>
                <a:latin typeface="Arial"/>
                <a:ea typeface="Arial"/>
                <a:cs typeface="Arial"/>
              </a:defRPr>
            </a:defPPr>
          </a:lstStyle>
          <a:p xmlns:a="http://schemas.openxmlformats.org/drawingml/2006/main">
            <a:pPr algn="l">
              <a:defRPr sz="2400" b="0">
                <a:solidFill>
                  <a:srgbClr val="112D3D"/>
                </a:solidFill>
                <a:latin typeface="Arial"/>
                <a:ea typeface="Arial"/>
                <a:cs typeface="Arial"/>
              </a:defRPr>
            </a:pPr>
            <a:r>
              <a:rPr sz="2400" b="0">
                <a:solidFill>
                  <a:srgbClr val="112D3D"/>
                </a:solidFill>
                <a:latin typeface="Arial"/>
                <a:ea typeface="Arial"/>
                <a:cs typeface="Arial"/>
              </a:rPr>
              <a:t>Minari medium: 1,000 episodes. Batch size: 256.</a:t>
            </a:r>
          </a:p>
        </p:txBody>
      </p:sp>
      <p:sp>
        <p:nvSpPr>
          <p:cNvPr id="9" name="">
            <a:extLst xmlns:a="http://schemas.openxmlformats.org/drawingml/2006/main">
              <a:ext uri="{FF2B5EF4-FFF2-40B4-BE49-F238E27FC236}">
                <a16:creationId xmlns:a16="http://schemas.microsoft.com/office/drawing/2014/main" id="{87D8CC3E-9F93-4DE6-85F1-6DC9894B80CE}"/>
              </a:ext>
            </a:extLst>
          </p:cNvPr>
          <p:cNvSpPr>
            <a:spLocks xmlns:a="http://schemas.openxmlformats.org/drawingml/2006/main" noGrp="1"/>
          </p:cNvSpPr>
          <p:nvPr/>
        </p:nvSpPr>
        <p:spPr>
          <a:xfrm xmlns:a="http://schemas.openxmlformats.org/drawingml/2006/main">
            <a:off x="609600" y="4524375"/>
            <a:ext cx="2971800" cy="1409700"/>
          </a:xfrm>
          <a:prstGeom xmlns:a="http://schemas.openxmlformats.org/drawingml/2006/main" prst="rect">
            <a:avLst/>
          </a:prstGeom>
          <a:solidFill xmlns:a="http://schemas.openxmlformats.org/drawingml/2006/main">
            <a:srgbClr val="E9F4F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55F90DD-B474-43AA-8F05-C55E6AE8E454}"/>
              </a:ext>
            </a:extLst>
          </p:cNvPr>
          <p:cNvSpPr>
            <a:spLocks xmlns:a="http://schemas.openxmlformats.org/drawingml/2006/main" noGrp="1"/>
          </p:cNvSpPr>
          <p:nvPr/>
        </p:nvSpPr>
        <p:spPr>
          <a:xfrm xmlns:a="http://schemas.openxmlformats.org/drawingml/2006/main">
            <a:off x="819150" y="47339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007D7F"/>
                </a:solidFill>
                <a:latin typeface="Arial"/>
                <a:ea typeface="Arial"/>
                <a:cs typeface="Arial"/>
              </a:defRPr>
            </a:defPPr>
          </a:lstStyle>
          <a:p xmlns:a="http://schemas.openxmlformats.org/drawingml/2006/main">
            <a:pPr algn="l">
              <a:defRPr sz="2700" b="1">
                <a:solidFill>
                  <a:srgbClr val="007D7F"/>
                </a:solidFill>
                <a:latin typeface="Arial"/>
                <a:ea typeface="Arial"/>
                <a:cs typeface="Arial"/>
              </a:defRPr>
            </a:pPr>
            <a:r>
              <a:rPr sz="2700" b="1">
                <a:solidFill>
                  <a:srgbClr val="007D7F"/>
                </a:solidFill>
                <a:latin typeface="Arial"/>
                <a:ea typeface="Arial"/>
                <a:cs typeface="Arial"/>
              </a:rPr>
              <a:t>Train</a:t>
            </a:r>
          </a:p>
        </p:txBody>
      </p:sp>
      <p:sp>
        <p:nvSpPr>
          <p:cNvPr id="11" name="">
            <a:extLst xmlns:a="http://schemas.openxmlformats.org/drawingml/2006/main">
              <a:ext uri="{FF2B5EF4-FFF2-40B4-BE49-F238E27FC236}">
                <a16:creationId xmlns:a16="http://schemas.microsoft.com/office/drawing/2014/main" id="{D0B8721D-A903-40EF-B2EF-5B91F6582F73}"/>
              </a:ext>
            </a:extLst>
          </p:cNvPr>
          <p:cNvSpPr>
            <a:spLocks xmlns:a="http://schemas.openxmlformats.org/drawingml/2006/main" noGrp="1"/>
          </p:cNvSpPr>
          <p:nvPr/>
        </p:nvSpPr>
        <p:spPr>
          <a:xfrm xmlns:a="http://schemas.openxmlformats.org/drawingml/2006/main">
            <a:off x="819150" y="5305425"/>
            <a:ext cx="2552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Seeds 0, 1, 2</a:t>
            </a:r>
          </a:p>
        </p:txBody>
      </p:sp>
      <p:sp>
        <p:nvSpPr>
          <p:cNvPr id="12" name="">
            <a:extLst xmlns:a="http://schemas.openxmlformats.org/drawingml/2006/main">
              <a:ext uri="{FF2B5EF4-FFF2-40B4-BE49-F238E27FC236}">
                <a16:creationId xmlns:a16="http://schemas.microsoft.com/office/drawing/2014/main" id="{82CD0929-B4B5-4BF1-AEE9-C060B3380BD7}"/>
              </a:ext>
            </a:extLst>
          </p:cNvPr>
          <p:cNvSpPr>
            <a:spLocks xmlns:a="http://schemas.openxmlformats.org/drawingml/2006/main" noGrp="1"/>
          </p:cNvSpPr>
          <p:nvPr/>
        </p:nvSpPr>
        <p:spPr>
          <a:xfrm xmlns:a="http://schemas.openxmlformats.org/drawingml/2006/main">
            <a:off x="3752850" y="5095875"/>
            <a:ext cx="45720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ABD0301-A32E-44F2-879D-DAD91E269F6A}"/>
              </a:ext>
            </a:extLst>
          </p:cNvPr>
          <p:cNvSpPr>
            <a:spLocks xmlns:a="http://schemas.openxmlformats.org/drawingml/2006/main" noGrp="1"/>
          </p:cNvSpPr>
          <p:nvPr/>
        </p:nvSpPr>
        <p:spPr>
          <a:xfrm xmlns:a="http://schemas.openxmlformats.org/drawingml/2006/main">
            <a:off x="4419600" y="4524375"/>
            <a:ext cx="3209925" cy="1409700"/>
          </a:xfrm>
          <a:prstGeom xmlns:a="http://schemas.openxmlformats.org/drawingml/2006/main" prst="rect">
            <a:avLst/>
          </a:prstGeom>
          <a:solidFill xmlns:a="http://schemas.openxmlformats.org/drawingml/2006/main">
            <a:srgbClr val="E9F4F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02FCAD3-A429-4471-98FE-AE73E6E11A41}"/>
              </a:ext>
            </a:extLst>
          </p:cNvPr>
          <p:cNvSpPr>
            <a:spLocks xmlns:a="http://schemas.openxmlformats.org/drawingml/2006/main" noGrp="1"/>
          </p:cNvSpPr>
          <p:nvPr/>
        </p:nvSpPr>
        <p:spPr>
          <a:xfrm xmlns:a="http://schemas.openxmlformats.org/drawingml/2006/main">
            <a:off x="4629150" y="4733925"/>
            <a:ext cx="27908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007D7F"/>
                </a:solidFill>
                <a:latin typeface="Arial"/>
                <a:ea typeface="Arial"/>
                <a:cs typeface="Arial"/>
              </a:defRPr>
            </a:defPPr>
          </a:lstStyle>
          <a:p xmlns:a="http://schemas.openxmlformats.org/drawingml/2006/main">
            <a:pPr algn="l">
              <a:defRPr sz="2700" b="1">
                <a:solidFill>
                  <a:srgbClr val="007D7F"/>
                </a:solidFill>
                <a:latin typeface="Arial"/>
                <a:ea typeface="Arial"/>
                <a:cs typeface="Arial"/>
              </a:defRPr>
            </a:pPr>
            <a:r>
              <a:rPr sz="2700" b="1">
                <a:solidFill>
                  <a:srgbClr val="007D7F"/>
                </a:solidFill>
                <a:latin typeface="Arial"/>
                <a:ea typeface="Arial"/>
                <a:cs typeface="Arial"/>
              </a:rPr>
              <a:t>Select</a:t>
            </a:r>
          </a:p>
        </p:txBody>
      </p:sp>
      <p:sp>
        <p:nvSpPr>
          <p:cNvPr id="15" name="">
            <a:extLst xmlns:a="http://schemas.openxmlformats.org/drawingml/2006/main">
              <a:ext uri="{FF2B5EF4-FFF2-40B4-BE49-F238E27FC236}">
                <a16:creationId xmlns:a16="http://schemas.microsoft.com/office/drawing/2014/main" id="{20E5BDD2-420E-410B-8275-756BAC6E988D}"/>
              </a:ext>
            </a:extLst>
          </p:cNvPr>
          <p:cNvSpPr>
            <a:spLocks xmlns:a="http://schemas.openxmlformats.org/drawingml/2006/main" noGrp="1"/>
          </p:cNvSpPr>
          <p:nvPr/>
        </p:nvSpPr>
        <p:spPr>
          <a:xfrm xmlns:a="http://schemas.openxmlformats.org/drawingml/2006/main">
            <a:off x="4629150" y="5305425"/>
            <a:ext cx="27908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10 eval episodes</a:t>
            </a:r>
          </a:p>
        </p:txBody>
      </p:sp>
      <p:sp>
        <p:nvSpPr>
          <p:cNvPr id="16" name="">
            <a:extLst xmlns:a="http://schemas.openxmlformats.org/drawingml/2006/main">
              <a:ext uri="{FF2B5EF4-FFF2-40B4-BE49-F238E27FC236}">
                <a16:creationId xmlns:a16="http://schemas.microsoft.com/office/drawing/2014/main" id="{5CC0A329-EE1A-462A-A994-9ACF367E13D6}"/>
              </a:ext>
            </a:extLst>
          </p:cNvPr>
          <p:cNvSpPr>
            <a:spLocks xmlns:a="http://schemas.openxmlformats.org/drawingml/2006/main" noGrp="1"/>
          </p:cNvSpPr>
          <p:nvPr/>
        </p:nvSpPr>
        <p:spPr>
          <a:xfrm xmlns:a="http://schemas.openxmlformats.org/drawingml/2006/main">
            <a:off x="7810500" y="5095875"/>
            <a:ext cx="45720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8880844-8CC8-412C-A928-D063CD321D19}"/>
              </a:ext>
            </a:extLst>
          </p:cNvPr>
          <p:cNvSpPr>
            <a:spLocks xmlns:a="http://schemas.openxmlformats.org/drawingml/2006/main" noGrp="1"/>
          </p:cNvSpPr>
          <p:nvPr/>
        </p:nvSpPr>
        <p:spPr>
          <a:xfrm xmlns:a="http://schemas.openxmlformats.org/drawingml/2006/main">
            <a:off x="8477250" y="4524375"/>
            <a:ext cx="3105150" cy="1409700"/>
          </a:xfrm>
          <a:prstGeom xmlns:a="http://schemas.openxmlformats.org/drawingml/2006/main" prst="rect">
            <a:avLst/>
          </a:prstGeom>
          <a:solidFill xmlns:a="http://schemas.openxmlformats.org/drawingml/2006/main">
            <a:srgbClr val="E9F4F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D693E76-05F4-420A-BD1B-EAF2F58D3F51}"/>
              </a:ext>
            </a:extLst>
          </p:cNvPr>
          <p:cNvSpPr>
            <a:spLocks xmlns:a="http://schemas.openxmlformats.org/drawingml/2006/main" noGrp="1"/>
          </p:cNvSpPr>
          <p:nvPr/>
        </p:nvSpPr>
        <p:spPr>
          <a:xfrm xmlns:a="http://schemas.openxmlformats.org/drawingml/2006/main">
            <a:off x="8686800" y="4733925"/>
            <a:ext cx="26860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700" b="1">
                <a:solidFill>
                  <a:srgbClr val="007D7F"/>
                </a:solidFill>
                <a:latin typeface="Arial"/>
                <a:ea typeface="Arial"/>
                <a:cs typeface="Arial"/>
              </a:defRPr>
            </a:defPPr>
          </a:lstStyle>
          <a:p xmlns:a="http://schemas.openxmlformats.org/drawingml/2006/main">
            <a:pPr algn="l">
              <a:defRPr sz="2700" b="1">
                <a:solidFill>
                  <a:srgbClr val="007D7F"/>
                </a:solidFill>
                <a:latin typeface="Arial"/>
                <a:ea typeface="Arial"/>
                <a:cs typeface="Arial"/>
              </a:defRPr>
            </a:pPr>
            <a:r>
              <a:rPr sz="2700" b="1">
                <a:solidFill>
                  <a:srgbClr val="007D7F"/>
                </a:solidFill>
                <a:latin typeface="Arial"/>
                <a:ea typeface="Arial"/>
                <a:cs typeface="Arial"/>
              </a:rPr>
              <a:t>Final test</a:t>
            </a:r>
          </a:p>
        </p:txBody>
      </p:sp>
      <p:sp>
        <p:nvSpPr>
          <p:cNvPr id="19" name="">
            <a:extLst xmlns:a="http://schemas.openxmlformats.org/drawingml/2006/main">
              <a:ext uri="{FF2B5EF4-FFF2-40B4-BE49-F238E27FC236}">
                <a16:creationId xmlns:a16="http://schemas.microsoft.com/office/drawing/2014/main" id="{1234896A-326B-429E-865C-C7A699F7B36A}"/>
              </a:ext>
            </a:extLst>
          </p:cNvPr>
          <p:cNvSpPr>
            <a:spLocks xmlns:a="http://schemas.openxmlformats.org/drawingml/2006/main" noGrp="1"/>
          </p:cNvSpPr>
          <p:nvPr/>
        </p:nvSpPr>
        <p:spPr>
          <a:xfrm xmlns:a="http://schemas.openxmlformats.org/drawingml/2006/main">
            <a:off x="8686800" y="5305425"/>
            <a:ext cx="26860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New episode seeds</a:t>
            </a:r>
          </a:p>
        </p:txBody>
      </p:sp>
      <p:sp>
        <p:nvSpPr>
          <p:cNvPr id="20" name="">
            <a:extLst xmlns:a="http://schemas.openxmlformats.org/drawingml/2006/main">
              <a:ext uri="{FF2B5EF4-FFF2-40B4-BE49-F238E27FC236}">
                <a16:creationId xmlns:a16="http://schemas.microsoft.com/office/drawing/2014/main" id="{E1DDC691-F833-41CA-8A7C-81CBB951993D}"/>
              </a:ext>
            </a:extLst>
          </p:cNvPr>
          <p:cNvSpPr>
            <a:spLocks xmlns:a="http://schemas.openxmlformats.org/drawingml/2006/main" noGrp="1"/>
          </p:cNvSpPr>
          <p:nvPr/>
        </p:nvSpPr>
        <p:spPr>
          <a:xfrm xmlns:a="http://schemas.openxmlformats.org/drawingml/2006/main">
            <a:off x="609600" y="62484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950" b="0">
                <a:solidFill>
                  <a:srgbClr val="4E6370"/>
                </a:solidFill>
                <a:latin typeface="Arial"/>
                <a:ea typeface="Arial"/>
                <a:cs typeface="Arial"/>
              </a:defRPr>
            </a:defPPr>
          </a:lstStyle>
          <a:p xmlns:a="http://schemas.openxmlformats.org/drawingml/2006/main">
            <a:pPr algn="l">
              <a:defRPr sz="1950" b="0">
                <a:solidFill>
                  <a:srgbClr val="4E6370"/>
                </a:solidFill>
                <a:latin typeface="Arial"/>
                <a:ea typeface="Arial"/>
                <a:cs typeface="Arial"/>
              </a:defRPr>
            </a:pPr>
            <a:r>
              <a:rPr sz="1950" b="0">
                <a:solidFill>
                  <a:srgbClr val="4E6370"/>
                </a:solidFill>
                <a:latin typeface="Arial"/>
                <a:ea typeface="Arial"/>
                <a:cs typeface="Arial"/>
              </a:rPr>
              <a:t>Raw return, random baseline, full videos. MuJoCo 3.2.3.</a:t>
            </a:r>
          </a:p>
        </p:txBody>
      </p:sp>
    </p:spTree>
    <p:extLst>
      <p:ext uri="{BB962C8B-B14F-4D97-AF65-F5344CB8AC3E}">
        <p14:creationId xmlns:p14="http://schemas.microsoft.com/office/powerpoint/2010/main" val="55193829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8D78905-40FE-4D25-A8AB-F126419C0112}"/>
              </a:ext>
            </a:extLst>
          </p:cNvPr>
          <p:cNvSpPr>
            <a:spLocks xmlns:a="http://schemas.openxmlformats.org/drawingml/2006/main" noGrp="1"/>
          </p:cNvSpPr>
          <p:nvPr/>
        </p:nvSpPr>
        <p:spPr>
          <a:xfrm xmlns:a="http://schemas.openxmlformats.org/drawingml/2006/main">
            <a:off x="609600" y="4572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900" b="1">
                <a:solidFill>
                  <a:srgbClr val="112D3D"/>
                </a:solidFill>
                <a:latin typeface="Arial"/>
                <a:ea typeface="Arial"/>
                <a:cs typeface="Arial"/>
              </a:defRPr>
            </a:defPPr>
          </a:lstStyle>
          <a:p xmlns:a="http://schemas.openxmlformats.org/drawingml/2006/main">
            <a:pPr algn="l">
              <a:defRPr sz="3900" b="1">
                <a:solidFill>
                  <a:srgbClr val="112D3D"/>
                </a:solidFill>
                <a:latin typeface="Arial"/>
                <a:ea typeface="Arial"/>
                <a:cs typeface="Arial"/>
              </a:defRPr>
            </a:pPr>
            <a:r>
              <a:rPr sz="3900" b="1">
                <a:solidFill>
                  <a:srgbClr val="112D3D"/>
                </a:solidFill>
                <a:latin typeface="Arial"/>
                <a:ea typeface="Arial"/>
                <a:cs typeface="Arial"/>
              </a:rPr>
              <a:t>Why HalfCheetah fits IQL</a:t>
            </a:r>
          </a:p>
        </p:txBody>
      </p:sp>
      <p:sp>
        <p:nvSpPr>
          <p:cNvPr id="2" name="">
            <a:extLst xmlns:a="http://schemas.openxmlformats.org/drawingml/2006/main">
              <a:ext uri="{FF2B5EF4-FFF2-40B4-BE49-F238E27FC236}">
                <a16:creationId xmlns:a16="http://schemas.microsoft.com/office/drawing/2014/main" id="{5609AE27-D0E2-46FF-9074-887CCB332EC7}"/>
              </a:ext>
            </a:extLst>
          </p:cNvPr>
          <p:cNvSpPr>
            <a:spLocks xmlns:a="http://schemas.openxmlformats.org/drawingml/2006/main" noGrp="1"/>
          </p:cNvSpPr>
          <p:nvPr/>
        </p:nvSpPr>
        <p:spPr>
          <a:xfrm xmlns:a="http://schemas.openxmlformats.org/drawingml/2006/main">
            <a:off x="609600" y="1647825"/>
            <a:ext cx="4953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850" b="1">
                <a:solidFill>
                  <a:srgbClr val="112D3D"/>
                </a:solidFill>
                <a:latin typeface="Arial"/>
                <a:ea typeface="Arial"/>
                <a:cs typeface="Arial"/>
              </a:defRPr>
            </a:defPPr>
          </a:lstStyle>
          <a:p xmlns:a="http://schemas.openxmlformats.org/drawingml/2006/main">
            <a:pPr algn="l">
              <a:defRPr sz="2850" b="1">
                <a:solidFill>
                  <a:srgbClr val="112D3D"/>
                </a:solidFill>
                <a:latin typeface="Arial"/>
                <a:ea typeface="Arial"/>
                <a:cs typeface="Arial"/>
              </a:defRPr>
            </a:pPr>
            <a:r>
              <a:rPr sz="2850" b="1">
                <a:solidFill>
                  <a:srgbClr val="112D3D"/>
                </a:solidFill>
                <a:latin typeface="Arial"/>
                <a:ea typeface="Arial"/>
                <a:cs typeface="Arial"/>
              </a:rPr>
              <a:t>Continuous torques</a:t>
            </a:r>
          </a:p>
        </p:txBody>
      </p:sp>
      <p:sp>
        <p:nvSpPr>
          <p:cNvPr id="3" name="">
            <a:extLst xmlns:a="http://schemas.openxmlformats.org/drawingml/2006/main">
              <a:ext uri="{FF2B5EF4-FFF2-40B4-BE49-F238E27FC236}">
                <a16:creationId xmlns:a16="http://schemas.microsoft.com/office/drawing/2014/main" id="{B03D0A66-9B8C-4CAA-AD16-EAF888C343C4}"/>
              </a:ext>
            </a:extLst>
          </p:cNvPr>
          <p:cNvSpPr>
            <a:spLocks xmlns:a="http://schemas.openxmlformats.org/drawingml/2006/main" noGrp="1"/>
          </p:cNvSpPr>
          <p:nvPr/>
        </p:nvSpPr>
        <p:spPr>
          <a:xfrm xmlns:a="http://schemas.openxmlformats.org/drawingml/2006/main">
            <a:off x="5705475" y="1762125"/>
            <a:ext cx="62865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370793E-7CC5-4007-BA61-90F5B1D706EC}"/>
              </a:ext>
            </a:extLst>
          </p:cNvPr>
          <p:cNvSpPr>
            <a:spLocks xmlns:a="http://schemas.openxmlformats.org/drawingml/2006/main" noGrp="1"/>
          </p:cNvSpPr>
          <p:nvPr/>
        </p:nvSpPr>
        <p:spPr>
          <a:xfrm xmlns:a="http://schemas.openxmlformats.org/drawingml/2006/main">
            <a:off x="6819900" y="1647825"/>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850" b="1">
                <a:solidFill>
                  <a:srgbClr val="007D7F"/>
                </a:solidFill>
                <a:latin typeface="Arial"/>
                <a:ea typeface="Arial"/>
                <a:cs typeface="Arial"/>
              </a:defRPr>
            </a:defPPr>
          </a:lstStyle>
          <a:p xmlns:a="http://schemas.openxmlformats.org/drawingml/2006/main">
            <a:pPr algn="l">
              <a:defRPr sz="2850" b="1">
                <a:solidFill>
                  <a:srgbClr val="007D7F"/>
                </a:solidFill>
                <a:latin typeface="Arial"/>
                <a:ea typeface="Arial"/>
                <a:cs typeface="Arial"/>
              </a:defRPr>
            </a:pPr>
            <a:r>
              <a:rPr sz="2850" b="1">
                <a:solidFill>
                  <a:srgbClr val="007D7F"/>
                </a:solidFill>
                <a:latin typeface="Arial"/>
                <a:ea typeface="Arial"/>
                <a:cs typeface="Arial"/>
              </a:rPr>
              <a:t>Continuous actor</a:t>
            </a:r>
          </a:p>
        </p:txBody>
      </p:sp>
      <p:sp>
        <p:nvSpPr>
          <p:cNvPr id="5" name="">
            <a:extLst xmlns:a="http://schemas.openxmlformats.org/drawingml/2006/main">
              <a:ext uri="{FF2B5EF4-FFF2-40B4-BE49-F238E27FC236}">
                <a16:creationId xmlns:a16="http://schemas.microsoft.com/office/drawing/2014/main" id="{207538B6-7314-4D67-A908-DDA66D79C479}"/>
              </a:ext>
            </a:extLst>
          </p:cNvPr>
          <p:cNvSpPr>
            <a:spLocks xmlns:a="http://schemas.openxmlformats.org/drawingml/2006/main" noGrp="1"/>
          </p:cNvSpPr>
          <p:nvPr/>
        </p:nvSpPr>
        <p:spPr>
          <a:xfrm xmlns:a="http://schemas.openxmlformats.org/drawingml/2006/main">
            <a:off x="609600" y="2752725"/>
            <a:ext cx="4953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850" b="1">
                <a:solidFill>
                  <a:srgbClr val="112D3D"/>
                </a:solidFill>
                <a:latin typeface="Arial"/>
                <a:ea typeface="Arial"/>
                <a:cs typeface="Arial"/>
              </a:defRPr>
            </a:defPPr>
          </a:lstStyle>
          <a:p xmlns:a="http://schemas.openxmlformats.org/drawingml/2006/main">
            <a:pPr algn="l">
              <a:defRPr sz="2850" b="1">
                <a:solidFill>
                  <a:srgbClr val="112D3D"/>
                </a:solidFill>
                <a:latin typeface="Arial"/>
                <a:ea typeface="Arial"/>
                <a:cs typeface="Arial"/>
              </a:defRPr>
            </a:pPr>
            <a:r>
              <a:rPr sz="2850" b="1">
                <a:solidFill>
                  <a:srgbClr val="112D3D"/>
                </a:solidFill>
                <a:latin typeface="Arial"/>
                <a:ea typeface="Arial"/>
                <a:cs typeface="Arial"/>
              </a:rPr>
              <a:t>Recorded locomotion</a:t>
            </a:r>
          </a:p>
        </p:txBody>
      </p:sp>
      <p:sp>
        <p:nvSpPr>
          <p:cNvPr id="6" name="">
            <a:extLst xmlns:a="http://schemas.openxmlformats.org/drawingml/2006/main">
              <a:ext uri="{FF2B5EF4-FFF2-40B4-BE49-F238E27FC236}">
                <a16:creationId xmlns:a16="http://schemas.microsoft.com/office/drawing/2014/main" id="{9ED8E654-3A38-4AE0-8B4B-020117784167}"/>
              </a:ext>
            </a:extLst>
          </p:cNvPr>
          <p:cNvSpPr>
            <a:spLocks xmlns:a="http://schemas.openxmlformats.org/drawingml/2006/main" noGrp="1"/>
          </p:cNvSpPr>
          <p:nvPr/>
        </p:nvSpPr>
        <p:spPr>
          <a:xfrm xmlns:a="http://schemas.openxmlformats.org/drawingml/2006/main">
            <a:off x="5705475" y="2867025"/>
            <a:ext cx="62865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DF0F0EA-991B-46C2-BFF9-A045ABED4F87}"/>
              </a:ext>
            </a:extLst>
          </p:cNvPr>
          <p:cNvSpPr>
            <a:spLocks xmlns:a="http://schemas.openxmlformats.org/drawingml/2006/main" noGrp="1"/>
          </p:cNvSpPr>
          <p:nvPr/>
        </p:nvSpPr>
        <p:spPr>
          <a:xfrm xmlns:a="http://schemas.openxmlformats.org/drawingml/2006/main">
            <a:off x="6819900" y="2752725"/>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850" b="1">
                <a:solidFill>
                  <a:srgbClr val="007D7F"/>
                </a:solidFill>
                <a:latin typeface="Arial"/>
                <a:ea typeface="Arial"/>
                <a:cs typeface="Arial"/>
              </a:defRPr>
            </a:defPPr>
          </a:lstStyle>
          <a:p xmlns:a="http://schemas.openxmlformats.org/drawingml/2006/main">
            <a:pPr algn="l">
              <a:defRPr sz="2850" b="1">
                <a:solidFill>
                  <a:srgbClr val="007D7F"/>
                </a:solidFill>
                <a:latin typeface="Arial"/>
                <a:ea typeface="Arial"/>
                <a:cs typeface="Arial"/>
              </a:defRPr>
            </a:pPr>
            <a:r>
              <a:rPr sz="2850" b="1">
                <a:solidFill>
                  <a:srgbClr val="007D7F"/>
                </a:solidFill>
                <a:latin typeface="Arial"/>
                <a:ea typeface="Arial"/>
                <a:cs typeface="Arial"/>
              </a:rPr>
              <a:t>Offline learning</a:t>
            </a:r>
          </a:p>
        </p:txBody>
      </p:sp>
      <p:sp>
        <p:nvSpPr>
          <p:cNvPr id="8" name="">
            <a:extLst xmlns:a="http://schemas.openxmlformats.org/drawingml/2006/main">
              <a:ext uri="{FF2B5EF4-FFF2-40B4-BE49-F238E27FC236}">
                <a16:creationId xmlns:a16="http://schemas.microsoft.com/office/drawing/2014/main" id="{4F26E11B-B59F-448A-9D33-E5D4EDBF7480}"/>
              </a:ext>
            </a:extLst>
          </p:cNvPr>
          <p:cNvSpPr>
            <a:spLocks xmlns:a="http://schemas.openxmlformats.org/drawingml/2006/main" noGrp="1"/>
          </p:cNvSpPr>
          <p:nvPr/>
        </p:nvSpPr>
        <p:spPr>
          <a:xfrm xmlns:a="http://schemas.openxmlformats.org/drawingml/2006/main">
            <a:off x="609600" y="3857625"/>
            <a:ext cx="4953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850" b="1">
                <a:solidFill>
                  <a:srgbClr val="112D3D"/>
                </a:solidFill>
                <a:latin typeface="Arial"/>
                <a:ea typeface="Arial"/>
                <a:cs typeface="Arial"/>
              </a:defRPr>
            </a:defPPr>
          </a:lstStyle>
          <a:p xmlns:a="http://schemas.openxmlformats.org/drawingml/2006/main">
            <a:pPr algn="l">
              <a:defRPr sz="2850" b="1">
                <a:solidFill>
                  <a:srgbClr val="112D3D"/>
                </a:solidFill>
                <a:latin typeface="Arial"/>
                <a:ea typeface="Arial"/>
                <a:cs typeface="Arial"/>
              </a:defRPr>
            </a:pPr>
            <a:r>
              <a:rPr sz="2850" b="1">
                <a:solidFill>
                  <a:srgbClr val="112D3D"/>
                </a:solidFill>
                <a:latin typeface="Arial"/>
                <a:ea typeface="Arial"/>
                <a:cs typeface="Arial"/>
              </a:rPr>
              <a:t>Returns and visible gait</a:t>
            </a:r>
          </a:p>
        </p:txBody>
      </p:sp>
      <p:sp>
        <p:nvSpPr>
          <p:cNvPr id="9" name="">
            <a:extLst xmlns:a="http://schemas.openxmlformats.org/drawingml/2006/main">
              <a:ext uri="{FF2B5EF4-FFF2-40B4-BE49-F238E27FC236}">
                <a16:creationId xmlns:a16="http://schemas.microsoft.com/office/drawing/2014/main" id="{20AEE01F-E773-42DC-BC43-81E26748B796}"/>
              </a:ext>
            </a:extLst>
          </p:cNvPr>
          <p:cNvSpPr>
            <a:spLocks xmlns:a="http://schemas.openxmlformats.org/drawingml/2006/main" noGrp="1"/>
          </p:cNvSpPr>
          <p:nvPr/>
        </p:nvSpPr>
        <p:spPr>
          <a:xfrm xmlns:a="http://schemas.openxmlformats.org/drawingml/2006/main">
            <a:off x="5705475" y="3971925"/>
            <a:ext cx="628650" cy="285750"/>
          </a:xfrm>
          <a:prstGeom xmlns:a="http://schemas.openxmlformats.org/drawingml/2006/main" prst="rightArrow">
            <a:avLst/>
          </a:prstGeom>
          <a:solidFill xmlns:a="http://schemas.openxmlformats.org/drawingml/2006/main">
            <a:srgbClr val="007D7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07C6512-967D-4540-BFB4-4E6076E8B739}"/>
              </a:ext>
            </a:extLst>
          </p:cNvPr>
          <p:cNvSpPr>
            <a:spLocks xmlns:a="http://schemas.openxmlformats.org/drawingml/2006/main" noGrp="1"/>
          </p:cNvSpPr>
          <p:nvPr/>
        </p:nvSpPr>
        <p:spPr>
          <a:xfrm xmlns:a="http://schemas.openxmlformats.org/drawingml/2006/main">
            <a:off x="6819900" y="3857625"/>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850" b="1">
                <a:solidFill>
                  <a:srgbClr val="007D7F"/>
                </a:solidFill>
                <a:latin typeface="Arial"/>
                <a:ea typeface="Arial"/>
                <a:cs typeface="Arial"/>
              </a:defRPr>
            </a:defPPr>
          </a:lstStyle>
          <a:p xmlns:a="http://schemas.openxmlformats.org/drawingml/2006/main">
            <a:pPr algn="l">
              <a:defRPr sz="2850" b="1">
                <a:solidFill>
                  <a:srgbClr val="007D7F"/>
                </a:solidFill>
                <a:latin typeface="Arial"/>
                <a:ea typeface="Arial"/>
                <a:cs typeface="Arial"/>
              </a:defRPr>
            </a:pPr>
            <a:r>
              <a:rPr sz="2850" b="1">
                <a:solidFill>
                  <a:srgbClr val="007D7F"/>
                </a:solidFill>
                <a:latin typeface="Arial"/>
                <a:ea typeface="Arial"/>
                <a:cs typeface="Arial"/>
              </a:rPr>
              <a:t>Measurable evaluation</a:t>
            </a:r>
          </a:p>
        </p:txBody>
      </p:sp>
      <p:sp>
        <p:nvSpPr>
          <p:cNvPr id="11" name="">
            <a:extLst xmlns:a="http://schemas.openxmlformats.org/drawingml/2006/main">
              <a:ext uri="{FF2B5EF4-FFF2-40B4-BE49-F238E27FC236}">
                <a16:creationId xmlns:a16="http://schemas.microsoft.com/office/drawing/2014/main" id="{C00A6D4E-2F0C-4B2D-B81A-51995CA6C4EB}"/>
              </a:ext>
            </a:extLst>
          </p:cNvPr>
          <p:cNvSpPr>
            <a:spLocks xmlns:a="http://schemas.openxmlformats.org/drawingml/2006/main" noGrp="1"/>
          </p:cNvSpPr>
          <p:nvPr/>
        </p:nvSpPr>
        <p:spPr>
          <a:xfrm xmlns:a="http://schemas.openxmlformats.org/drawingml/2006/main">
            <a:off x="609600" y="50768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1">
                <a:solidFill>
                  <a:srgbClr val="CB650E"/>
                </a:solidFill>
                <a:latin typeface="Arial"/>
                <a:ea typeface="Arial"/>
                <a:cs typeface="Arial"/>
              </a:defRPr>
            </a:defPPr>
          </a:lstStyle>
          <a:p xmlns:a="http://schemas.openxmlformats.org/drawingml/2006/main">
            <a:pPr algn="l">
              <a:defRPr sz="2250" b="1">
                <a:solidFill>
                  <a:srgbClr val="CB650E"/>
                </a:solidFill>
                <a:latin typeface="Arial"/>
                <a:ea typeface="Arial"/>
                <a:cs typeface="Arial"/>
              </a:defRPr>
            </a:pPr>
            <a:r>
              <a:rPr sz="2250" b="1">
                <a:solidFill>
                  <a:srgbClr val="CB650E"/>
                </a:solidFill>
                <a:latin typeface="Arial"/>
                <a:ea typeface="Arial"/>
                <a:cs typeface="Arial"/>
              </a:rPr>
              <a:t>Risks: data coverage, seed failures, physics differences</a:t>
            </a:r>
          </a:p>
        </p:txBody>
      </p:sp>
      <p:sp>
        <p:nvSpPr>
          <p:cNvPr id="12" name="">
            <a:extLst xmlns:a="http://schemas.openxmlformats.org/drawingml/2006/main">
              <a:ext uri="{FF2B5EF4-FFF2-40B4-BE49-F238E27FC236}">
                <a16:creationId xmlns:a16="http://schemas.microsoft.com/office/drawing/2014/main" id="{FA51D51F-1AD7-4292-AC84-49EC6518EDBE}"/>
              </a:ext>
            </a:extLst>
          </p:cNvPr>
          <p:cNvSpPr>
            <a:spLocks xmlns:a="http://schemas.openxmlformats.org/drawingml/2006/main" noGrp="1"/>
          </p:cNvSpPr>
          <p:nvPr/>
        </p:nvSpPr>
        <p:spPr>
          <a:xfrm xmlns:a="http://schemas.openxmlformats.org/drawingml/2006/main">
            <a:off x="609600" y="5600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250" b="0">
                <a:solidFill>
                  <a:srgbClr val="112D3D"/>
                </a:solidFill>
                <a:latin typeface="Arial"/>
                <a:ea typeface="Arial"/>
                <a:cs typeface="Arial"/>
              </a:defRPr>
            </a:defPPr>
          </a:lstStyle>
          <a:p xmlns:a="http://schemas.openxmlformats.org/drawingml/2006/main">
            <a:pPr algn="l">
              <a:defRPr sz="2250" b="0">
                <a:solidFill>
                  <a:srgbClr val="112D3D"/>
                </a:solidFill>
                <a:latin typeface="Arial"/>
                <a:ea typeface="Arial"/>
                <a:cs typeface="Arial"/>
              </a:defRPr>
            </a:pPr>
            <a:r>
              <a:rPr sz="2250" b="0">
                <a:solidFill>
                  <a:srgbClr val="112D3D"/>
                </a:solidFill>
                <a:latin typeface="Arial"/>
                <a:ea typeface="Arial"/>
                <a:cs typeface="Arial"/>
              </a:rPr>
              <a:t>Multiple seeds, complete episodes, pinned dependencies</a:t>
            </a:r>
          </a:p>
        </p:txBody>
      </p:sp>
      <p:sp>
        <p:nvSpPr>
          <p:cNvPr id="13" name="">
            <a:extLst xmlns:a="http://schemas.openxmlformats.org/drawingml/2006/main">
              <a:ext uri="{FF2B5EF4-FFF2-40B4-BE49-F238E27FC236}">
                <a16:creationId xmlns:a16="http://schemas.microsoft.com/office/drawing/2014/main" id="{C70E6729-AEFF-42FD-B2EE-CCAF26EE7435}"/>
              </a:ext>
            </a:extLst>
          </p:cNvPr>
          <p:cNvSpPr>
            <a:spLocks xmlns:a="http://schemas.openxmlformats.org/drawingml/2006/main" noGrp="1"/>
          </p:cNvSpPr>
          <p:nvPr/>
        </p:nvSpPr>
        <p:spPr>
          <a:xfrm xmlns:a="http://schemas.openxmlformats.org/drawingml/2006/main">
            <a:off x="609600" y="61245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0">
                <a:solidFill>
                  <a:srgbClr val="4E6370"/>
                </a:solidFill>
                <a:latin typeface="Arial"/>
                <a:ea typeface="Arial"/>
                <a:cs typeface="Arial"/>
              </a:defRPr>
            </a:defPPr>
          </a:lstStyle>
          <a:p xmlns:a="http://schemas.openxmlformats.org/drawingml/2006/main">
            <a:pPr algn="l">
              <a:defRPr sz="1875" b="0">
                <a:solidFill>
                  <a:srgbClr val="4E6370"/>
                </a:solidFill>
                <a:latin typeface="Arial"/>
                <a:ea typeface="Arial"/>
                <a:cs typeface="Arial"/>
              </a:defRPr>
            </a:pPr>
            <a:r>
              <a:rPr sz="1875" b="0">
                <a:solidFill>
                  <a:srgbClr val="4E6370"/>
                </a:solidFill>
                <a:latin typeface="Arial"/>
                <a:ea typeface="Arial"/>
                <a:cs typeface="Arial"/>
              </a:rPr>
              <a:t>Aleksandr: integration   Nikita: data   Leo: IQL</a:t>
            </a:r>
          </a:p>
          <a:p xmlns:a="http://schemas.openxmlformats.org/drawingml/2006/main">
            <a:pPr algn="l">
              <a:defRPr sz="1875" b="0">
                <a:solidFill>
                  <a:srgbClr val="4E6370"/>
                </a:solidFill>
                <a:latin typeface="Arial"/>
                <a:ea typeface="Arial"/>
                <a:cs typeface="Arial"/>
              </a:defRPr>
            </a:pPr>
            <a:r>
              <a:rPr sz="1875" b="0">
                <a:solidFill>
                  <a:srgbClr val="4E6370"/>
                </a:solidFill>
                <a:latin typeface="Arial"/>
                <a:ea typeface="Arial"/>
                <a:cs typeface="Arial"/>
              </a:rPr>
              <a:t>Ruslan: evaluation   Telman: notebook and presentation</a:t>
            </a:r>
          </a:p>
        </p:txBody>
      </p:sp>
    </p:spTree>
    <p:extLst>
      <p:ext uri="{BB962C8B-B14F-4D97-AF65-F5344CB8AC3E}">
        <p14:creationId xmlns:p14="http://schemas.microsoft.com/office/powerpoint/2010/main" val="200180751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AB3F808-CD25-4C15-ADB3-888F93B27668}"/>
              </a:ext>
            </a:extLst>
          </p:cNvPr>
          <p:cNvSpPr>
            <a:spLocks xmlns:a="http://schemas.openxmlformats.org/drawingml/2006/main" noGrp="1"/>
          </p:cNvSpPr>
          <p:nvPr/>
        </p:nvSpPr>
        <p:spPr>
          <a:xfrm xmlns:a="http://schemas.openxmlformats.org/drawingml/2006/main">
            <a:off x="609600" y="457200"/>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900" b="1">
                <a:solidFill>
                  <a:srgbClr val="112D3D"/>
                </a:solidFill>
                <a:latin typeface="Arial"/>
                <a:ea typeface="Arial"/>
                <a:cs typeface="Arial"/>
              </a:defRPr>
            </a:defPPr>
          </a:lstStyle>
          <a:p xmlns:a="http://schemas.openxmlformats.org/drawingml/2006/main">
            <a:pPr algn="l">
              <a:defRPr sz="3900" b="1">
                <a:solidFill>
                  <a:srgbClr val="112D3D"/>
                </a:solidFill>
                <a:latin typeface="Arial"/>
                <a:ea typeface="Arial"/>
                <a:cs typeface="Arial"/>
              </a:defRPr>
            </a:pPr>
            <a:r>
              <a:rPr sz="3900" b="1">
                <a:solidFill>
                  <a:srgbClr val="112D3D"/>
                </a:solidFill>
                <a:latin typeface="Arial"/>
                <a:ea typeface="Arial"/>
                <a:cs typeface="Arial"/>
              </a:rPr>
              <a:t>Learning curves and final test</a:t>
            </a:r>
          </a:p>
        </p:txBody>
      </p:sp>
      <p:graphicFrame>
        <p:nvGraphicFramePr>
          <p:cNvPr id="2" name="Chart">
            <a:extLst xmlns:a="http://schemas.openxmlformats.org/drawingml/2006/main">
              <a:ext uri="{FF2B5EF4-FFF2-40B4-BE49-F238E27FC236}">
                <a16:creationId xmlns:a16="http://schemas.microsoft.com/office/drawing/2014/main" id="{838991F1-5AF9-4982-9A43-F9D85D292F49}"/>
              </a:ext>
            </a:extLst>
          </p:cNvPr>
          <p:cNvGraphicFramePr/>
          <p:nvPr/>
        </p:nvGraphicFramePr>
        <p:xfrm>
          <a:off xmlns:a="http://schemas.openxmlformats.org/drawingml/2006/main" x="457200" y="1628775"/>
          <a:ext xmlns:a="http://schemas.openxmlformats.org/drawingml/2006/main" cx="7781925" cy="4295775"/>
        </p:xfrm>
        <a:graphic xmlns:a="http://schemas.openxmlformats.org/drawingml/2006/main">
          <a:graphicData uri="http://schemas.openxmlformats.org/drawingml/2006/chart">
            <c:chart xmlns:r="http://schemas.openxmlformats.org/officeDocument/2006/relationships" xmlns:c="http://schemas.openxmlformats.org/drawingml/2006/chart" r:id="R105683b933fa4c7e"/>
          </a:graphicData>
        </a:graphic>
      </p:graphicFrame>
      <p:sp>
        <p:nvSpPr>
          <p:cNvPr id="3" name="">
            <a:extLst xmlns:a="http://schemas.openxmlformats.org/drawingml/2006/main">
              <a:ext uri="{FF2B5EF4-FFF2-40B4-BE49-F238E27FC236}">
                <a16:creationId xmlns:a16="http://schemas.microsoft.com/office/drawing/2014/main" id="{C284B0CC-E3B1-4235-89F2-294A8B1906BD}"/>
              </a:ext>
            </a:extLst>
          </p:cNvPr>
          <p:cNvSpPr>
            <a:spLocks xmlns:a="http://schemas.openxmlformats.org/drawingml/2006/main" noGrp="1"/>
          </p:cNvSpPr>
          <p:nvPr/>
        </p:nvSpPr>
        <p:spPr>
          <a:xfrm xmlns:a="http://schemas.openxmlformats.org/drawingml/2006/main">
            <a:off x="8534400" y="1819275"/>
            <a:ext cx="304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5700" b="1">
                <a:solidFill>
                  <a:srgbClr val="007D7F"/>
                </a:solidFill>
                <a:latin typeface="Arial"/>
                <a:ea typeface="Arial"/>
                <a:cs typeface="Arial"/>
              </a:defRPr>
            </a:defPPr>
          </a:lstStyle>
          <a:p xmlns:a="http://schemas.openxmlformats.org/drawingml/2006/main">
            <a:pPr algn="l">
              <a:defRPr sz="5700" b="1">
                <a:solidFill>
                  <a:srgbClr val="007D7F"/>
                </a:solidFill>
                <a:latin typeface="Arial"/>
                <a:ea typeface="Arial"/>
                <a:cs typeface="Arial"/>
              </a:defRPr>
            </a:pPr>
            <a:r>
              <a:rPr sz="5700" b="1">
                <a:solidFill>
                  <a:srgbClr val="007D7F"/>
                </a:solidFill>
                <a:latin typeface="Arial"/>
                <a:ea typeface="Arial"/>
                <a:cs typeface="Arial"/>
              </a:rPr>
              <a:t>15,260</a:t>
            </a:r>
          </a:p>
        </p:txBody>
      </p:sp>
      <p:sp>
        <p:nvSpPr>
          <p:cNvPr id="4" name="">
            <a:extLst xmlns:a="http://schemas.openxmlformats.org/drawingml/2006/main">
              <a:ext uri="{FF2B5EF4-FFF2-40B4-BE49-F238E27FC236}">
                <a16:creationId xmlns:a16="http://schemas.microsoft.com/office/drawing/2014/main" id="{0ADCC4AD-7DC3-430E-9189-F12D97FC87C8}"/>
              </a:ext>
            </a:extLst>
          </p:cNvPr>
          <p:cNvSpPr>
            <a:spLocks xmlns:a="http://schemas.openxmlformats.org/drawingml/2006/main" noGrp="1"/>
          </p:cNvSpPr>
          <p:nvPr/>
        </p:nvSpPr>
        <p:spPr>
          <a:xfrm xmlns:a="http://schemas.openxmlformats.org/drawingml/2006/main">
            <a:off x="8534400" y="2857500"/>
            <a:ext cx="304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0">
                <a:solidFill>
                  <a:srgbClr val="112D3D"/>
                </a:solidFill>
                <a:latin typeface="Arial"/>
                <a:ea typeface="Arial"/>
                <a:cs typeface="Arial"/>
              </a:defRPr>
            </a:defPPr>
          </a:lstStyle>
          <a:p xmlns:a="http://schemas.openxmlformats.org/drawingml/2006/main">
            <a:pPr algn="l">
              <a:defRPr sz="2100" b="0">
                <a:solidFill>
                  <a:srgbClr val="112D3D"/>
                </a:solidFill>
                <a:latin typeface="Arial"/>
                <a:ea typeface="Arial"/>
                <a:cs typeface="Arial"/>
              </a:defRPr>
            </a:pPr>
            <a:r>
              <a:rPr sz="2100" b="0">
                <a:solidFill>
                  <a:srgbClr val="112D3D"/>
                </a:solidFill>
                <a:latin typeface="Arial"/>
                <a:ea typeface="Arial"/>
                <a:cs typeface="Arial"/>
              </a:rPr>
              <a:t>final-test mean, 500k</a:t>
            </a:r>
          </a:p>
        </p:txBody>
      </p:sp>
      <p:sp>
        <p:nvSpPr>
          <p:cNvPr id="5" name="">
            <a:extLst xmlns:a="http://schemas.openxmlformats.org/drawingml/2006/main">
              <a:ext uri="{FF2B5EF4-FFF2-40B4-BE49-F238E27FC236}">
                <a16:creationId xmlns:a16="http://schemas.microsoft.com/office/drawing/2014/main" id="{E2F9F45B-5F56-4AC0-A789-9C01E27F32D2}"/>
              </a:ext>
            </a:extLst>
          </p:cNvPr>
          <p:cNvSpPr>
            <a:spLocks xmlns:a="http://schemas.openxmlformats.org/drawingml/2006/main" noGrp="1"/>
          </p:cNvSpPr>
          <p:nvPr/>
        </p:nvSpPr>
        <p:spPr>
          <a:xfrm xmlns:a="http://schemas.openxmlformats.org/drawingml/2006/main">
            <a:off x="8534400" y="3524250"/>
            <a:ext cx="304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0">
                <a:solidFill>
                  <a:srgbClr val="4E6370"/>
                </a:solidFill>
                <a:latin typeface="Arial"/>
                <a:ea typeface="Arial"/>
                <a:cs typeface="Arial"/>
              </a:defRPr>
            </a:defPPr>
          </a:lstStyle>
          <a:p xmlns:a="http://schemas.openxmlformats.org/drawingml/2006/main">
            <a:pPr algn="l">
              <a:defRPr sz="2100" b="0">
                <a:solidFill>
                  <a:srgbClr val="4E6370"/>
                </a:solidFill>
                <a:latin typeface="Arial"/>
                <a:ea typeface="Arial"/>
                <a:cs typeface="Arial"/>
              </a:defRPr>
            </a:pPr>
            <a:r>
              <a:rPr sz="2100" b="0">
                <a:solidFill>
                  <a:srgbClr val="4E6370"/>
                </a:solidFill>
                <a:latin typeface="Arial"/>
                <a:ea typeface="Arial"/>
                <a:cs typeface="Arial"/>
              </a:rPr>
              <a:t>vs 2,026 at 100k</a:t>
            </a:r>
          </a:p>
        </p:txBody>
      </p:sp>
      <p:sp>
        <p:nvSpPr>
          <p:cNvPr id="6" name="">
            <a:extLst xmlns:a="http://schemas.openxmlformats.org/drawingml/2006/main">
              <a:ext uri="{FF2B5EF4-FFF2-40B4-BE49-F238E27FC236}">
                <a16:creationId xmlns:a16="http://schemas.microsoft.com/office/drawing/2014/main" id="{FE128A2C-CFF2-450B-8134-92871E8EE72E}"/>
              </a:ext>
            </a:extLst>
          </p:cNvPr>
          <p:cNvSpPr>
            <a:spLocks xmlns:a="http://schemas.openxmlformats.org/drawingml/2006/main" noGrp="1"/>
          </p:cNvSpPr>
          <p:nvPr/>
        </p:nvSpPr>
        <p:spPr>
          <a:xfrm xmlns:a="http://schemas.openxmlformats.org/drawingml/2006/main">
            <a:off x="8296275" y="4429125"/>
            <a:ext cx="32861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3375" b="1">
                <a:solidFill>
                  <a:srgbClr val="007D7F"/>
                </a:solidFill>
                <a:latin typeface="Arial"/>
                <a:ea typeface="Arial"/>
                <a:cs typeface="Arial"/>
              </a:defRPr>
            </a:defPPr>
          </a:lstStyle>
          <a:p xmlns:a="http://schemas.openxmlformats.org/drawingml/2006/main">
            <a:pPr algn="l">
              <a:defRPr sz="3375" b="1">
                <a:solidFill>
                  <a:srgbClr val="007D7F"/>
                </a:solidFill>
                <a:latin typeface="Arial"/>
                <a:ea typeface="Arial"/>
                <a:cs typeface="Arial"/>
              </a:defRPr>
            </a:pPr>
            <a:r>
              <a:rPr sz="3375" b="1">
                <a:solidFill>
                  <a:srgbClr val="007D7F"/>
                </a:solidFill>
                <a:latin typeface="Arial"/>
                <a:ea typeface="Arial"/>
                <a:cs typeface="Arial"/>
              </a:rPr>
              <a:t>10/10 → 0/10</a:t>
            </a:r>
          </a:p>
        </p:txBody>
      </p:sp>
      <p:sp>
        <p:nvSpPr>
          <p:cNvPr id="7" name="">
            <a:extLst xmlns:a="http://schemas.openxmlformats.org/drawingml/2006/main">
              <a:ext uri="{FF2B5EF4-FFF2-40B4-BE49-F238E27FC236}">
                <a16:creationId xmlns:a16="http://schemas.microsoft.com/office/drawing/2014/main" id="{736A76D5-BD4C-459E-AC8C-E09ED814651B}"/>
              </a:ext>
            </a:extLst>
          </p:cNvPr>
          <p:cNvSpPr>
            <a:spLocks xmlns:a="http://schemas.openxmlformats.org/drawingml/2006/main" noGrp="1"/>
          </p:cNvSpPr>
          <p:nvPr/>
        </p:nvSpPr>
        <p:spPr>
          <a:xfrm xmlns:a="http://schemas.openxmlformats.org/drawingml/2006/main">
            <a:off x="8534400" y="5086350"/>
            <a:ext cx="304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2100" b="0">
                <a:solidFill>
                  <a:srgbClr val="112D3D"/>
                </a:solidFill>
                <a:latin typeface="Arial"/>
                <a:ea typeface="Arial"/>
                <a:cs typeface="Arial"/>
              </a:defRPr>
            </a:defPPr>
          </a:lstStyle>
          <a:p xmlns:a="http://schemas.openxmlformats.org/drawingml/2006/main">
            <a:pPr algn="l">
              <a:defRPr sz="2100" b="0">
                <a:solidFill>
                  <a:srgbClr val="112D3D"/>
                </a:solidFill>
                <a:latin typeface="Arial"/>
                <a:ea typeface="Arial"/>
                <a:cs typeface="Arial"/>
              </a:defRPr>
            </a:pPr>
            <a:r>
              <a:rPr sz="2100" b="0">
                <a:solidFill>
                  <a:srgbClr val="112D3D"/>
                </a:solidFill>
                <a:latin typeface="Arial"/>
                <a:ea typeface="Arial"/>
                <a:cs typeface="Arial"/>
              </a:rPr>
              <a:t>episodes with long</a:t>
            </a:r>
          </a:p>
          <a:p xmlns:a="http://schemas.openxmlformats.org/drawingml/2006/main">
            <a:pPr algn="l">
              <a:defRPr sz="2100" b="0">
                <a:solidFill>
                  <a:srgbClr val="112D3D"/>
                </a:solidFill>
                <a:latin typeface="Arial"/>
                <a:ea typeface="Arial"/>
                <a:cs typeface="Arial"/>
              </a:defRPr>
            </a:pPr>
            <a:r>
              <a:rPr sz="2100" b="0">
                <a:solidFill>
                  <a:srgbClr val="112D3D"/>
                </a:solidFill>
                <a:latin typeface="Arial"/>
                <a:ea typeface="Arial"/>
                <a:cs typeface="Arial"/>
              </a:rPr>
              <a:t>stationary tails</a:t>
            </a:r>
          </a:p>
        </p:txBody>
      </p:sp>
      <p:sp>
        <p:nvSpPr>
          <p:cNvPr id="8" name="">
            <a:extLst xmlns:a="http://schemas.openxmlformats.org/drawingml/2006/main">
              <a:ext uri="{FF2B5EF4-FFF2-40B4-BE49-F238E27FC236}">
                <a16:creationId xmlns:a16="http://schemas.microsoft.com/office/drawing/2014/main" id="{EA4644F8-3AF7-4DB3-8984-D9AAF03B5E23}"/>
              </a:ext>
            </a:extLst>
          </p:cNvPr>
          <p:cNvSpPr>
            <a:spLocks xmlns:a="http://schemas.openxmlformats.org/drawingml/2006/main" noGrp="1"/>
          </p:cNvSpPr>
          <p:nvPr/>
        </p:nvSpPr>
        <p:spPr>
          <a:xfrm xmlns:a="http://schemas.openxmlformats.org/drawingml/2006/main">
            <a:off x="609600" y="6134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0">
                <a:solidFill>
                  <a:srgbClr val="4E6370"/>
                </a:solidFill>
                <a:latin typeface="Arial"/>
                <a:ea typeface="Arial"/>
                <a:cs typeface="Arial"/>
              </a:defRPr>
            </a:defPPr>
          </a:lstStyle>
          <a:p xmlns:a="http://schemas.openxmlformats.org/drawingml/2006/main">
            <a:pPr algn="l">
              <a:defRPr sz="1875" b="0">
                <a:solidFill>
                  <a:srgbClr val="4E6370"/>
                </a:solidFill>
                <a:latin typeface="Arial"/>
                <a:ea typeface="Arial"/>
                <a:cs typeface="Arial"/>
              </a:defRPr>
            </a:pPr>
            <a:r>
              <a:rPr sz="1875" b="0">
                <a:solidFill>
                  <a:srgbClr val="4E6370"/>
                </a:solidFill>
                <a:latin typeface="Arial"/>
                <a:ea typeface="Arial"/>
                <a:cs typeface="Arial"/>
              </a:rPr>
              <a:t>Means only, 10 episodes per point. Final test: seed 1, 10 new episodes.</a:t>
            </a:r>
          </a:p>
        </p:txBody>
      </p:sp>
      <p:sp>
        <p:nvSpPr>
          <p:cNvPr id="9" name="">
            <a:extLst xmlns:a="http://schemas.openxmlformats.org/drawingml/2006/main">
              <a:ext uri="{FF2B5EF4-FFF2-40B4-BE49-F238E27FC236}">
                <a16:creationId xmlns:a16="http://schemas.microsoft.com/office/drawing/2014/main" id="{85D3CFEC-3B15-48AC-A9D5-7E6C982324A9}"/>
              </a:ext>
            </a:extLst>
          </p:cNvPr>
          <p:cNvSpPr>
            <a:spLocks xmlns:a="http://schemas.openxmlformats.org/drawingml/2006/main" noGrp="1"/>
          </p:cNvSpPr>
          <p:nvPr/>
        </p:nvSpPr>
        <p:spPr>
          <a:xfrm xmlns:a="http://schemas.openxmlformats.org/drawingml/2006/main">
            <a:off x="609600" y="6486525"/>
            <a:ext cx="10572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lgn="l">
              <a:defRPr sz="1875" b="1">
                <a:solidFill>
                  <a:srgbClr val="CB650E"/>
                </a:solidFill>
                <a:latin typeface="Arial"/>
                <a:ea typeface="Arial"/>
                <a:cs typeface="Arial"/>
              </a:defRPr>
            </a:defPPr>
          </a:lstStyle>
          <a:p xmlns:a="http://schemas.openxmlformats.org/drawingml/2006/main">
            <a:pPr algn="l">
              <a:defRPr sz="1875" b="1">
                <a:solidFill>
                  <a:srgbClr val="CB650E"/>
                </a:solidFill>
                <a:latin typeface="Arial"/>
                <a:ea typeface="Arial"/>
                <a:cs typeface="Arial"/>
              </a:defRPr>
            </a:pPr>
            <a:r>
              <a:rPr sz="1875" b="1">
                <a:solidFill>
                  <a:srgbClr val="CB650E"/>
                </a:solidFill>
                <a:latin typeface="Arial"/>
                <a:ea typeface="Arial"/>
                <a:cs typeface="Arial"/>
              </a:rPr>
              <a:t>Other training seeds still fail</a:t>
            </a:r>
          </a:p>
        </p:txBody>
      </p:sp>
    </p:spTree>
    <p:extLst>
      <p:ext uri="{BB962C8B-B14F-4D97-AF65-F5344CB8AC3E}">
        <p14:creationId xmlns:p14="http://schemas.microsoft.com/office/powerpoint/2010/main" val="16520615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2026-10-12T19:25:20.8760000Z</dcterms:created>
  <dcterms:modified xsi:type="dcterms:W3CDTF">2026-10-12T19:25:20.8760000Z</dcterms:modified>
</coreProperties>
</file>