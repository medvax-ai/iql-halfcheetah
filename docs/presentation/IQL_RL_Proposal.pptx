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83be93cc704e61" /><Relationship Type="http://schemas.openxmlformats.org/officeDocument/2006/relationships/extended-properties" Target="/docProps/app.xml" Id="R60da20b680084e9f" /><Relationship Type="http://schemas.openxmlformats.org/officeDocument/2006/relationships/officeDocument" Target="/ppt/presentation.xml" Id="Rfdbd71937ae047ad" /></Relationships>
</file>

<file path=ppt/presentation.xml><?xml version="1.0" encoding="utf-8"?>
<p:presentation xmlns:p="http://schemas.openxmlformats.org/presentationml/2006/main">
  <p:sldMasterIdLst>
    <p:sldMasterId xmlns:r="http://schemas.openxmlformats.org/officeDocument/2006/relationships" id="2147483648" r:id="Rba515cbe0acf4e56"/>
  </p:sldMasterIdLst>
  <p:notesMasterIdLst>
    <p:notesMasterId xmlns:r="http://schemas.openxmlformats.org/officeDocument/2006/relationships" r:id="R5bdf1e86373146f0"/>
  </p:notesMasterIdLst>
  <p:sldIdLst>
    <p:sldId xmlns:r="http://schemas.openxmlformats.org/officeDocument/2006/relationships" id="256" r:id="Rdba01c958dbe4135"/>
    <p:sldId xmlns:r="http://schemas.openxmlformats.org/officeDocument/2006/relationships" id="257" r:id="R629de5d968914e68"/>
    <p:sldId xmlns:r="http://schemas.openxmlformats.org/officeDocument/2006/relationships" id="258" r:id="R2409ed47c01e4820"/>
    <p:sldId xmlns:r="http://schemas.openxmlformats.org/officeDocument/2006/relationships" id="259" r:id="Rf89d6572a84e495f"/>
    <p:sldId xmlns:r="http://schemas.openxmlformats.org/officeDocument/2006/relationships" id="260" r:id="R19f224e067e34014"/>
    <p:sldId xmlns:r="http://schemas.openxmlformats.org/officeDocument/2006/relationships" id="261" r:id="Rf9e19913c0c94e9f"/>
    <p:sldId xmlns:r="http://schemas.openxmlformats.org/officeDocument/2006/relationships" id="262" r:id="R9dd19732201843d6"/>
    <p:sldId xmlns:r="http://schemas.openxmlformats.org/officeDocument/2006/relationships" id="263" r:id="R55b5448a520d48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e6f2b41b3d4b55" /><Relationship Type="http://schemas.openxmlformats.org/officeDocument/2006/relationships/slideMaster" Target="/ppt/slideMasters/slideMaster1.xml" Id="Rba515cbe0acf4e56" /><Relationship Type="http://schemas.openxmlformats.org/officeDocument/2006/relationships/notesMaster" Target="/ppt/notesMasters/notesMaster1.xml" Id="R5bdf1e86373146f0" /><Relationship Type="http://schemas.openxmlformats.org/officeDocument/2006/relationships/presProps" Target="/ppt/presProps.xml" Id="R03b533b62ac94dea" /><Relationship Type="http://schemas.openxmlformats.org/officeDocument/2006/relationships/tableStyles" Target="/ppt/tableStyles.xml" Id="Rdab81b72be9c4b02" /><Relationship Type="http://schemas.openxmlformats.org/officeDocument/2006/relationships/slide" Target="/ppt/slides/slide1.xml" Id="Rdba01c958dbe4135" /><Relationship Type="http://schemas.openxmlformats.org/officeDocument/2006/relationships/slide" Target="/ppt/slides/slide2.xml" Id="R629de5d968914e68" /><Relationship Type="http://schemas.openxmlformats.org/officeDocument/2006/relationships/slide" Target="/ppt/slides/slide3.xml" Id="R2409ed47c01e4820" /><Relationship Type="http://schemas.openxmlformats.org/officeDocument/2006/relationships/slide" Target="/ppt/slides/slide4.xml" Id="Rf89d6572a84e495f" /><Relationship Type="http://schemas.openxmlformats.org/officeDocument/2006/relationships/slide" Target="/ppt/slides/slide5.xml" Id="R19f224e067e34014" /><Relationship Type="http://schemas.openxmlformats.org/officeDocument/2006/relationships/slide" Target="/ppt/slides/slide6.xml" Id="Rf9e19913c0c94e9f" /><Relationship Type="http://schemas.openxmlformats.org/officeDocument/2006/relationships/slide" Target="/ppt/slides/slide7.xml" Id="R9dd19732201843d6" /><Relationship Type="http://schemas.openxmlformats.org/officeDocument/2006/relationships/slide" Target="/ppt/slides/slide8.xml" Id="R55b5448a520d48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24af0900804b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18fe0be29e4d4a" /><Relationship Type="http://schemas.openxmlformats.org/officeDocument/2006/relationships/notesMaster" Target="/ppt/notesMasters/notesMaster1.xml" Id="R2a8c8a4349f042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8dd988c5ab42e2" /><Relationship Type="http://schemas.openxmlformats.org/officeDocument/2006/relationships/notesMaster" Target="/ppt/notesMasters/notesMaster1.xml" Id="R44fcbf065ef1427e"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89c870bec14f77" /><Relationship Type="http://schemas.openxmlformats.org/officeDocument/2006/relationships/notesMaster" Target="/ppt/notesMasters/notesMaster1.xml" Id="R7e2079c28dc94a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12c9fedb12546ae" /><Relationship Type="http://schemas.openxmlformats.org/officeDocument/2006/relationships/notesMaster" Target="/ppt/notesMasters/notesMaster1.xml" Id="R79d050e57bd94d0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e184f77cea4531" /><Relationship Type="http://schemas.openxmlformats.org/officeDocument/2006/relationships/notesMaster" Target="/ppt/notesMasters/notesMaster1.xml" Id="Re6a960c0b03345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02be3c8e1214f5d" /><Relationship Type="http://schemas.openxmlformats.org/officeDocument/2006/relationships/notesMaster" Target="/ppt/notesMasters/notesMaster1.xml" Id="Rd9b5819bbab843d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6928f4944ef4453" /><Relationship Type="http://schemas.openxmlformats.org/officeDocument/2006/relationships/notesMaster" Target="/ppt/notesMasters/notesMaster1.xml" Id="Rc26f0db605c042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ad788d2b2b4064" /><Relationship Type="http://schemas.openxmlformats.org/officeDocument/2006/relationships/notesMaster" Target="/ppt/notesMasters/notesMaster1.xml" Id="R323cd3f51abd44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20 seconds. Suggested speaker: Aleksandr Medvedev.</a:t>
            </a:r>
          </a:p>
          <a:p xmlns:a="http://schemas.openxmlformats.org/drawingml/2006/main">
            <a:r>
              <a:t/>
            </a:r>
          </a:p>
          <a:p xmlns:a="http://schemas.openxmlformats.org/drawingml/2006/main">
            <a:r>
              <a:t>Show the title slide in full-screen presentation mode. Keep it visible while introducing the project and team.</a:t>
            </a:r>
          </a:p>
          <a:p xmlns:a="http://schemas.openxmlformats.org/drawingml/2006/main">
            <a:r>
              <a:t/>
            </a:r>
          </a:p>
          <a:p xmlns:a="http://schemas.openxmlformats.org/drawingml/2006/main">
            <a:r>
              <a:t>Hello. We are presenting our reinforcement learning project proposal: Implicit Q-Learning on HalfCheetah. Our team is Aleksandr Medvedev, Nikita Shankin, Leo Vesin, Ruslan Nasibullin, and Telman Nuruzov. We will explain the algorithm, describe the environment, and show why this combination fits our project.</a:t>
            </a:r>
          </a:p>
          <a:p xmlns:a="http://schemas.openxmlformats.org/drawingml/2006/main">
            <a:r>
              <a:t/>
            </a:r>
          </a:p>
          <a:p xmlns:a="http://schemas.openxmlformats.org/drawingml/2006/main">
            <a:r>
              <a:t>Sources:</a:t>
            </a:r>
          </a:p>
          <a:p xmlns:a="http://schemas.openxmlformats.org/drawingml/2006/main">
            <a:r>
              <a:t>https://github.com/MedvAx-AI/iql-halfcheetah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45 seconds. Suggested speaker: Leo Vesin.</a:t>
            </a:r>
          </a:p>
          <a:p xmlns:a="http://schemas.openxmlformats.org/drawingml/2006/main">
            <a:r>
              <a:t/>
            </a:r>
          </a:p>
          <a:p xmlns:a="http://schemas.openxmlformats.org/drawingml/2006/main">
            <a:r>
              <a:t>Show slide 2. Point to Classification, then Training data, then Main idea. Explain offline training versus simulator evaluation.</a:t>
            </a:r>
          </a:p>
          <a:p xmlns:a="http://schemas.openxmlformats.org/drawingml/2006/main">
            <a:r>
              <a:t/>
            </a:r>
          </a:p>
          <a:p xmlns:a="http://schemas.openxmlformats.org/drawingml/2006/main">
            <a:r>
              <a:t>Our assigned algorithm is Implicit Q-Learning, usually called IQL. It is an offline, model-free actor-critic method. Offline means that training uses a fixed collection of recorded transitions rather than collecting new actions from the simulator. Each transition includes an observation, an action, a reward, the next observation, and episode flags. The critic estimates how useful actions are. The actor learns a continuous control policy from those recorded actions. IQL first learns state values that emphasize better actions present in the dataset. It then gives actions with higher estimated advantage more influence during policy training. We use simulator interactions to evaluate the learned policy, while keeping training itself offline.</a:t>
            </a:r>
          </a:p>
          <a:p xmlns:a="http://schemas.openxmlformats.org/drawingml/2006/main">
            <a:r>
              <a:t/>
            </a:r>
          </a:p>
          <a:p xmlns:a="http://schemas.openxmlformats.org/drawingml/2006/main">
            <a:r>
              <a:t>Sources:</a:t>
            </a:r>
          </a:p>
          <a:p xmlns:a="http://schemas.openxmlformats.org/drawingml/2006/main">
            <a:r>
              <a:t>https://arxiv.org/abs/2110.06169</a:t>
            </a:r>
          </a:p>
          <a:p xmlns:a="http://schemas.openxmlformats.org/drawingml/2006/main">
            <a:r>
              <a:t>https://github.com/ikostrikov/implicit_q_learning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 Suggested speaker: Leo Vesin.</a:t>
            </a:r>
          </a:p>
          <a:p xmlns:a="http://schemas.openxmlformats.org/drawingml/2006/main">
            <a:r>
              <a:t/>
            </a:r>
          </a:p>
          <a:p xmlns:a="http://schemas.openxmlformats.org/drawingml/2006/main">
            <a:r>
              <a:t>Show slide 3. Follow the four rows from top to bottom. Explain the equations in words; do not read every symbol.</a:t>
            </a:r>
          </a:p>
          <a:p xmlns:a="http://schemas.openxmlformats.org/drawingml/2006/main">
            <a:r>
              <a:t/>
            </a:r>
          </a:p>
          <a:p xmlns:a="http://schemas.openxmlformats.org/drawingml/2006/main">
            <a:r>
              <a:t>The implementation has a state-value network, two Q networks, and a policy network. The value network uses expectile regression. With an expectile of zero point seven, positive errors receive more weight, so the value estimate favors stronger actions in the dataset. The Q networks learn from the recorded reward plus the discounted value of the next state. We use a discount of zero point nine nine and the minimum of the target critics when estimating advantage. The policy then maximizes the likelihood of recorded actions, weighted by the exponential of three times their advantage, capped at one hundred. Three is our inverse-temperature setting. A tanh-squashed Gaussian keeps actions within the environment bounds. These updates avoid an explicit maximization over unseen actions in the value backup, although limited dataset coverage remains a challenge.</a:t>
            </a:r>
          </a:p>
          <a:p xmlns:a="http://schemas.openxmlformats.org/drawingml/2006/main">
            <a:r>
              <a:t/>
            </a:r>
          </a:p>
          <a:p xmlns:a="http://schemas.openxmlformats.org/drawingml/2006/main">
            <a:r>
              <a:t>Sources:</a:t>
            </a:r>
          </a:p>
          <a:p xmlns:a="http://schemas.openxmlformats.org/drawingml/2006/main">
            <a:r>
              <a:t>https://arxiv.org/abs/2110.06169</a:t>
            </a:r>
          </a:p>
          <a:p xmlns:a="http://schemas.openxmlformats.org/drawingml/2006/main">
            <a:r>
              <a:t>https://github.com/MedvAx-AI/iql-halfcheetah/blob/c372ec0423b81839956ec00dd7338700db8d3737/src/iql_project/iql.py</a:t>
            </a:r>
          </a:p>
          <a:p xmlns:a="http://schemas.openxmlformats.org/drawingml/2006/main">
            <a:r>
              <a:t>https://github.com/MedvAx-AI/iql-halfcheetah/blob/c372ec0423b81839956ec00dd7338700db8d3737/configs/halfcheetah.toml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65 seconds. Suggested speaker: Nikita Shankin.</a:t>
            </a:r>
          </a:p>
          <a:p xmlns:a="http://schemas.openxmlformats.org/drawingml/2006/main">
            <a:r>
              <a:t/>
            </a:r>
          </a:p>
          <a:p xmlns:a="http://schemas.openxmlformats.org/drawingml/2006/main">
            <a:r>
              <a:t>Show slide 4. Point to the robot, then the 17-value observation and 6-value action descriptions. The image is sufficient; no live notebook run is needed.</a:t>
            </a:r>
          </a:p>
          <a:p xmlns:a="http://schemas.openxmlformats.org/drawingml/2006/main">
            <a:r>
              <a:t/>
            </a:r>
          </a:p>
          <a:p xmlns:a="http://schemas.openxmlformats.org/drawingml/2006/main">
            <a:r>
              <a:t>We selected HalfCheetah version five, a two-dimensional locomotion environment implemented in Gymnasium with MuJoCo physics. The image shows the actual environment from our project. The agent controls the robot's front and back legs and tries to move forward. Its observation is a vector of seventeen values. Eight describe positions or angles, including body height, body orientation, and leg joint angles. The other nine describe velocities. The default observation excludes absolute horizontal position, which encourages a policy that can run from different locations. The action is a vector of six continuous torque controls for the front and back thigh, shin, and foot joints. Each component is bounded between minus one and one. This is a continuous-control problem: at every step, the policy must coordinate the joints using the current pose and motion, rather than choose from a small set of discrete moves.</a:t>
            </a:r>
          </a:p>
          <a:p xmlns:a="http://schemas.openxmlformats.org/drawingml/2006/main">
            <a:r>
              <a:t/>
            </a:r>
          </a:p>
          <a:p xmlns:a="http://schemas.openxmlformats.org/drawingml/2006/main">
            <a:r>
              <a:t>Sources:</a:t>
            </a:r>
          </a:p>
          <a:p xmlns:a="http://schemas.openxmlformats.org/drawingml/2006/main">
            <a:r>
              <a:t>https://gymnasium.farama.org/environments/mujoco/half_cheetah/</a:t>
            </a:r>
          </a:p>
          <a:p xmlns:a="http://schemas.openxmlformats.org/drawingml/2006/main">
            <a:r>
              <a:t>Image: project rollout, seed 1, 500k checkpoint, evaluation seed 10000, frame at 10 seconds. https://github.com/MedvAx-AI/iql-halfcheetah/releases/tag/policy-continuation-experiment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55 seconds. Suggested speaker: Nikita Shankin.</a:t>
            </a:r>
          </a:p>
          <a:p xmlns:a="http://schemas.openxmlformats.org/drawingml/2006/main">
            <a:r>
              <a:t/>
            </a:r>
          </a:p>
          <a:p xmlns:a="http://schemas.openxmlformats.org/drawingml/2006/main">
            <a:r>
              <a:t>Show slide 5. Point to the reward first, then Episode ending. Explicitly say that falling does not end HalfCheetah.</a:t>
            </a:r>
          </a:p>
          <a:p xmlns:a="http://schemas.openxmlformats.org/drawingml/2006/main">
            <a:r>
              <a:t/>
            </a:r>
          </a:p>
          <a:p xmlns:a="http://schemas.openxmlformats.org/drawingml/2006/main">
            <a:r>
              <a:t>The reward combines forward progress with an effort penalty. With the default settings, it equals horizontal forward velocity minus zero point one times the sum of squared action components. Running forward increases reward, while unnecessarily large torques reduce it. The agent should learn a coordinated gait that sustains speed efficiently throughout the episode. HalfCheetah has an important episode rule: a fall does not naturally terminate the task. The standard environment continues until the time limit of one thousand control steps, which corresponds to about fifty simulated seconds. Therefore, a policy can fall and remain on the ground for the rest of the rollout. We assess the complete episode, including that behavior. In our training targets, a time-limit truncation preserves the next-state value term. Only a true termination would remove that bootstrap term. This distinction keeps the learning target consistent with the task.</a:t>
            </a:r>
          </a:p>
          <a:p xmlns:a="http://schemas.openxmlformats.org/drawingml/2006/main">
            <a:r>
              <a:t/>
            </a:r>
          </a:p>
          <a:p xmlns:a="http://schemas.openxmlformats.org/drawingml/2006/main">
            <a:r>
              <a:t>Sources:</a:t>
            </a:r>
          </a:p>
          <a:p xmlns:a="http://schemas.openxmlformats.org/drawingml/2006/main">
            <a:r>
              <a:t>https://gymnasium.farama.org/environments/mujoco/half_cheetah/</a:t>
            </a:r>
          </a:p>
          <a:p xmlns:a="http://schemas.openxmlformats.org/drawingml/2006/main">
            <a:r>
              <a:t>https://github.com/MedvAx-AI/iql-halfcheetah/blob/c372ec0423b81839956ec00dd7338700db8d3737/src/iql_project/iql.py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40 seconds. Suggested speaker: Ruslan Nasibullin.</a:t>
            </a:r>
          </a:p>
          <a:p xmlns:a="http://schemas.openxmlformats.org/drawingml/2006/main">
            <a:r>
              <a:t/>
            </a:r>
          </a:p>
          <a:p xmlns:a="http://schemas.openxmlformats.org/drawingml/2006/main">
            <a:r>
              <a:t>Show slide 6. Explain the fixed dataset, planned budget and repeatable evaluation. Do not switch to Colab or wait for training.</a:t>
            </a:r>
          </a:p>
          <a:p xmlns:a="http://schemas.openxmlformats.org/drawingml/2006/main">
            <a:r>
              <a:t/>
            </a:r>
          </a:p>
          <a:p xmlns:a="http://schemas.openxmlformats.org/drawingml/2006/main">
            <a:r>
              <a:t>For offline training, we use Minari's HalfCheetah medium dataset. It contains one thousand episodes and one million transitions. Its recorded continuous actions and observations match the chosen task. Our project protocol uses five hundred thousand offline updates for each of three training seeds, with batches of two hundred fifty-six transitions. We evaluate intermediate checkpoints over ten episodes per run and compare raw episodic return with a uniform random policy. We report variation across episodes separately from variation across training seeds. Checkpoint selection and final testing use separate episode seeds. We also keep full rollouts and match the dataset environment with MuJoCo version three point two point three.</a:t>
            </a:r>
          </a:p>
          <a:p xmlns:a="http://schemas.openxmlformats.org/drawingml/2006/main">
            <a:r>
              <a:t/>
            </a:r>
          </a:p>
          <a:p xmlns:a="http://schemas.openxmlformats.org/drawingml/2006/main">
            <a:r>
              <a:t>Sources:</a:t>
            </a:r>
          </a:p>
          <a:p xmlns:a="http://schemas.openxmlformats.org/drawingml/2006/main">
            <a:r>
              <a:t>https://minari.farama.org/datasets/mujoco/halfcheetah/medium-v0/</a:t>
            </a:r>
          </a:p>
          <a:p xmlns:a="http://schemas.openxmlformats.org/drawingml/2006/main">
            <a:r>
              <a:t>https://github.com/MedvAx-AI/iql-halfcheetah/blob/c372ec0423b81839956ec00dd7338700db8d3737/docs/POLICY_CONTINUATION.md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 Suggested speaker: Telman Nuruzov.</a:t>
            </a:r>
          </a:p>
          <a:p xmlns:a="http://schemas.openxmlformats.org/drawingml/2006/main">
            <a:r>
              <a:t/>
            </a:r>
          </a:p>
          <a:p xmlns:a="http://schemas.openxmlformats.org/drawingml/2006/main">
            <a:r>
              <a:t>Show slide 7. Connect each reason to the algorithm or environment. Emphasize that better performance must be measured.</a:t>
            </a:r>
          </a:p>
          <a:p xmlns:a="http://schemas.openxmlformats.org/drawingml/2006/main">
            <a:r>
              <a:t/>
            </a:r>
          </a:p>
          <a:p xmlns:a="http://schemas.openxmlformats.org/drawingml/2006/main">
            <a:r>
              <a:t>We chose this environment because it gives IQL a concrete and measurable continuous-control task. The policy can directly represent the bounded torques needed by the robot, so we do not need to discretize the action space. A ready-made offline dataset makes the project feasible without an additional data-collection stage. It contains recorded locomotion behavior from which IQL can learn state values and action advantages. The advantage weights let stronger recorded actions influence the learned policy more heavily. This creates a useful research question: can the resulting policy improve on the recorded behavior while remaining reliable across episodes? Improvement is an empirical hypothesis, not a guarantee. HalfCheetah also provides numerical returns and clear visual behavior. These let us compare policies quantitatively and inspect whether the robot maintains a useful gait throughout a full rollout.</a:t>
            </a:r>
          </a:p>
          <a:p xmlns:a="http://schemas.openxmlformats.org/drawingml/2006/main">
            <a:r>
              <a:t/>
            </a:r>
          </a:p>
          <a:p xmlns:a="http://schemas.openxmlformats.org/drawingml/2006/main">
            <a:r>
              <a:t>Sources:</a:t>
            </a:r>
          </a:p>
          <a:p xmlns:a="http://schemas.openxmlformats.org/drawingml/2006/main">
            <a:r>
              <a:t>https://arxiv.org/abs/2110.06169</a:t>
            </a:r>
          </a:p>
          <a:p xmlns:a="http://schemas.openxmlformats.org/drawingml/2006/main">
            <a:r>
              <a:t>https://minari.farama.org/datasets/mujoco/halfcheetah/medium-v0/</a:t>
            </a:r>
          </a:p>
          <a:p xmlns:a="http://schemas.openxmlformats.org/drawingml/2006/main">
            <a:r>
              <a:t>https://gymnasium.farama.org/environments/mujoco/half_cheetah/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time: 50 seconds. Suggested speaker: Aleksandr Medvedev.</a:t>
            </a:r>
          </a:p>
          <a:p xmlns:a="http://schemas.openxmlformats.org/drawingml/2006/main">
            <a:r>
              <a:t/>
            </a:r>
          </a:p>
          <a:p xmlns:a="http://schemas.openxmlformats.org/drawingml/2006/main">
            <a:r>
              <a:t>Show slide 8. Explain the challenges, name the responsibility owners, and finish. Leave the slide visible briefly before stopping the recording.</a:t>
            </a:r>
          </a:p>
          <a:p xmlns:a="http://schemas.openxmlformats.org/drawingml/2006/main">
            <a:r>
              <a:t/>
            </a:r>
          </a:p>
          <a:p xmlns:a="http://schemas.openxmlformats.org/drawingml/2006/main">
            <a:r>
              <a:t>The main challenges are limited dataset coverage and variation between trained policies. A high average return can hide occasional falls, so our final evaluation includes multiple seeds and complete videos. Physics versions can also change a rollout, which is why we pin the environment dependencies and document evaluation settings. Our final-project workflow is to validate the dataset, train IQL, compare checkpoints on selection episodes, and test the selected policy on separate final episodes. Aleksandr handles integration and reproducibility. Nikita owns the environment and dataset. Leo owns IQL. Ruslan owns evaluation, and Telman owns the notebook and presentation. The shared deliverables are a reproducible Colab, saved checkpoints, evaluation plots, and a complete policy demonstration. This proposal establishes our algorithm, task, and evaluation approach. Thank you.</a:t>
            </a:r>
          </a:p>
          <a:p xmlns:a="http://schemas.openxmlformats.org/drawingml/2006/main">
            <a:r>
              <a:t/>
            </a:r>
          </a:p>
          <a:p xmlns:a="http://schemas.openxmlformats.org/drawingml/2006/main">
            <a:r>
              <a:t>Sources:</a:t>
            </a:r>
          </a:p>
          <a:p xmlns:a="http://schemas.openxmlformats.org/drawingml/2006/main">
            <a:r>
              <a:t>https://github.com/MedvAx-AI/iql-halfcheetah</a:t>
            </a:r>
          </a:p>
          <a:p xmlns:a="http://schemas.openxmlformats.org/drawingml/2006/main">
            <a:r>
              <a:t>https://github.com/MedvAx-AI/iql-halfcheetah/blob/c372ec0423b81839956ec00dd7338700db8d3737/docs/POLICY_CONTINUATION.md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a6edefc88c41b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023613e652547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e7ae4e9ed7843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da16f262ba4b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71a2f2d86fb46f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8b51d42ce64a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6AD9C8-799B-4EFE-9B01-CE797F7CDCD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36B7830-0EF8-468E-AE6D-A5AF7FEE0AA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DFCB1-B136-4DDE-BE4B-0F8CE09E511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E9EB56-EE31-4A30-B8F7-80AE766F56F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CF11202-0E79-407E-BE78-C34D98493D9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4BA688B-F711-414C-8C92-421891B6C0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BFB0A56-38A2-4816-82E4-5512220711B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F90974-7F89-443B-8EFE-0223AF7666B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9F6203-3E3C-4714-B6C0-AA4097CA36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0CD6BB-5B8A-445D-8DCF-7B6AA144335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eac84b58be40d8" /><Relationship Type="http://schemas.openxmlformats.org/officeDocument/2006/relationships/slideLayout" Target="/ppt/slideLayouts/slideLayout1.xml" Id="Rd045dfeace0b4c4b" /><Relationship Type="http://schemas.openxmlformats.org/officeDocument/2006/relationships/slideLayout" Target="/ppt/slideLayouts/slideLayout2.xml" Id="Rfd68162d5d964abd" /><Relationship Type="http://schemas.openxmlformats.org/officeDocument/2006/relationships/slideLayout" Target="/ppt/slideLayouts/slideLayout3.xml" Id="R0f70949dd62740fc" /><Relationship Type="http://schemas.openxmlformats.org/officeDocument/2006/relationships/slideLayout" Target="/ppt/slideLayouts/slideLayout4.xml" Id="R4d2c49b581d4465b" /><Relationship Type="http://schemas.openxmlformats.org/officeDocument/2006/relationships/slideLayout" Target="/ppt/slideLayouts/slideLayout5.xml" Id="R910ab27117dd44c5" /><Relationship Type="http://schemas.openxmlformats.org/officeDocument/2006/relationships/slideLayout" Target="/ppt/slideLayouts/slideLayout6.xml" Id="R116f8ec27d88458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45dfeace0b4c4b"/>
    <p:sldLayoutId xmlns:r="http://schemas.openxmlformats.org/officeDocument/2006/relationships" id="2147483650" r:id="Rfd68162d5d964abd"/>
    <p:sldLayoutId xmlns:r="http://schemas.openxmlformats.org/officeDocument/2006/relationships" id="2147483651" r:id="R0f70949dd62740fc"/>
    <p:sldLayoutId xmlns:r="http://schemas.openxmlformats.org/officeDocument/2006/relationships" id="2147483652" r:id="R4d2c49b581d4465b"/>
    <p:sldLayoutId xmlns:r="http://schemas.openxmlformats.org/officeDocument/2006/relationships" id="2147483653" r:id="R910ab27117dd44c5"/>
    <p:sldLayoutId xmlns:r="http://schemas.openxmlformats.org/officeDocument/2006/relationships" id="2147483654" r:id="R116f8ec27d88458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e0ca90eba44ca4" /><Relationship Type="http://schemas.openxmlformats.org/officeDocument/2006/relationships/notesSlide" Target="/ppt/notesSlides/notesSlide1.xml" Id="R8c457105d6ff41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2ac11647aed4225" /><Relationship Type="http://schemas.openxmlformats.org/officeDocument/2006/relationships/notesSlide" Target="/ppt/notesSlides/notesSlide2.xml" Id="R390468b0cbb14e8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d6e34eb26d74a0e" /><Relationship Type="http://schemas.openxmlformats.org/officeDocument/2006/relationships/notesSlide" Target="/ppt/notesSlides/notesSlide3.xml" Id="R83562894bc154c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09b833cd1be42ea" /><Relationship Type="http://schemas.openxmlformats.org/officeDocument/2006/relationships/image" Target="/ppt/media/image.png" Id="R0bd8a6af0742498b" /><Relationship Type="http://schemas.openxmlformats.org/officeDocument/2006/relationships/notesSlide" Target="/ppt/notesSlides/notesSlide4.xml" Id="Rbc1e0d96392b47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c8162f4dd6c48f1" /><Relationship Type="http://schemas.openxmlformats.org/officeDocument/2006/relationships/notesSlide" Target="/ppt/notesSlides/notesSlide5.xml" Id="Rd4ccbbbc722141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23e16c6ca84ec2" /><Relationship Type="http://schemas.openxmlformats.org/officeDocument/2006/relationships/notesSlide" Target="/ppt/notesSlides/notesSlide6.xml" Id="R2fa778d8a69d49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4f3c85523e9466c" /><Relationship Type="http://schemas.openxmlformats.org/officeDocument/2006/relationships/notesSlide" Target="/ppt/notesSlides/notesSlide7.xml" Id="R7ba357008f3a40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f73171fedf2467b" /><Relationship Type="http://schemas.openxmlformats.org/officeDocument/2006/relationships/notesSlide" Target="/ppt/notesSlides/notesSlide8.xml" Id="R8a65fa18d0df4b57" /></Relationships>
</file>

<file path=ppt/slides/slide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BAC5D57D-8522-490C-8F54-EECD8660F90B}"/>
              </a:ext>
            </a:extLst>
          </p:cNvPr>
          <p:cNvSpPr>
            <a:spLocks xmlns:a="http://schemas.openxmlformats.org/drawingml/2006/main" noGrp="1"/>
          </p:cNvSpPr>
          <p:nvPr/>
        </p:nvSpPr>
        <p:spPr>
          <a:xfrm xmlns:a="http://schemas.openxmlformats.org/drawingml/2006/main">
            <a:off x="685800" y="1238250"/>
            <a:ext cx="10572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950" b="1">
                <a:solidFill>
                  <a:srgbClr val="142B40"/>
                </a:solidFill>
                <a:latin typeface="Arial"/>
                <a:ea typeface="Arial"/>
                <a:cs typeface="Arial"/>
              </a:defRPr>
            </a:defPPr>
          </a:lstStyle>
          <a:p xmlns:a="http://schemas.openxmlformats.org/drawingml/2006/main">
            <a:pPr>
              <a:defRPr sz="4950" b="1">
                <a:solidFill>
                  <a:srgbClr val="142B40"/>
                </a:solidFill>
                <a:latin typeface="Arial"/>
                <a:ea typeface="Arial"/>
                <a:cs typeface="Arial"/>
              </a:defRPr>
            </a:pPr>
            <a:r>
              <a:rPr sz="4950" b="1">
                <a:solidFill>
                  <a:srgbClr val="142B40"/>
                </a:solidFill>
                <a:latin typeface="Arial"/>
                <a:ea typeface="Arial"/>
                <a:cs typeface="Arial"/>
              </a:rPr>
              <a:t>Implicit Q-Learning</a:t>
            </a:r>
          </a:p>
          <a:p xmlns:a="http://schemas.openxmlformats.org/drawingml/2006/main">
            <a:pPr>
              <a:defRPr sz="4950" b="1">
                <a:solidFill>
                  <a:srgbClr val="142B40"/>
                </a:solidFill>
                <a:latin typeface="Arial"/>
                <a:ea typeface="Arial"/>
                <a:cs typeface="Arial"/>
              </a:defRPr>
            </a:pPr>
            <a:r>
              <a:rPr sz="4950" b="1">
                <a:solidFill>
                  <a:srgbClr val="142B40"/>
                </a:solidFill>
                <a:latin typeface="Arial"/>
                <a:ea typeface="Arial"/>
                <a:cs typeface="Arial"/>
              </a:rPr>
              <a:t>on HalfCheetah</a:t>
            </a:r>
          </a:p>
        </p:txBody>
      </p:sp>
      <p:sp>
        <p:nvSpPr>
          <p:cNvPr id="2" name="body">
            <a:extLst xmlns:a="http://schemas.openxmlformats.org/drawingml/2006/main">
              <a:ext uri="{FF2B5EF4-FFF2-40B4-BE49-F238E27FC236}">
                <a16:creationId xmlns:a16="http://schemas.microsoft.com/office/drawing/2014/main" id="{A008D9F6-6EE3-43AE-B7FC-BADBF1772DD4}"/>
              </a:ext>
            </a:extLst>
          </p:cNvPr>
          <p:cNvSpPr>
            <a:spLocks xmlns:a="http://schemas.openxmlformats.org/drawingml/2006/main" noGrp="1"/>
          </p:cNvSpPr>
          <p:nvPr/>
        </p:nvSpPr>
        <p:spPr>
          <a:xfrm xmlns:a="http://schemas.openxmlformats.org/drawingml/2006/main">
            <a:off x="685800" y="3190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0">
                <a:solidFill>
                  <a:srgbClr val="147A78"/>
                </a:solidFill>
                <a:latin typeface="Arial"/>
                <a:ea typeface="Arial"/>
                <a:cs typeface="Arial"/>
              </a:defRPr>
            </a:defPPr>
          </a:lstStyle>
          <a:p xmlns:a="http://schemas.openxmlformats.org/drawingml/2006/main">
            <a:pPr>
              <a:defRPr sz="2700" b="0">
                <a:solidFill>
                  <a:srgbClr val="147A78"/>
                </a:solidFill>
                <a:latin typeface="Arial"/>
                <a:ea typeface="Arial"/>
                <a:cs typeface="Arial"/>
              </a:defRPr>
            </a:pPr>
            <a:r>
              <a:rPr sz="2700" b="0">
                <a:solidFill>
                  <a:srgbClr val="147A78"/>
                </a:solidFill>
                <a:latin typeface="Arial"/>
                <a:ea typeface="Arial"/>
                <a:cs typeface="Arial"/>
              </a:rPr>
              <a:t>RL project proposal</a:t>
            </a:r>
          </a:p>
        </p:txBody>
      </p:sp>
      <p:sp>
        <p:nvSpPr>
          <p:cNvPr id="3" name="body">
            <a:extLst xmlns:a="http://schemas.openxmlformats.org/drawingml/2006/main">
              <a:ext uri="{FF2B5EF4-FFF2-40B4-BE49-F238E27FC236}">
                <a16:creationId xmlns:a16="http://schemas.microsoft.com/office/drawing/2014/main" id="{50C6F1A8-12C4-43CF-B1DF-ACEC1E8C0485}"/>
              </a:ext>
            </a:extLst>
          </p:cNvPr>
          <p:cNvSpPr>
            <a:spLocks xmlns:a="http://schemas.openxmlformats.org/drawingml/2006/main" noGrp="1"/>
          </p:cNvSpPr>
          <p:nvPr/>
        </p:nvSpPr>
        <p:spPr>
          <a:xfrm xmlns:a="http://schemas.openxmlformats.org/drawingml/2006/main">
            <a:off x="685800" y="4572000"/>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Aleksandr Medvedev, Nikita Shankin, Leo Vesin</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Ruslan Nasibullin, Telman Nuruzov</a:t>
            </a:r>
          </a:p>
        </p:txBody>
      </p:sp>
      <p:sp>
        <p:nvSpPr>
          <p:cNvPr id="4" name="body">
            <a:extLst xmlns:a="http://schemas.openxmlformats.org/drawingml/2006/main">
              <a:ext uri="{FF2B5EF4-FFF2-40B4-BE49-F238E27FC236}">
                <a16:creationId xmlns:a16="http://schemas.microsoft.com/office/drawing/2014/main" id="{5DE5526E-299E-49B6-98DF-A76C7E2E9A70}"/>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1 / 8</a:t>
            </a:r>
          </a:p>
        </p:txBody>
      </p:sp>
    </p:spTree>
    <p:extLst>
      <p:ext uri="{BB962C8B-B14F-4D97-AF65-F5344CB8AC3E}">
        <p14:creationId xmlns:p14="http://schemas.microsoft.com/office/powerpoint/2010/main" val="71597261"/>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8730C9E9-ACB2-4F64-AED3-F0B7F6CF4F45}"/>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IQL: learning from a fixed dataset</a:t>
            </a:r>
          </a:p>
        </p:txBody>
      </p:sp>
      <p:sp>
        <p:nvSpPr>
          <p:cNvPr id="2" name="heading">
            <a:extLst xmlns:a="http://schemas.openxmlformats.org/drawingml/2006/main">
              <a:ext uri="{FF2B5EF4-FFF2-40B4-BE49-F238E27FC236}">
                <a16:creationId xmlns:a16="http://schemas.microsoft.com/office/drawing/2014/main" id="{7886CE27-F2E7-43CF-B7B8-538206F3985F}"/>
              </a:ext>
            </a:extLst>
          </p:cNvPr>
          <p:cNvSpPr>
            <a:spLocks xmlns:a="http://schemas.openxmlformats.org/drawingml/2006/main" noGrp="1"/>
          </p:cNvSpPr>
          <p:nvPr/>
        </p:nvSpPr>
        <p:spPr>
          <a:xfrm xmlns:a="http://schemas.openxmlformats.org/drawingml/2006/main">
            <a:off x="685800" y="176212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Classification</a:t>
            </a:r>
          </a:p>
        </p:txBody>
      </p:sp>
      <p:sp>
        <p:nvSpPr>
          <p:cNvPr id="3" name="body">
            <a:extLst xmlns:a="http://schemas.openxmlformats.org/drawingml/2006/main">
              <a:ext uri="{FF2B5EF4-FFF2-40B4-BE49-F238E27FC236}">
                <a16:creationId xmlns:a16="http://schemas.microsoft.com/office/drawing/2014/main" id="{1AEF1222-AAC4-42C5-92C8-665EE7BDC722}"/>
              </a:ext>
            </a:extLst>
          </p:cNvPr>
          <p:cNvSpPr>
            <a:spLocks xmlns:a="http://schemas.openxmlformats.org/drawingml/2006/main" noGrp="1"/>
          </p:cNvSpPr>
          <p:nvPr/>
        </p:nvSpPr>
        <p:spPr>
          <a:xfrm xmlns:a="http://schemas.openxmlformats.org/drawingml/2006/main">
            <a:off x="3571875" y="176212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Offline, model-free actor-critic RL</a:t>
            </a:r>
          </a:p>
        </p:txBody>
      </p:sp>
      <p:sp>
        <p:nvSpPr>
          <p:cNvPr id="4" name="heading">
            <a:extLst xmlns:a="http://schemas.openxmlformats.org/drawingml/2006/main">
              <a:ext uri="{FF2B5EF4-FFF2-40B4-BE49-F238E27FC236}">
                <a16:creationId xmlns:a16="http://schemas.microsoft.com/office/drawing/2014/main" id="{B877DCDA-7BB1-460A-A811-5794E0BA8606}"/>
              </a:ext>
            </a:extLst>
          </p:cNvPr>
          <p:cNvSpPr>
            <a:spLocks xmlns:a="http://schemas.openxmlformats.org/drawingml/2006/main" noGrp="1"/>
          </p:cNvSpPr>
          <p:nvPr/>
        </p:nvSpPr>
        <p:spPr>
          <a:xfrm xmlns:a="http://schemas.openxmlformats.org/drawingml/2006/main">
            <a:off x="685800" y="280035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Training data</a:t>
            </a:r>
          </a:p>
        </p:txBody>
      </p:sp>
      <p:sp>
        <p:nvSpPr>
          <p:cNvPr id="5" name="body">
            <a:extLst xmlns:a="http://schemas.openxmlformats.org/drawingml/2006/main">
              <a:ext uri="{FF2B5EF4-FFF2-40B4-BE49-F238E27FC236}">
                <a16:creationId xmlns:a16="http://schemas.microsoft.com/office/drawing/2014/main" id="{32774DE2-E30B-4250-AEBC-B2C4456ECE49}"/>
              </a:ext>
            </a:extLst>
          </p:cNvPr>
          <p:cNvSpPr>
            <a:spLocks xmlns:a="http://schemas.openxmlformats.org/drawingml/2006/main" noGrp="1"/>
          </p:cNvSpPr>
          <p:nvPr/>
        </p:nvSpPr>
        <p:spPr>
          <a:xfrm xmlns:a="http://schemas.openxmlformats.org/drawingml/2006/main">
            <a:off x="3571875" y="280035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Recorded transitions: state, action, reward, next state</a:t>
            </a:r>
          </a:p>
        </p:txBody>
      </p:sp>
      <p:sp>
        <p:nvSpPr>
          <p:cNvPr id="6" name="heading">
            <a:extLst xmlns:a="http://schemas.openxmlformats.org/drawingml/2006/main">
              <a:ext uri="{FF2B5EF4-FFF2-40B4-BE49-F238E27FC236}">
                <a16:creationId xmlns:a16="http://schemas.microsoft.com/office/drawing/2014/main" id="{1D878D2E-EC6F-4A61-BB06-3B40512ECF1D}"/>
              </a:ext>
            </a:extLst>
          </p:cNvPr>
          <p:cNvSpPr>
            <a:spLocks xmlns:a="http://schemas.openxmlformats.org/drawingml/2006/main" noGrp="1"/>
          </p:cNvSpPr>
          <p:nvPr/>
        </p:nvSpPr>
        <p:spPr>
          <a:xfrm xmlns:a="http://schemas.openxmlformats.org/drawingml/2006/main">
            <a:off x="685800" y="383857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Main idea</a:t>
            </a:r>
          </a:p>
        </p:txBody>
      </p:sp>
      <p:sp>
        <p:nvSpPr>
          <p:cNvPr id="7" name="body">
            <a:extLst xmlns:a="http://schemas.openxmlformats.org/drawingml/2006/main">
              <a:ext uri="{FF2B5EF4-FFF2-40B4-BE49-F238E27FC236}">
                <a16:creationId xmlns:a16="http://schemas.microsoft.com/office/drawing/2014/main" id="{6BBBBBF5-428E-4236-A0F9-22CCF5F4CF75}"/>
              </a:ext>
            </a:extLst>
          </p:cNvPr>
          <p:cNvSpPr>
            <a:spLocks xmlns:a="http://schemas.openxmlformats.org/drawingml/2006/main" noGrp="1"/>
          </p:cNvSpPr>
          <p:nvPr/>
        </p:nvSpPr>
        <p:spPr>
          <a:xfrm xmlns:a="http://schemas.openxmlformats.org/drawingml/2006/main">
            <a:off x="3571875" y="383857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Learn values from dataset actions, then give better actions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more weight when fitting the policy</a:t>
            </a:r>
          </a:p>
        </p:txBody>
      </p:sp>
      <p:sp>
        <p:nvSpPr>
          <p:cNvPr id="8" name="heading">
            <a:extLst xmlns:a="http://schemas.openxmlformats.org/drawingml/2006/main">
              <a:ext uri="{FF2B5EF4-FFF2-40B4-BE49-F238E27FC236}">
                <a16:creationId xmlns:a16="http://schemas.microsoft.com/office/drawing/2014/main" id="{4DC7A111-7554-42F1-B676-784E08AF77E5}"/>
              </a:ext>
            </a:extLst>
          </p:cNvPr>
          <p:cNvSpPr>
            <a:spLocks xmlns:a="http://schemas.openxmlformats.org/drawingml/2006/main" noGrp="1"/>
          </p:cNvSpPr>
          <p:nvPr/>
        </p:nvSpPr>
        <p:spPr>
          <a:xfrm xmlns:a="http://schemas.openxmlformats.org/drawingml/2006/main">
            <a:off x="685800" y="487680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Interaction</a:t>
            </a:r>
          </a:p>
        </p:txBody>
      </p:sp>
      <p:sp>
        <p:nvSpPr>
          <p:cNvPr id="9" name="body">
            <a:extLst xmlns:a="http://schemas.openxmlformats.org/drawingml/2006/main">
              <a:ext uri="{FF2B5EF4-FFF2-40B4-BE49-F238E27FC236}">
                <a16:creationId xmlns:a16="http://schemas.microsoft.com/office/drawing/2014/main" id="{75DFE3FF-8FF2-4371-B63F-42C747656444}"/>
              </a:ext>
            </a:extLst>
          </p:cNvPr>
          <p:cNvSpPr>
            <a:spLocks xmlns:a="http://schemas.openxmlformats.org/drawingml/2006/main" noGrp="1"/>
          </p:cNvSpPr>
          <p:nvPr/>
        </p:nvSpPr>
        <p:spPr>
          <a:xfrm xmlns:a="http://schemas.openxmlformats.org/drawingml/2006/main">
            <a:off x="3571875" y="487680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Simulator rollouts evaluate the policy after training</a:t>
            </a:r>
          </a:p>
        </p:txBody>
      </p:sp>
      <p:sp>
        <p:nvSpPr>
          <p:cNvPr id="10" name="body">
            <a:extLst xmlns:a="http://schemas.openxmlformats.org/drawingml/2006/main">
              <a:ext uri="{FF2B5EF4-FFF2-40B4-BE49-F238E27FC236}">
                <a16:creationId xmlns:a16="http://schemas.microsoft.com/office/drawing/2014/main" id="{4796AEAF-3C0D-4936-8162-3F351FA83FFF}"/>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2 / 8</a:t>
            </a:r>
          </a:p>
        </p:txBody>
      </p:sp>
    </p:spTree>
    <p:extLst>
      <p:ext uri="{BB962C8B-B14F-4D97-AF65-F5344CB8AC3E}">
        <p14:creationId xmlns:p14="http://schemas.microsoft.com/office/powerpoint/2010/main" val="175694443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38D06ABF-A20F-4EE0-B700-B690DDAE233C}"/>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The IQL update</a:t>
            </a:r>
          </a:p>
        </p:txBody>
      </p:sp>
      <p:sp>
        <p:nvSpPr>
          <p:cNvPr id="2" name="heading">
            <a:extLst xmlns:a="http://schemas.openxmlformats.org/drawingml/2006/main">
              <a:ext uri="{FF2B5EF4-FFF2-40B4-BE49-F238E27FC236}">
                <a16:creationId xmlns:a16="http://schemas.microsoft.com/office/drawing/2014/main" id="{D89C7056-36C4-4395-AB8E-2960FF5F4755}"/>
              </a:ext>
            </a:extLst>
          </p:cNvPr>
          <p:cNvSpPr>
            <a:spLocks xmlns:a="http://schemas.openxmlformats.org/drawingml/2006/main" noGrp="1"/>
          </p:cNvSpPr>
          <p:nvPr/>
        </p:nvSpPr>
        <p:spPr>
          <a:xfrm xmlns:a="http://schemas.openxmlformats.org/drawingml/2006/main">
            <a:off x="685800" y="176212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State value V</a:t>
            </a:r>
          </a:p>
        </p:txBody>
      </p:sp>
      <p:sp>
        <p:nvSpPr>
          <p:cNvPr id="3" name="body">
            <a:extLst xmlns:a="http://schemas.openxmlformats.org/drawingml/2006/main">
              <a:ext uri="{FF2B5EF4-FFF2-40B4-BE49-F238E27FC236}">
                <a16:creationId xmlns:a16="http://schemas.microsoft.com/office/drawing/2014/main" id="{F9B9EA73-7BEE-4B22-976B-EB5B1EA1B92C}"/>
              </a:ext>
            </a:extLst>
          </p:cNvPr>
          <p:cNvSpPr>
            <a:spLocks xmlns:a="http://schemas.openxmlformats.org/drawingml/2006/main" noGrp="1"/>
          </p:cNvSpPr>
          <p:nvPr/>
        </p:nvSpPr>
        <p:spPr>
          <a:xfrm xmlns:a="http://schemas.openxmlformats.org/drawingml/2006/main">
            <a:off x="3571875" y="176212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Upper expectile regression on dataset Q-values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Expectile = 0.7</a:t>
            </a:r>
          </a:p>
        </p:txBody>
      </p:sp>
      <p:sp>
        <p:nvSpPr>
          <p:cNvPr id="4" name="heading">
            <a:extLst xmlns:a="http://schemas.openxmlformats.org/drawingml/2006/main">
              <a:ext uri="{FF2B5EF4-FFF2-40B4-BE49-F238E27FC236}">
                <a16:creationId xmlns:a16="http://schemas.microsoft.com/office/drawing/2014/main" id="{72C5406C-AE1A-45C3-8646-C86E3025B8A1}"/>
              </a:ext>
            </a:extLst>
          </p:cNvPr>
          <p:cNvSpPr>
            <a:spLocks xmlns:a="http://schemas.openxmlformats.org/drawingml/2006/main" noGrp="1"/>
          </p:cNvSpPr>
          <p:nvPr/>
        </p:nvSpPr>
        <p:spPr>
          <a:xfrm xmlns:a="http://schemas.openxmlformats.org/drawingml/2006/main">
            <a:off x="685800" y="280035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Twin critics Q1, Q2</a:t>
            </a:r>
          </a:p>
        </p:txBody>
      </p:sp>
      <p:sp>
        <p:nvSpPr>
          <p:cNvPr id="5" name="body">
            <a:extLst xmlns:a="http://schemas.openxmlformats.org/drawingml/2006/main">
              <a:ext uri="{FF2B5EF4-FFF2-40B4-BE49-F238E27FC236}">
                <a16:creationId xmlns:a16="http://schemas.microsoft.com/office/drawing/2014/main" id="{29CFF11A-52A6-4536-B832-D297ABAA7C0E}"/>
              </a:ext>
            </a:extLst>
          </p:cNvPr>
          <p:cNvSpPr>
            <a:spLocks xmlns:a="http://schemas.openxmlformats.org/drawingml/2006/main" noGrp="1"/>
          </p:cNvSpPr>
          <p:nvPr/>
        </p:nvSpPr>
        <p:spPr>
          <a:xfrm xmlns:a="http://schemas.openxmlformats.org/drawingml/2006/main">
            <a:off x="3571875" y="280035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Target = reward + 0.99 × (1 - terminated) × V(next state)</a:t>
            </a:r>
          </a:p>
        </p:txBody>
      </p:sp>
      <p:sp>
        <p:nvSpPr>
          <p:cNvPr id="6" name="heading">
            <a:extLst xmlns:a="http://schemas.openxmlformats.org/drawingml/2006/main">
              <a:ext uri="{FF2B5EF4-FFF2-40B4-BE49-F238E27FC236}">
                <a16:creationId xmlns:a16="http://schemas.microsoft.com/office/drawing/2014/main" id="{E03AEDAE-7C01-4446-9476-EFE06A8B41A5}"/>
              </a:ext>
            </a:extLst>
          </p:cNvPr>
          <p:cNvSpPr>
            <a:spLocks xmlns:a="http://schemas.openxmlformats.org/drawingml/2006/main" noGrp="1"/>
          </p:cNvSpPr>
          <p:nvPr/>
        </p:nvSpPr>
        <p:spPr>
          <a:xfrm xmlns:a="http://schemas.openxmlformats.org/drawingml/2006/main">
            <a:off x="685800" y="383857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Policy</a:t>
            </a:r>
          </a:p>
        </p:txBody>
      </p:sp>
      <p:sp>
        <p:nvSpPr>
          <p:cNvPr id="7" name="body">
            <a:extLst xmlns:a="http://schemas.openxmlformats.org/drawingml/2006/main">
              <a:ext uri="{FF2B5EF4-FFF2-40B4-BE49-F238E27FC236}">
                <a16:creationId xmlns:a16="http://schemas.microsoft.com/office/drawing/2014/main" id="{3495B735-D752-435E-8C5E-11AD8791886A}"/>
              </a:ext>
            </a:extLst>
          </p:cNvPr>
          <p:cNvSpPr>
            <a:spLocks xmlns:a="http://schemas.openxmlformats.org/drawingml/2006/main" noGrp="1"/>
          </p:cNvSpPr>
          <p:nvPr/>
        </p:nvSpPr>
        <p:spPr>
          <a:xfrm xmlns:a="http://schemas.openxmlformats.org/drawingml/2006/main">
            <a:off x="3571875" y="383857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Advantage = min(target Q1, target Q2) - V</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Weighted log-likelihood of recorded actions</a:t>
            </a:r>
          </a:p>
        </p:txBody>
      </p:sp>
      <p:sp>
        <p:nvSpPr>
          <p:cNvPr id="8" name="heading">
            <a:extLst xmlns:a="http://schemas.openxmlformats.org/drawingml/2006/main">
              <a:ext uri="{FF2B5EF4-FFF2-40B4-BE49-F238E27FC236}">
                <a16:creationId xmlns:a16="http://schemas.microsoft.com/office/drawing/2014/main" id="{98D329E4-7036-411B-A6F0-EF030D4E87A2}"/>
              </a:ext>
            </a:extLst>
          </p:cNvPr>
          <p:cNvSpPr>
            <a:spLocks xmlns:a="http://schemas.openxmlformats.org/drawingml/2006/main" noGrp="1"/>
          </p:cNvSpPr>
          <p:nvPr/>
        </p:nvSpPr>
        <p:spPr>
          <a:xfrm xmlns:a="http://schemas.openxmlformats.org/drawingml/2006/main">
            <a:off x="685800" y="487680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Policy weight</a:t>
            </a:r>
          </a:p>
        </p:txBody>
      </p:sp>
      <p:sp>
        <p:nvSpPr>
          <p:cNvPr id="9" name="body">
            <a:extLst xmlns:a="http://schemas.openxmlformats.org/drawingml/2006/main">
              <a:ext uri="{FF2B5EF4-FFF2-40B4-BE49-F238E27FC236}">
                <a16:creationId xmlns:a16="http://schemas.microsoft.com/office/drawing/2014/main" id="{17F41B03-60DE-442C-9EC4-A97880DFA48D}"/>
              </a:ext>
            </a:extLst>
          </p:cNvPr>
          <p:cNvSpPr>
            <a:spLocks xmlns:a="http://schemas.openxmlformats.org/drawingml/2006/main" noGrp="1"/>
          </p:cNvSpPr>
          <p:nvPr/>
        </p:nvSpPr>
        <p:spPr>
          <a:xfrm xmlns:a="http://schemas.openxmlformats.org/drawingml/2006/main">
            <a:off x="3571875" y="487680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min(exp(3 × advantage), 100)</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Tanh-squashed Gaussian actions stay within [-1, 1]</a:t>
            </a:r>
          </a:p>
        </p:txBody>
      </p:sp>
      <p:sp>
        <p:nvSpPr>
          <p:cNvPr id="10" name="body">
            <a:extLst xmlns:a="http://schemas.openxmlformats.org/drawingml/2006/main">
              <a:ext uri="{FF2B5EF4-FFF2-40B4-BE49-F238E27FC236}">
                <a16:creationId xmlns:a16="http://schemas.microsoft.com/office/drawing/2014/main" id="{656CA314-6E02-419E-AE0D-AC849A8939CD}"/>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3 / 8</a:t>
            </a:r>
          </a:p>
        </p:txBody>
      </p:sp>
    </p:spTree>
    <p:extLst>
      <p:ext uri="{BB962C8B-B14F-4D97-AF65-F5344CB8AC3E}">
        <p14:creationId xmlns:p14="http://schemas.microsoft.com/office/powerpoint/2010/main" val="1626192407"/>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1A9E2537-58EA-442D-A7CC-94D5D92DDAF8}"/>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HalfCheetah-v5: observation and action</a:t>
            </a:r>
          </a:p>
        </p:txBody>
      </p:sp>
      <p:pic>
        <p:nvPicPr>
          <p:cNvPr id="2" name="">
            <a:extLst xmlns:a="http://schemas.openxmlformats.org/drawingml/2006/main">
              <a:ext uri="{FF2B5EF4-FFF2-40B4-BE49-F238E27FC236}">
                <a16:creationId xmlns:a16="http://schemas.microsoft.com/office/drawing/2014/main" id="{E2CED099-4BE9-46DF-9E1C-390E013284E9}"/>
              </a:ext>
            </a:extLst>
          </p:cNvPr>
          <p:cNvPicPr>
            <a:picLocks xmlns:a="http://schemas.openxmlformats.org/drawingml/2006/main" noChangeAspect="1"/>
          </p:cNvPicPr>
          <p:nvPr/>
        </p:nvPicPr>
        <p:blipFill>
          <a:blip xmlns:r="http://schemas.openxmlformats.org/officeDocument/2006/relationships" xmlns:a="http://schemas.openxmlformats.org/drawingml/2006/main" r:embed="R0bd8a6af0742498b"/>
          <a:stretch xmlns:a="http://schemas.openxmlformats.org/drawingml/2006/main"/>
        </p:blipFill>
        <p:spPr>
          <a:xfrm xmlns:a="http://schemas.openxmlformats.org/drawingml/2006/main">
            <a:off x="7572375" y="1666875"/>
            <a:ext cx="3857625" cy="3857625"/>
          </a:xfrm>
          <a:prstGeom xmlns:a="http://schemas.openxmlformats.org/drawingml/2006/main" prst="rect">
            <a:avLst/>
          </a:prstGeom>
        </p:spPr>
      </p:pic>
      <p:sp>
        <p:nvSpPr>
          <p:cNvPr id="3" name="heading">
            <a:extLst xmlns:a="http://schemas.openxmlformats.org/drawingml/2006/main">
              <a:ext uri="{FF2B5EF4-FFF2-40B4-BE49-F238E27FC236}">
                <a16:creationId xmlns:a16="http://schemas.microsoft.com/office/drawing/2014/main" id="{E822EAB3-86B7-428F-B984-58638F241027}"/>
              </a:ext>
            </a:extLst>
          </p:cNvPr>
          <p:cNvSpPr>
            <a:spLocks xmlns:a="http://schemas.openxmlformats.org/drawingml/2006/main" noGrp="1"/>
          </p:cNvSpPr>
          <p:nvPr/>
        </p:nvSpPr>
        <p:spPr>
          <a:xfrm xmlns:a="http://schemas.openxmlformats.org/drawingml/2006/main">
            <a:off x="685800" y="1762125"/>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47A78"/>
                </a:solidFill>
                <a:latin typeface="Arial"/>
                <a:ea typeface="Arial"/>
                <a:cs typeface="Arial"/>
              </a:defRPr>
            </a:defPPr>
          </a:lstStyle>
          <a:p xmlns:a="http://schemas.openxmlformats.org/drawingml/2006/main">
            <a:pPr>
              <a:defRPr sz="2175" b="1">
                <a:solidFill>
                  <a:srgbClr val="147A78"/>
                </a:solidFill>
                <a:latin typeface="Arial"/>
                <a:ea typeface="Arial"/>
                <a:cs typeface="Arial"/>
              </a:defRPr>
            </a:pPr>
            <a:r>
              <a:rPr sz="2175" b="1">
                <a:solidFill>
                  <a:srgbClr val="147A78"/>
                </a:solidFill>
                <a:latin typeface="Arial"/>
                <a:ea typeface="Arial"/>
                <a:cs typeface="Arial"/>
              </a:rPr>
              <a:t>Environment</a:t>
            </a:r>
          </a:p>
        </p:txBody>
      </p:sp>
      <p:sp>
        <p:nvSpPr>
          <p:cNvPr id="4" name="body">
            <a:extLst xmlns:a="http://schemas.openxmlformats.org/drawingml/2006/main">
              <a:ext uri="{FF2B5EF4-FFF2-40B4-BE49-F238E27FC236}">
                <a16:creationId xmlns:a16="http://schemas.microsoft.com/office/drawing/2014/main" id="{4A6548F8-900B-466A-9732-808F4E4E1C67}"/>
              </a:ext>
            </a:extLst>
          </p:cNvPr>
          <p:cNvSpPr>
            <a:spLocks xmlns:a="http://schemas.openxmlformats.org/drawingml/2006/main" noGrp="1"/>
          </p:cNvSpPr>
          <p:nvPr/>
        </p:nvSpPr>
        <p:spPr>
          <a:xfrm xmlns:a="http://schemas.openxmlformats.org/drawingml/2006/main">
            <a:off x="685800" y="2190750"/>
            <a:ext cx="657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2D locomotion in Gymnasium and MuJoCo</a:t>
            </a:r>
          </a:p>
        </p:txBody>
      </p:sp>
      <p:sp>
        <p:nvSpPr>
          <p:cNvPr id="5" name="heading">
            <a:extLst xmlns:a="http://schemas.openxmlformats.org/drawingml/2006/main">
              <a:ext uri="{FF2B5EF4-FFF2-40B4-BE49-F238E27FC236}">
                <a16:creationId xmlns:a16="http://schemas.microsoft.com/office/drawing/2014/main" id="{5BC037C4-5F6D-447D-A112-0680AF3B9240}"/>
              </a:ext>
            </a:extLst>
          </p:cNvPr>
          <p:cNvSpPr>
            <a:spLocks xmlns:a="http://schemas.openxmlformats.org/drawingml/2006/main" noGrp="1"/>
          </p:cNvSpPr>
          <p:nvPr/>
        </p:nvSpPr>
        <p:spPr>
          <a:xfrm xmlns:a="http://schemas.openxmlformats.org/drawingml/2006/main">
            <a:off x="685800" y="3143250"/>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47A78"/>
                </a:solidFill>
                <a:latin typeface="Arial"/>
                <a:ea typeface="Arial"/>
                <a:cs typeface="Arial"/>
              </a:defRPr>
            </a:defPPr>
          </a:lstStyle>
          <a:p xmlns:a="http://schemas.openxmlformats.org/drawingml/2006/main">
            <a:pPr>
              <a:defRPr sz="2175" b="1">
                <a:solidFill>
                  <a:srgbClr val="147A78"/>
                </a:solidFill>
                <a:latin typeface="Arial"/>
                <a:ea typeface="Arial"/>
                <a:cs typeface="Arial"/>
              </a:defRPr>
            </a:pPr>
            <a:r>
              <a:rPr sz="2175" b="1">
                <a:solidFill>
                  <a:srgbClr val="147A78"/>
                </a:solidFill>
                <a:latin typeface="Arial"/>
                <a:ea typeface="Arial"/>
                <a:cs typeface="Arial"/>
              </a:rPr>
              <a:t>Observation: 17 values</a:t>
            </a:r>
          </a:p>
        </p:txBody>
      </p:sp>
      <p:sp>
        <p:nvSpPr>
          <p:cNvPr id="6" name="body">
            <a:extLst xmlns:a="http://schemas.openxmlformats.org/drawingml/2006/main">
              <a:ext uri="{FF2B5EF4-FFF2-40B4-BE49-F238E27FC236}">
                <a16:creationId xmlns:a16="http://schemas.microsoft.com/office/drawing/2014/main" id="{1A46112F-1654-4990-BCF3-6B259EACCF2E}"/>
              </a:ext>
            </a:extLst>
          </p:cNvPr>
          <p:cNvSpPr>
            <a:spLocks xmlns:a="http://schemas.openxmlformats.org/drawingml/2006/main" noGrp="1"/>
          </p:cNvSpPr>
          <p:nvPr/>
        </p:nvSpPr>
        <p:spPr>
          <a:xfrm xmlns:a="http://schemas.openxmlformats.org/drawingml/2006/main">
            <a:off x="685800" y="3571875"/>
            <a:ext cx="657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8 position / angle values + 9 velocities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Absolute horizontal position is excluded</a:t>
            </a:r>
          </a:p>
        </p:txBody>
      </p:sp>
      <p:sp>
        <p:nvSpPr>
          <p:cNvPr id="7" name="heading">
            <a:extLst xmlns:a="http://schemas.openxmlformats.org/drawingml/2006/main">
              <a:ext uri="{FF2B5EF4-FFF2-40B4-BE49-F238E27FC236}">
                <a16:creationId xmlns:a16="http://schemas.microsoft.com/office/drawing/2014/main" id="{8EF15FC7-D51D-46DB-A677-1C9373F3F829}"/>
              </a:ext>
            </a:extLst>
          </p:cNvPr>
          <p:cNvSpPr>
            <a:spLocks xmlns:a="http://schemas.openxmlformats.org/drawingml/2006/main" noGrp="1"/>
          </p:cNvSpPr>
          <p:nvPr/>
        </p:nvSpPr>
        <p:spPr>
          <a:xfrm xmlns:a="http://schemas.openxmlformats.org/drawingml/2006/main">
            <a:off x="685800" y="4524375"/>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47A78"/>
                </a:solidFill>
                <a:latin typeface="Arial"/>
                <a:ea typeface="Arial"/>
                <a:cs typeface="Arial"/>
              </a:defRPr>
            </a:defPPr>
          </a:lstStyle>
          <a:p xmlns:a="http://schemas.openxmlformats.org/drawingml/2006/main">
            <a:pPr>
              <a:defRPr sz="2175" b="1">
                <a:solidFill>
                  <a:srgbClr val="147A78"/>
                </a:solidFill>
                <a:latin typeface="Arial"/>
                <a:ea typeface="Arial"/>
                <a:cs typeface="Arial"/>
              </a:defRPr>
            </a:pPr>
            <a:r>
              <a:rPr sz="2175" b="1">
                <a:solidFill>
                  <a:srgbClr val="147A78"/>
                </a:solidFill>
                <a:latin typeface="Arial"/>
                <a:ea typeface="Arial"/>
                <a:cs typeface="Arial"/>
              </a:rPr>
              <a:t>Action: 6 values</a:t>
            </a:r>
          </a:p>
        </p:txBody>
      </p:sp>
      <p:sp>
        <p:nvSpPr>
          <p:cNvPr id="8" name="body">
            <a:extLst xmlns:a="http://schemas.openxmlformats.org/drawingml/2006/main">
              <a:ext uri="{FF2B5EF4-FFF2-40B4-BE49-F238E27FC236}">
                <a16:creationId xmlns:a16="http://schemas.microsoft.com/office/drawing/2014/main" id="{C44FB146-1C2B-4A23-B423-D1E83BDBD808}"/>
              </a:ext>
            </a:extLst>
          </p:cNvPr>
          <p:cNvSpPr>
            <a:spLocks xmlns:a="http://schemas.openxmlformats.org/drawingml/2006/main" noGrp="1"/>
          </p:cNvSpPr>
          <p:nvPr/>
        </p:nvSpPr>
        <p:spPr>
          <a:xfrm xmlns:a="http://schemas.openxmlformats.org/drawingml/2006/main">
            <a:off x="685800" y="4953000"/>
            <a:ext cx="657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Continuous torques for front and back leg joints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Each action component lies in [-1, 1]</a:t>
            </a:r>
          </a:p>
        </p:txBody>
      </p:sp>
      <p:sp>
        <p:nvSpPr>
          <p:cNvPr id="9" name="body">
            <a:extLst xmlns:a="http://schemas.openxmlformats.org/drawingml/2006/main">
              <a:ext uri="{FF2B5EF4-FFF2-40B4-BE49-F238E27FC236}">
                <a16:creationId xmlns:a16="http://schemas.microsoft.com/office/drawing/2014/main" id="{A9036AD4-4547-4E46-82D2-10B581D1BBA3}"/>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4 / 8</a:t>
            </a:r>
          </a:p>
        </p:txBody>
      </p:sp>
    </p:spTree>
    <p:extLst>
      <p:ext uri="{BB962C8B-B14F-4D97-AF65-F5344CB8AC3E}">
        <p14:creationId xmlns:p14="http://schemas.microsoft.com/office/powerpoint/2010/main" val="1530443430"/>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9B20B971-C6C0-4F40-A8E2-981AA0182B79}"/>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Reward, goal and episode ending</a:t>
            </a:r>
          </a:p>
        </p:txBody>
      </p:sp>
      <p:sp>
        <p:nvSpPr>
          <p:cNvPr id="2" name="heading">
            <a:extLst xmlns:a="http://schemas.openxmlformats.org/drawingml/2006/main">
              <a:ext uri="{FF2B5EF4-FFF2-40B4-BE49-F238E27FC236}">
                <a16:creationId xmlns:a16="http://schemas.microsoft.com/office/drawing/2014/main" id="{D8CC8FE4-6B5D-4658-8269-711590CFA63A}"/>
              </a:ext>
            </a:extLst>
          </p:cNvPr>
          <p:cNvSpPr>
            <a:spLocks xmlns:a="http://schemas.openxmlformats.org/drawingml/2006/main" noGrp="1"/>
          </p:cNvSpPr>
          <p:nvPr/>
        </p:nvSpPr>
        <p:spPr>
          <a:xfrm xmlns:a="http://schemas.openxmlformats.org/drawingml/2006/main">
            <a:off x="685800" y="176212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Reward</a:t>
            </a:r>
          </a:p>
        </p:txBody>
      </p:sp>
      <p:sp>
        <p:nvSpPr>
          <p:cNvPr id="3" name="body">
            <a:extLst xmlns:a="http://schemas.openxmlformats.org/drawingml/2006/main">
              <a:ext uri="{FF2B5EF4-FFF2-40B4-BE49-F238E27FC236}">
                <a16:creationId xmlns:a16="http://schemas.microsoft.com/office/drawing/2014/main" id="{7BEF6CB5-AA4B-4112-958D-0E322191D6A7}"/>
              </a:ext>
            </a:extLst>
          </p:cNvPr>
          <p:cNvSpPr>
            <a:spLocks xmlns:a="http://schemas.openxmlformats.org/drawingml/2006/main" noGrp="1"/>
          </p:cNvSpPr>
          <p:nvPr/>
        </p:nvSpPr>
        <p:spPr>
          <a:xfrm xmlns:a="http://schemas.openxmlformats.org/drawingml/2006/main">
            <a:off x="3571875" y="176212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Forward velocity - 0.1 × sum(action²)</a:t>
            </a:r>
          </a:p>
        </p:txBody>
      </p:sp>
      <p:sp>
        <p:nvSpPr>
          <p:cNvPr id="4" name="heading">
            <a:extLst xmlns:a="http://schemas.openxmlformats.org/drawingml/2006/main">
              <a:ext uri="{FF2B5EF4-FFF2-40B4-BE49-F238E27FC236}">
                <a16:creationId xmlns:a16="http://schemas.microsoft.com/office/drawing/2014/main" id="{71DE7AA9-D5F9-4162-A6B8-614ED5C8CDCD}"/>
              </a:ext>
            </a:extLst>
          </p:cNvPr>
          <p:cNvSpPr>
            <a:spLocks xmlns:a="http://schemas.openxmlformats.org/drawingml/2006/main" noGrp="1"/>
          </p:cNvSpPr>
          <p:nvPr/>
        </p:nvSpPr>
        <p:spPr>
          <a:xfrm xmlns:a="http://schemas.openxmlformats.org/drawingml/2006/main">
            <a:off x="685800" y="280035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Agent goal</a:t>
            </a:r>
          </a:p>
        </p:txBody>
      </p:sp>
      <p:sp>
        <p:nvSpPr>
          <p:cNvPr id="5" name="body">
            <a:extLst xmlns:a="http://schemas.openxmlformats.org/drawingml/2006/main">
              <a:ext uri="{FF2B5EF4-FFF2-40B4-BE49-F238E27FC236}">
                <a16:creationId xmlns:a16="http://schemas.microsoft.com/office/drawing/2014/main" id="{C9760776-B9C2-4B2C-9519-434F5C7F777D}"/>
              </a:ext>
            </a:extLst>
          </p:cNvPr>
          <p:cNvSpPr>
            <a:spLocks xmlns:a="http://schemas.openxmlformats.org/drawingml/2006/main" noGrp="1"/>
          </p:cNvSpPr>
          <p:nvPr/>
        </p:nvSpPr>
        <p:spPr>
          <a:xfrm xmlns:a="http://schemas.openxmlformats.org/drawingml/2006/main">
            <a:off x="3571875" y="280035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Sustained forward motion with efficient torque use</a:t>
            </a:r>
          </a:p>
        </p:txBody>
      </p:sp>
      <p:sp>
        <p:nvSpPr>
          <p:cNvPr id="6" name="heading">
            <a:extLst xmlns:a="http://schemas.openxmlformats.org/drawingml/2006/main">
              <a:ext uri="{FF2B5EF4-FFF2-40B4-BE49-F238E27FC236}">
                <a16:creationId xmlns:a16="http://schemas.microsoft.com/office/drawing/2014/main" id="{8ED12D31-66DE-47FD-8828-BCAA70FC01C9}"/>
              </a:ext>
            </a:extLst>
          </p:cNvPr>
          <p:cNvSpPr>
            <a:spLocks xmlns:a="http://schemas.openxmlformats.org/drawingml/2006/main" noGrp="1"/>
          </p:cNvSpPr>
          <p:nvPr/>
        </p:nvSpPr>
        <p:spPr>
          <a:xfrm xmlns:a="http://schemas.openxmlformats.org/drawingml/2006/main">
            <a:off x="685800" y="383857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Episode ending</a:t>
            </a:r>
          </a:p>
        </p:txBody>
      </p:sp>
      <p:sp>
        <p:nvSpPr>
          <p:cNvPr id="7" name="body">
            <a:extLst xmlns:a="http://schemas.openxmlformats.org/drawingml/2006/main">
              <a:ext uri="{FF2B5EF4-FFF2-40B4-BE49-F238E27FC236}">
                <a16:creationId xmlns:a16="http://schemas.microsoft.com/office/drawing/2014/main" id="{526C3D45-11B1-4DBF-9734-1288F2E86938}"/>
              </a:ext>
            </a:extLst>
          </p:cNvPr>
          <p:cNvSpPr>
            <a:spLocks xmlns:a="http://schemas.openxmlformats.org/drawingml/2006/main" noGrp="1"/>
          </p:cNvSpPr>
          <p:nvPr/>
        </p:nvSpPr>
        <p:spPr>
          <a:xfrm xmlns:a="http://schemas.openxmlformats.org/drawingml/2006/main">
            <a:off x="3571875" y="383857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No natural termination, including after a fall</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Time limit: 1,000 steps, about 50 simulated seconds</a:t>
            </a:r>
          </a:p>
        </p:txBody>
      </p:sp>
      <p:sp>
        <p:nvSpPr>
          <p:cNvPr id="8" name="heading">
            <a:extLst xmlns:a="http://schemas.openxmlformats.org/drawingml/2006/main">
              <a:ext uri="{FF2B5EF4-FFF2-40B4-BE49-F238E27FC236}">
                <a16:creationId xmlns:a16="http://schemas.microsoft.com/office/drawing/2014/main" id="{6F9EC753-5731-417A-B45A-32DCBED47EF7}"/>
              </a:ext>
            </a:extLst>
          </p:cNvPr>
          <p:cNvSpPr>
            <a:spLocks xmlns:a="http://schemas.openxmlformats.org/drawingml/2006/main" noGrp="1"/>
          </p:cNvSpPr>
          <p:nvPr/>
        </p:nvSpPr>
        <p:spPr>
          <a:xfrm xmlns:a="http://schemas.openxmlformats.org/drawingml/2006/main">
            <a:off x="685800" y="487680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Learning target</a:t>
            </a:r>
          </a:p>
        </p:txBody>
      </p:sp>
      <p:sp>
        <p:nvSpPr>
          <p:cNvPr id="9" name="body">
            <a:extLst xmlns:a="http://schemas.openxmlformats.org/drawingml/2006/main">
              <a:ext uri="{FF2B5EF4-FFF2-40B4-BE49-F238E27FC236}">
                <a16:creationId xmlns:a16="http://schemas.microsoft.com/office/drawing/2014/main" id="{EE8F2ECE-3405-45E3-AE81-61961F505E92}"/>
              </a:ext>
            </a:extLst>
          </p:cNvPr>
          <p:cNvSpPr>
            <a:spLocks xmlns:a="http://schemas.openxmlformats.org/drawingml/2006/main" noGrp="1"/>
          </p:cNvSpPr>
          <p:nvPr/>
        </p:nvSpPr>
        <p:spPr>
          <a:xfrm xmlns:a="http://schemas.openxmlformats.org/drawingml/2006/main">
            <a:off x="3571875" y="487680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 coordinated gait that maintains speed</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Time-limit truncation preserves value bootstrapping</a:t>
            </a:r>
          </a:p>
        </p:txBody>
      </p:sp>
      <p:sp>
        <p:nvSpPr>
          <p:cNvPr id="10" name="body">
            <a:extLst xmlns:a="http://schemas.openxmlformats.org/drawingml/2006/main">
              <a:ext uri="{FF2B5EF4-FFF2-40B4-BE49-F238E27FC236}">
                <a16:creationId xmlns:a16="http://schemas.microsoft.com/office/drawing/2014/main" id="{0963F8C2-A66D-40D5-9947-5F065592BBE8}"/>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5 / 8</a:t>
            </a:r>
          </a:p>
        </p:txBody>
      </p:sp>
    </p:spTree>
    <p:extLst>
      <p:ext uri="{BB962C8B-B14F-4D97-AF65-F5344CB8AC3E}">
        <p14:creationId xmlns:p14="http://schemas.microsoft.com/office/powerpoint/2010/main" val="971689732"/>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99E8E83C-CF36-454D-B306-47D78DBD19F3}"/>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Offline data and evaluation protocol</a:t>
            </a:r>
          </a:p>
        </p:txBody>
      </p:sp>
      <p:sp>
        <p:nvSpPr>
          <p:cNvPr id="2" name="heading">
            <a:extLst xmlns:a="http://schemas.openxmlformats.org/drawingml/2006/main">
              <a:ext uri="{FF2B5EF4-FFF2-40B4-BE49-F238E27FC236}">
                <a16:creationId xmlns:a16="http://schemas.microsoft.com/office/drawing/2014/main" id="{D298E412-B67E-41C1-AA04-C1AAE4E9D1FD}"/>
              </a:ext>
            </a:extLst>
          </p:cNvPr>
          <p:cNvSpPr>
            <a:spLocks xmlns:a="http://schemas.openxmlformats.org/drawingml/2006/main" noGrp="1"/>
          </p:cNvSpPr>
          <p:nvPr/>
        </p:nvSpPr>
        <p:spPr>
          <a:xfrm xmlns:a="http://schemas.openxmlformats.org/drawingml/2006/main">
            <a:off x="685800" y="176212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Dataset</a:t>
            </a:r>
          </a:p>
        </p:txBody>
      </p:sp>
      <p:sp>
        <p:nvSpPr>
          <p:cNvPr id="3" name="body">
            <a:extLst xmlns:a="http://schemas.openxmlformats.org/drawingml/2006/main">
              <a:ext uri="{FF2B5EF4-FFF2-40B4-BE49-F238E27FC236}">
                <a16:creationId xmlns:a16="http://schemas.microsoft.com/office/drawing/2014/main" id="{997EF609-28AB-4101-9E69-CAE4EF8CDF62}"/>
              </a:ext>
            </a:extLst>
          </p:cNvPr>
          <p:cNvSpPr>
            <a:spLocks xmlns:a="http://schemas.openxmlformats.org/drawingml/2006/main" noGrp="1"/>
          </p:cNvSpPr>
          <p:nvPr/>
        </p:nvSpPr>
        <p:spPr>
          <a:xfrm xmlns:a="http://schemas.openxmlformats.org/drawingml/2006/main">
            <a:off x="3571875" y="176212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Minari mujoco/halfcheetah/medium-v0</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1,000 episodes and 1,000,000 transitions</a:t>
            </a:r>
          </a:p>
        </p:txBody>
      </p:sp>
      <p:sp>
        <p:nvSpPr>
          <p:cNvPr id="4" name="heading">
            <a:extLst xmlns:a="http://schemas.openxmlformats.org/drawingml/2006/main">
              <a:ext uri="{FF2B5EF4-FFF2-40B4-BE49-F238E27FC236}">
                <a16:creationId xmlns:a16="http://schemas.microsoft.com/office/drawing/2014/main" id="{AA2A1C8A-F91C-4AF7-8835-7C240A4F86F0}"/>
              </a:ext>
            </a:extLst>
          </p:cNvPr>
          <p:cNvSpPr>
            <a:spLocks xmlns:a="http://schemas.openxmlformats.org/drawingml/2006/main" noGrp="1"/>
          </p:cNvSpPr>
          <p:nvPr/>
        </p:nvSpPr>
        <p:spPr>
          <a:xfrm xmlns:a="http://schemas.openxmlformats.org/drawingml/2006/main">
            <a:off x="685800" y="280035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Training budget</a:t>
            </a:r>
          </a:p>
        </p:txBody>
      </p:sp>
      <p:sp>
        <p:nvSpPr>
          <p:cNvPr id="5" name="body">
            <a:extLst xmlns:a="http://schemas.openxmlformats.org/drawingml/2006/main">
              <a:ext uri="{FF2B5EF4-FFF2-40B4-BE49-F238E27FC236}">
                <a16:creationId xmlns:a16="http://schemas.microsoft.com/office/drawing/2014/main" id="{46E7E59D-6350-4D34-8A41-BB4892236629}"/>
              </a:ext>
            </a:extLst>
          </p:cNvPr>
          <p:cNvSpPr>
            <a:spLocks xmlns:a="http://schemas.openxmlformats.org/drawingml/2006/main" noGrp="1"/>
          </p:cNvSpPr>
          <p:nvPr/>
        </p:nvSpPr>
        <p:spPr>
          <a:xfrm xmlns:a="http://schemas.openxmlformats.org/drawingml/2006/main">
            <a:off x="3571875" y="280035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500,000 offline updates per training seed</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Seeds 0, 1 and 2, batch size 256</a:t>
            </a:r>
          </a:p>
        </p:txBody>
      </p:sp>
      <p:sp>
        <p:nvSpPr>
          <p:cNvPr id="6" name="heading">
            <a:extLst xmlns:a="http://schemas.openxmlformats.org/drawingml/2006/main">
              <a:ext uri="{FF2B5EF4-FFF2-40B4-BE49-F238E27FC236}">
                <a16:creationId xmlns:a16="http://schemas.microsoft.com/office/drawing/2014/main" id="{F0A0CBA3-7C8A-45AE-9CCF-730F86A9AEA0}"/>
              </a:ext>
            </a:extLst>
          </p:cNvPr>
          <p:cNvSpPr>
            <a:spLocks xmlns:a="http://schemas.openxmlformats.org/drawingml/2006/main" noGrp="1"/>
          </p:cNvSpPr>
          <p:nvPr/>
        </p:nvSpPr>
        <p:spPr>
          <a:xfrm xmlns:a="http://schemas.openxmlformats.org/drawingml/2006/main">
            <a:off x="685800" y="383857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Evaluation</a:t>
            </a:r>
          </a:p>
        </p:txBody>
      </p:sp>
      <p:sp>
        <p:nvSpPr>
          <p:cNvPr id="7" name="body">
            <a:extLst xmlns:a="http://schemas.openxmlformats.org/drawingml/2006/main">
              <a:ext uri="{FF2B5EF4-FFF2-40B4-BE49-F238E27FC236}">
                <a16:creationId xmlns:a16="http://schemas.microsoft.com/office/drawing/2014/main" id="{3609CC83-076F-45A3-99AB-DF19319239B2}"/>
              </a:ext>
            </a:extLst>
          </p:cNvPr>
          <p:cNvSpPr>
            <a:spLocks xmlns:a="http://schemas.openxmlformats.org/drawingml/2006/main" noGrp="1"/>
          </p:cNvSpPr>
          <p:nvPr/>
        </p:nvSpPr>
        <p:spPr>
          <a:xfrm xmlns:a="http://schemas.openxmlformats.org/drawingml/2006/main">
            <a:off x="3571875" y="383857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Intermediate checkpoints, 10 episodes per run</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Raw return, uniform random baseline and full rollouts</a:t>
            </a:r>
          </a:p>
        </p:txBody>
      </p:sp>
      <p:sp>
        <p:nvSpPr>
          <p:cNvPr id="8" name="heading">
            <a:extLst xmlns:a="http://schemas.openxmlformats.org/drawingml/2006/main">
              <a:ext uri="{FF2B5EF4-FFF2-40B4-BE49-F238E27FC236}">
                <a16:creationId xmlns:a16="http://schemas.microsoft.com/office/drawing/2014/main" id="{9D396859-35C3-492A-B1CB-23349EB095A8}"/>
              </a:ext>
            </a:extLst>
          </p:cNvPr>
          <p:cNvSpPr>
            <a:spLocks xmlns:a="http://schemas.openxmlformats.org/drawingml/2006/main" noGrp="1"/>
          </p:cNvSpPr>
          <p:nvPr/>
        </p:nvSpPr>
        <p:spPr>
          <a:xfrm xmlns:a="http://schemas.openxmlformats.org/drawingml/2006/main">
            <a:off x="685800" y="487680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Reproducibility</a:t>
            </a:r>
          </a:p>
        </p:txBody>
      </p:sp>
      <p:sp>
        <p:nvSpPr>
          <p:cNvPr id="9" name="body">
            <a:extLst xmlns:a="http://schemas.openxmlformats.org/drawingml/2006/main">
              <a:ext uri="{FF2B5EF4-FFF2-40B4-BE49-F238E27FC236}">
                <a16:creationId xmlns:a16="http://schemas.microsoft.com/office/drawing/2014/main" id="{C2410BC7-D2CF-405E-A21E-53E1E4339817}"/>
              </a:ext>
            </a:extLst>
          </p:cNvPr>
          <p:cNvSpPr>
            <a:spLocks xmlns:a="http://schemas.openxmlformats.org/drawingml/2006/main" noGrp="1"/>
          </p:cNvSpPr>
          <p:nvPr/>
        </p:nvSpPr>
        <p:spPr>
          <a:xfrm xmlns:a="http://schemas.openxmlformats.org/drawingml/2006/main">
            <a:off x="3571875" y="487680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Dataset-matched environment, MuJoCo 3.2.3</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Separate checkpoint selection and final test episodes</a:t>
            </a:r>
          </a:p>
        </p:txBody>
      </p:sp>
      <p:sp>
        <p:nvSpPr>
          <p:cNvPr id="10" name="body">
            <a:extLst xmlns:a="http://schemas.openxmlformats.org/drawingml/2006/main">
              <a:ext uri="{FF2B5EF4-FFF2-40B4-BE49-F238E27FC236}">
                <a16:creationId xmlns:a16="http://schemas.microsoft.com/office/drawing/2014/main" id="{F60BB0D7-1E3B-44D0-9D98-E06DA9675DB1}"/>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6 / 8</a:t>
            </a:r>
          </a:p>
        </p:txBody>
      </p:sp>
    </p:spTree>
    <p:extLst>
      <p:ext uri="{BB962C8B-B14F-4D97-AF65-F5344CB8AC3E}">
        <p14:creationId xmlns:p14="http://schemas.microsoft.com/office/powerpoint/2010/main" val="810176164"/>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0B1BA02D-3E84-49B1-A2D8-CE56410A8878}"/>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Why IQL and HalfCheetah fit</a:t>
            </a:r>
          </a:p>
        </p:txBody>
      </p:sp>
      <p:sp>
        <p:nvSpPr>
          <p:cNvPr id="2" name="heading">
            <a:extLst xmlns:a="http://schemas.openxmlformats.org/drawingml/2006/main">
              <a:ext uri="{FF2B5EF4-FFF2-40B4-BE49-F238E27FC236}">
                <a16:creationId xmlns:a16="http://schemas.microsoft.com/office/drawing/2014/main" id="{E8D04B30-9EA1-4505-9D26-99FEDDB78E09}"/>
              </a:ext>
            </a:extLst>
          </p:cNvPr>
          <p:cNvSpPr>
            <a:spLocks xmlns:a="http://schemas.openxmlformats.org/drawingml/2006/main" noGrp="1"/>
          </p:cNvSpPr>
          <p:nvPr/>
        </p:nvSpPr>
        <p:spPr>
          <a:xfrm xmlns:a="http://schemas.openxmlformats.org/drawingml/2006/main">
            <a:off x="685800" y="176212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Continuous control</a:t>
            </a:r>
          </a:p>
        </p:txBody>
      </p:sp>
      <p:sp>
        <p:nvSpPr>
          <p:cNvPr id="3" name="body">
            <a:extLst xmlns:a="http://schemas.openxmlformats.org/drawingml/2006/main">
              <a:ext uri="{FF2B5EF4-FFF2-40B4-BE49-F238E27FC236}">
                <a16:creationId xmlns:a16="http://schemas.microsoft.com/office/drawing/2014/main" id="{87456B97-C3BD-4B65-B74D-B497A0D7AD0D}"/>
              </a:ext>
            </a:extLst>
          </p:cNvPr>
          <p:cNvSpPr>
            <a:spLocks xmlns:a="http://schemas.openxmlformats.org/drawingml/2006/main" noGrp="1"/>
          </p:cNvSpPr>
          <p:nvPr/>
        </p:nvSpPr>
        <p:spPr>
          <a:xfrm xmlns:a="http://schemas.openxmlformats.org/drawingml/2006/main">
            <a:off x="3571875" y="176212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The policy learns bounded joint torques directly</a:t>
            </a:r>
          </a:p>
        </p:txBody>
      </p:sp>
      <p:sp>
        <p:nvSpPr>
          <p:cNvPr id="4" name="heading">
            <a:extLst xmlns:a="http://schemas.openxmlformats.org/drawingml/2006/main">
              <a:ext uri="{FF2B5EF4-FFF2-40B4-BE49-F238E27FC236}">
                <a16:creationId xmlns:a16="http://schemas.microsoft.com/office/drawing/2014/main" id="{2A65AC29-6765-46EE-ABD8-A83455E9FE2D}"/>
              </a:ext>
            </a:extLst>
          </p:cNvPr>
          <p:cNvSpPr>
            <a:spLocks xmlns:a="http://schemas.openxmlformats.org/drawingml/2006/main" noGrp="1"/>
          </p:cNvSpPr>
          <p:nvPr/>
        </p:nvSpPr>
        <p:spPr>
          <a:xfrm xmlns:a="http://schemas.openxmlformats.org/drawingml/2006/main">
            <a:off x="685800" y="280035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Available offline data</a:t>
            </a:r>
          </a:p>
        </p:txBody>
      </p:sp>
      <p:sp>
        <p:nvSpPr>
          <p:cNvPr id="5" name="body">
            <a:extLst xmlns:a="http://schemas.openxmlformats.org/drawingml/2006/main">
              <a:ext uri="{FF2B5EF4-FFF2-40B4-BE49-F238E27FC236}">
                <a16:creationId xmlns:a16="http://schemas.microsoft.com/office/drawing/2014/main" id="{742A1ABE-72BD-4C0A-986E-3180ABA53EBC}"/>
              </a:ext>
            </a:extLst>
          </p:cNvPr>
          <p:cNvSpPr>
            <a:spLocks xmlns:a="http://schemas.openxmlformats.org/drawingml/2006/main" noGrp="1"/>
          </p:cNvSpPr>
          <p:nvPr/>
        </p:nvSpPr>
        <p:spPr>
          <a:xfrm xmlns:a="http://schemas.openxmlformats.org/drawingml/2006/main">
            <a:off x="3571875" y="280035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 fixed locomotion dataset supports IQL training</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without collecting new training rollouts</a:t>
            </a:r>
          </a:p>
        </p:txBody>
      </p:sp>
      <p:sp>
        <p:nvSpPr>
          <p:cNvPr id="6" name="heading">
            <a:extLst xmlns:a="http://schemas.openxmlformats.org/drawingml/2006/main">
              <a:ext uri="{FF2B5EF4-FFF2-40B4-BE49-F238E27FC236}">
                <a16:creationId xmlns:a16="http://schemas.microsoft.com/office/drawing/2014/main" id="{C91CA171-99B2-412B-9443-59F7F11DC8F9}"/>
              </a:ext>
            </a:extLst>
          </p:cNvPr>
          <p:cNvSpPr>
            <a:spLocks xmlns:a="http://schemas.openxmlformats.org/drawingml/2006/main" noGrp="1"/>
          </p:cNvSpPr>
          <p:nvPr/>
        </p:nvSpPr>
        <p:spPr>
          <a:xfrm xmlns:a="http://schemas.openxmlformats.org/drawingml/2006/main">
            <a:off x="685800" y="383857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Learning opportunity</a:t>
            </a:r>
          </a:p>
        </p:txBody>
      </p:sp>
      <p:sp>
        <p:nvSpPr>
          <p:cNvPr id="7" name="body">
            <a:extLst xmlns:a="http://schemas.openxmlformats.org/drawingml/2006/main">
              <a:ext uri="{FF2B5EF4-FFF2-40B4-BE49-F238E27FC236}">
                <a16:creationId xmlns:a16="http://schemas.microsoft.com/office/drawing/2014/main" id="{06E8283E-1746-4DFC-AAAB-49B27F4A74BC}"/>
              </a:ext>
            </a:extLst>
          </p:cNvPr>
          <p:cNvSpPr>
            <a:spLocks xmlns:a="http://schemas.openxmlformats.org/drawingml/2006/main" noGrp="1"/>
          </p:cNvSpPr>
          <p:nvPr/>
        </p:nvSpPr>
        <p:spPr>
          <a:xfrm xmlns:a="http://schemas.openxmlformats.org/drawingml/2006/main">
            <a:off x="3571875" y="383857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Advantage weights emphasize better recorded actions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Improvement over the behavior policy is a hypothesis</a:t>
            </a:r>
          </a:p>
        </p:txBody>
      </p:sp>
      <p:sp>
        <p:nvSpPr>
          <p:cNvPr id="8" name="heading">
            <a:extLst xmlns:a="http://schemas.openxmlformats.org/drawingml/2006/main">
              <a:ext uri="{FF2B5EF4-FFF2-40B4-BE49-F238E27FC236}">
                <a16:creationId xmlns:a16="http://schemas.microsoft.com/office/drawing/2014/main" id="{8E49D9F4-6202-42DC-8EDA-89F7E6EF5E4F}"/>
              </a:ext>
            </a:extLst>
          </p:cNvPr>
          <p:cNvSpPr>
            <a:spLocks xmlns:a="http://schemas.openxmlformats.org/drawingml/2006/main" noGrp="1"/>
          </p:cNvSpPr>
          <p:nvPr/>
        </p:nvSpPr>
        <p:spPr>
          <a:xfrm xmlns:a="http://schemas.openxmlformats.org/drawingml/2006/main">
            <a:off x="685800" y="487680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Practical environment</a:t>
            </a:r>
          </a:p>
        </p:txBody>
      </p:sp>
      <p:sp>
        <p:nvSpPr>
          <p:cNvPr id="9" name="body">
            <a:extLst xmlns:a="http://schemas.openxmlformats.org/drawingml/2006/main">
              <a:ext uri="{FF2B5EF4-FFF2-40B4-BE49-F238E27FC236}">
                <a16:creationId xmlns:a16="http://schemas.microsoft.com/office/drawing/2014/main" id="{0A0CDDF3-1D6C-46F6-96C4-649903B96B56}"/>
              </a:ext>
            </a:extLst>
          </p:cNvPr>
          <p:cNvSpPr>
            <a:spLocks xmlns:a="http://schemas.openxmlformats.org/drawingml/2006/main" noGrp="1"/>
          </p:cNvSpPr>
          <p:nvPr/>
        </p:nvSpPr>
        <p:spPr>
          <a:xfrm xmlns:a="http://schemas.openxmlformats.org/drawingml/2006/main">
            <a:off x="3571875" y="487680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Standard benchmark with measurable returns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and visible locomotion behavior</a:t>
            </a:r>
          </a:p>
        </p:txBody>
      </p:sp>
      <p:sp>
        <p:nvSpPr>
          <p:cNvPr id="10" name="body">
            <a:extLst xmlns:a="http://schemas.openxmlformats.org/drawingml/2006/main">
              <a:ext uri="{FF2B5EF4-FFF2-40B4-BE49-F238E27FC236}">
                <a16:creationId xmlns:a16="http://schemas.microsoft.com/office/drawing/2014/main" id="{D9E56815-C800-4667-853C-1653C7D427C3}"/>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7 / 8</a:t>
            </a:r>
          </a:p>
        </p:txBody>
      </p:sp>
    </p:spTree>
    <p:extLst>
      <p:ext uri="{BB962C8B-B14F-4D97-AF65-F5344CB8AC3E}">
        <p14:creationId xmlns:p14="http://schemas.microsoft.com/office/powerpoint/2010/main" val="1837820871"/>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D576CCE7-B734-41CE-9B28-301D816D7C58}"/>
              </a:ext>
            </a:extLst>
          </p:cNvPr>
          <p:cNvSpPr>
            <a:spLocks xmlns:a="http://schemas.openxmlformats.org/drawingml/2006/main" noGrp="1"/>
          </p:cNvSpPr>
          <p:nvPr/>
        </p:nvSpPr>
        <p:spPr>
          <a:xfrm xmlns:a="http://schemas.openxmlformats.org/drawingml/2006/main">
            <a:off x="685800" y="523875"/>
            <a:ext cx="10858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142B40"/>
                </a:solidFill>
                <a:latin typeface="Arial"/>
                <a:ea typeface="Arial"/>
                <a:cs typeface="Arial"/>
              </a:defRPr>
            </a:defPPr>
          </a:lstStyle>
          <a:p xmlns:a="http://schemas.openxmlformats.org/drawingml/2006/main">
            <a:pPr>
              <a:defRPr sz="3450" b="1">
                <a:solidFill>
                  <a:srgbClr val="142B40"/>
                </a:solidFill>
                <a:latin typeface="Arial"/>
                <a:ea typeface="Arial"/>
                <a:cs typeface="Arial"/>
              </a:defRPr>
            </a:pPr>
            <a:r>
              <a:rPr sz="3450" b="1">
                <a:solidFill>
                  <a:srgbClr val="142B40"/>
                </a:solidFill>
                <a:latin typeface="Arial"/>
                <a:ea typeface="Arial"/>
                <a:cs typeface="Arial"/>
              </a:rPr>
              <a:t>Challenges and final-project plan</a:t>
            </a:r>
          </a:p>
        </p:txBody>
      </p:sp>
      <p:sp>
        <p:nvSpPr>
          <p:cNvPr id="2" name="heading">
            <a:extLst xmlns:a="http://schemas.openxmlformats.org/drawingml/2006/main">
              <a:ext uri="{FF2B5EF4-FFF2-40B4-BE49-F238E27FC236}">
                <a16:creationId xmlns:a16="http://schemas.microsoft.com/office/drawing/2014/main" id="{D20E2B5D-9AE3-4183-A915-F9C4AF966C43}"/>
              </a:ext>
            </a:extLst>
          </p:cNvPr>
          <p:cNvSpPr>
            <a:spLocks xmlns:a="http://schemas.openxmlformats.org/drawingml/2006/main" noGrp="1"/>
          </p:cNvSpPr>
          <p:nvPr/>
        </p:nvSpPr>
        <p:spPr>
          <a:xfrm xmlns:a="http://schemas.openxmlformats.org/drawingml/2006/main">
            <a:off x="685800" y="176212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Coverage and stability</a:t>
            </a:r>
          </a:p>
        </p:txBody>
      </p:sp>
      <p:sp>
        <p:nvSpPr>
          <p:cNvPr id="3" name="body">
            <a:extLst xmlns:a="http://schemas.openxmlformats.org/drawingml/2006/main">
              <a:ext uri="{FF2B5EF4-FFF2-40B4-BE49-F238E27FC236}">
                <a16:creationId xmlns:a16="http://schemas.microsoft.com/office/drawing/2014/main" id="{35343980-EE2C-4C7D-934D-5E23B3C372FF}"/>
              </a:ext>
            </a:extLst>
          </p:cNvPr>
          <p:cNvSpPr>
            <a:spLocks xmlns:a="http://schemas.openxmlformats.org/drawingml/2006/main" noGrp="1"/>
          </p:cNvSpPr>
          <p:nvPr/>
        </p:nvSpPr>
        <p:spPr>
          <a:xfrm xmlns:a="http://schemas.openxmlformats.org/drawingml/2006/main">
            <a:off x="3571875" y="176212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Limited data coverage and seed-dependent failures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Multiple seeds, separate final tests and full videos</a:t>
            </a:r>
          </a:p>
        </p:txBody>
      </p:sp>
      <p:sp>
        <p:nvSpPr>
          <p:cNvPr id="4" name="heading">
            <a:extLst xmlns:a="http://schemas.openxmlformats.org/drawingml/2006/main">
              <a:ext uri="{FF2B5EF4-FFF2-40B4-BE49-F238E27FC236}">
                <a16:creationId xmlns:a16="http://schemas.microsoft.com/office/drawing/2014/main" id="{6487D063-A874-4AA3-A588-07956449913C}"/>
              </a:ext>
            </a:extLst>
          </p:cNvPr>
          <p:cNvSpPr>
            <a:spLocks xmlns:a="http://schemas.openxmlformats.org/drawingml/2006/main" noGrp="1"/>
          </p:cNvSpPr>
          <p:nvPr/>
        </p:nvSpPr>
        <p:spPr>
          <a:xfrm xmlns:a="http://schemas.openxmlformats.org/drawingml/2006/main">
            <a:off x="685800" y="281940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Reliable comparisons</a:t>
            </a:r>
          </a:p>
        </p:txBody>
      </p:sp>
      <p:sp>
        <p:nvSpPr>
          <p:cNvPr id="5" name="body">
            <a:extLst xmlns:a="http://schemas.openxmlformats.org/drawingml/2006/main">
              <a:ext uri="{FF2B5EF4-FFF2-40B4-BE49-F238E27FC236}">
                <a16:creationId xmlns:a16="http://schemas.microsoft.com/office/drawing/2014/main" id="{47702CFA-91BB-4F8D-B54E-582CE4322935}"/>
              </a:ext>
            </a:extLst>
          </p:cNvPr>
          <p:cNvSpPr>
            <a:spLocks xmlns:a="http://schemas.openxmlformats.org/drawingml/2006/main" noGrp="1"/>
          </p:cNvSpPr>
          <p:nvPr/>
        </p:nvSpPr>
        <p:spPr>
          <a:xfrm xmlns:a="http://schemas.openxmlformats.org/drawingml/2006/main">
            <a:off x="3571875" y="281940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Physics versions and checkpoint selection affect results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Pinned dependencies and documented evaluation seeds</a:t>
            </a:r>
          </a:p>
        </p:txBody>
      </p:sp>
      <p:sp>
        <p:nvSpPr>
          <p:cNvPr id="6" name="heading">
            <a:extLst xmlns:a="http://schemas.openxmlformats.org/drawingml/2006/main">
              <a:ext uri="{FF2B5EF4-FFF2-40B4-BE49-F238E27FC236}">
                <a16:creationId xmlns:a16="http://schemas.microsoft.com/office/drawing/2014/main" id="{E8B165E5-D767-4AB0-9CEA-A17F8493D29A}"/>
              </a:ext>
            </a:extLst>
          </p:cNvPr>
          <p:cNvSpPr>
            <a:spLocks xmlns:a="http://schemas.openxmlformats.org/drawingml/2006/main" noGrp="1"/>
          </p:cNvSpPr>
          <p:nvPr/>
        </p:nvSpPr>
        <p:spPr>
          <a:xfrm xmlns:a="http://schemas.openxmlformats.org/drawingml/2006/main">
            <a:off x="685800" y="3876675"/>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Team ownership</a:t>
            </a:r>
          </a:p>
        </p:txBody>
      </p:sp>
      <p:sp>
        <p:nvSpPr>
          <p:cNvPr id="7" name="body">
            <a:extLst xmlns:a="http://schemas.openxmlformats.org/drawingml/2006/main">
              <a:ext uri="{FF2B5EF4-FFF2-40B4-BE49-F238E27FC236}">
                <a16:creationId xmlns:a16="http://schemas.microsoft.com/office/drawing/2014/main" id="{CB8DA4A0-3D6B-4027-A47B-7BDB4AE3DBEF}"/>
              </a:ext>
            </a:extLst>
          </p:cNvPr>
          <p:cNvSpPr>
            <a:spLocks xmlns:a="http://schemas.openxmlformats.org/drawingml/2006/main" noGrp="1"/>
          </p:cNvSpPr>
          <p:nvPr/>
        </p:nvSpPr>
        <p:spPr>
          <a:xfrm xmlns:a="http://schemas.openxmlformats.org/drawingml/2006/main">
            <a:off x="3571875" y="3876675"/>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Aleksandr: integration and reproducibility</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Nikita: environment and dataset; Leo: IQL</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Ruslan: evaluation; Telman: notebook and presentation</a:t>
            </a:r>
          </a:p>
        </p:txBody>
      </p:sp>
      <p:sp>
        <p:nvSpPr>
          <p:cNvPr id="8" name="heading">
            <a:extLst xmlns:a="http://schemas.openxmlformats.org/drawingml/2006/main">
              <a:ext uri="{FF2B5EF4-FFF2-40B4-BE49-F238E27FC236}">
                <a16:creationId xmlns:a16="http://schemas.microsoft.com/office/drawing/2014/main" id="{B970EC32-9973-412D-8ABB-58914319B6F6}"/>
              </a:ext>
            </a:extLst>
          </p:cNvPr>
          <p:cNvSpPr>
            <a:spLocks xmlns:a="http://schemas.openxmlformats.org/drawingml/2006/main" noGrp="1"/>
          </p:cNvSpPr>
          <p:nvPr/>
        </p:nvSpPr>
        <p:spPr>
          <a:xfrm xmlns:a="http://schemas.openxmlformats.org/drawingml/2006/main">
            <a:off x="685800" y="4933950"/>
            <a:ext cx="2714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47A78"/>
                </a:solidFill>
                <a:latin typeface="Arial"/>
                <a:ea typeface="Arial"/>
                <a:cs typeface="Arial"/>
              </a:defRPr>
            </a:defPPr>
          </a:lstStyle>
          <a:p xmlns:a="http://schemas.openxmlformats.org/drawingml/2006/main">
            <a:pPr>
              <a:defRPr sz="2100" b="1">
                <a:solidFill>
                  <a:srgbClr val="147A78"/>
                </a:solidFill>
                <a:latin typeface="Arial"/>
                <a:ea typeface="Arial"/>
                <a:cs typeface="Arial"/>
              </a:defRPr>
            </a:pPr>
            <a:r>
              <a:rPr sz="2100" b="1">
                <a:solidFill>
                  <a:srgbClr val="147A78"/>
                </a:solidFill>
                <a:latin typeface="Arial"/>
                <a:ea typeface="Arial"/>
                <a:cs typeface="Arial"/>
              </a:rPr>
              <a:t>Final deliverables</a:t>
            </a:r>
          </a:p>
        </p:txBody>
      </p:sp>
      <p:sp>
        <p:nvSpPr>
          <p:cNvPr id="9" name="body">
            <a:extLst xmlns:a="http://schemas.openxmlformats.org/drawingml/2006/main">
              <a:ext uri="{FF2B5EF4-FFF2-40B4-BE49-F238E27FC236}">
                <a16:creationId xmlns:a16="http://schemas.microsoft.com/office/drawing/2014/main" id="{81CBDA74-E9D8-40BF-849A-42CEFD00CAB7}"/>
              </a:ext>
            </a:extLst>
          </p:cNvPr>
          <p:cNvSpPr>
            <a:spLocks xmlns:a="http://schemas.openxmlformats.org/drawingml/2006/main" noGrp="1"/>
          </p:cNvSpPr>
          <p:nvPr/>
        </p:nvSpPr>
        <p:spPr>
          <a:xfrm xmlns:a="http://schemas.openxmlformats.org/drawingml/2006/main">
            <a:off x="3571875" y="4933950"/>
            <a:ext cx="785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42B40"/>
                </a:solidFill>
                <a:latin typeface="Arial"/>
                <a:ea typeface="Arial"/>
                <a:cs typeface="Arial"/>
              </a:defRPr>
            </a:defPPr>
          </a:lstStyle>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Reproducible Colab, checkpoints, evaluation plots</a:t>
            </a:r>
          </a:p>
          <a:p xmlns:a="http://schemas.openxmlformats.org/drawingml/2006/main">
            <a:pPr>
              <a:defRPr sz="2025" b="0">
                <a:solidFill>
                  <a:srgbClr val="142B40"/>
                </a:solidFill>
                <a:latin typeface="Arial"/>
                <a:ea typeface="Arial"/>
                <a:cs typeface="Arial"/>
              </a:defRPr>
            </a:pPr>
            <a:r>
              <a:rPr sz="2025" b="0">
                <a:solidFill>
                  <a:srgbClr val="142B40"/>
                </a:solidFill>
                <a:latin typeface="Arial"/>
                <a:ea typeface="Arial"/>
                <a:cs typeface="Arial"/>
              </a:rPr>
              <a:t>and a complete policy demonstration</a:t>
            </a:r>
          </a:p>
        </p:txBody>
      </p:sp>
      <p:sp>
        <p:nvSpPr>
          <p:cNvPr id="10" name="body">
            <a:extLst xmlns:a="http://schemas.openxmlformats.org/drawingml/2006/main">
              <a:ext uri="{FF2B5EF4-FFF2-40B4-BE49-F238E27FC236}">
                <a16:creationId xmlns:a16="http://schemas.microsoft.com/office/drawing/2014/main" id="{0FDF7A5B-5D8A-4310-B502-4E23030F0B31}"/>
              </a:ext>
            </a:extLst>
          </p:cNvPr>
          <p:cNvSpPr>
            <a:spLocks xmlns:a="http://schemas.openxmlformats.org/drawingml/2006/main" noGrp="1"/>
          </p:cNvSpPr>
          <p:nvPr/>
        </p:nvSpPr>
        <p:spPr>
          <a:xfrm xmlns:a="http://schemas.openxmlformats.org/drawingml/2006/main">
            <a:off x="10858500" y="63055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B6D7A"/>
                </a:solidFill>
                <a:latin typeface="Arial"/>
                <a:ea typeface="Arial"/>
                <a:cs typeface="Arial"/>
              </a:defRPr>
            </a:defPPr>
          </a:lstStyle>
          <a:p xmlns:a="http://schemas.openxmlformats.org/drawingml/2006/main">
            <a:pPr>
              <a:defRPr sz="1350" b="0">
                <a:solidFill>
                  <a:srgbClr val="5B6D7A"/>
                </a:solidFill>
                <a:latin typeface="Arial"/>
                <a:ea typeface="Arial"/>
                <a:cs typeface="Arial"/>
              </a:defRPr>
            </a:pPr>
            <a:r>
              <a:rPr sz="1350" b="0">
                <a:solidFill>
                  <a:srgbClr val="5B6D7A"/>
                </a:solidFill>
                <a:latin typeface="Arial"/>
                <a:ea typeface="Arial"/>
                <a:cs typeface="Arial"/>
              </a:rPr>
              <a:t>8 / 8</a:t>
            </a:r>
          </a:p>
        </p:txBody>
      </p:sp>
    </p:spTree>
    <p:extLst>
      <p:ext uri="{BB962C8B-B14F-4D97-AF65-F5344CB8AC3E}">
        <p14:creationId xmlns:p14="http://schemas.microsoft.com/office/powerpoint/2010/main" val="1479054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2026-10-12T07:59:59.3160000Z</dcterms:created>
  <dcterms:modified xsi:type="dcterms:W3CDTF">2026-10-12T07:59:59.3160000Z</dcterms:modified>
</coreProperties>
</file>